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1.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929"/>
        </a:solidFill>
      </p:bgPr>
    </p:bg>
    <p:spTree>
      <p:nvGrpSpPr>
        <p:cNvPr id="1" name=""/>
        <p:cNvGrpSpPr/>
        <p:nvPr/>
      </p:nvGrpSpPr>
      <p:grpSpPr>
        <a:xfrm>
          <a:off x="0" y="0"/>
          <a:ext cx="0" cy="0"/>
          <a:chOff x="0" y="0"/>
          <a:chExt cx="0" cy="0"/>
        </a:xfrm>
      </p:grpSpPr>
      <p:sp>
        <p:nvSpPr>
          <p:cNvPr id="2" name="Text 0"/>
          <p:cNvSpPr/>
          <p:nvPr/>
        </p:nvSpPr>
        <p:spPr>
          <a:xfrm>
            <a:off x="731520" y="1005840"/>
            <a:ext cx="6400800" cy="365760"/>
          </a:xfrm>
          <a:prstGeom prst="rect">
            <a:avLst/>
          </a:prstGeom>
          <a:noFill/>
          <a:ln/>
        </p:spPr>
        <p:txBody>
          <a:bodyPr wrap="square" lIns="0" tIns="0" rIns="0" bIns="0" rtlCol="0" anchor="ctr"/>
          <a:lstStyle/>
          <a:p>
            <a:pPr indent="0" marL="0">
              <a:buNone/>
            </a:pPr>
            <a:r>
              <a:rPr lang="en-US" sz="1400" b="1" spc="800" kern="0" dirty="0">
                <a:solidFill>
                  <a:srgbClr val="22D3EE"/>
                </a:solidFill>
                <a:latin typeface="Calibri" pitchFamily="34" charset="0"/>
                <a:ea typeface="Calibri" pitchFamily="34" charset="-122"/>
                <a:cs typeface="Calibri" pitchFamily="34" charset="-120"/>
              </a:rPr>
              <a:t>CAPTIA-CONNECT</a:t>
            </a:r>
            <a:endParaRPr lang="en-US" sz="1400" dirty="0"/>
          </a:p>
        </p:txBody>
      </p:sp>
      <p:sp>
        <p:nvSpPr>
          <p:cNvPr id="3" name="Text 1"/>
          <p:cNvSpPr/>
          <p:nvPr/>
        </p:nvSpPr>
        <p:spPr>
          <a:xfrm>
            <a:off x="731520" y="1417320"/>
            <a:ext cx="8229600" cy="1371600"/>
          </a:xfrm>
          <a:prstGeom prst="rect">
            <a:avLst/>
          </a:prstGeom>
          <a:noFill/>
          <a:ln/>
        </p:spPr>
        <p:txBody>
          <a:bodyPr wrap="square" lIns="0" tIns="0" rIns="0" bIns="0" rtlCol="0" anchor="ctr"/>
          <a:lstStyle/>
          <a:p>
            <a:pPr indent="0" marL="0">
              <a:buNone/>
            </a:pPr>
            <a:r>
              <a:rPr lang="en-US" sz="5600" b="1" dirty="0">
                <a:solidFill>
                  <a:srgbClr val="F1F5F9"/>
                </a:solidFill>
                <a:latin typeface="Cambria" pitchFamily="34" charset="0"/>
                <a:ea typeface="Cambria" pitchFamily="34" charset="-122"/>
                <a:cs typeface="Cambria" pitchFamily="34" charset="-120"/>
              </a:rPr>
              <a:t>Partner Integration Guide</a:t>
            </a:r>
            <a:endParaRPr lang="en-US" sz="5600" dirty="0"/>
          </a:p>
        </p:txBody>
      </p:sp>
      <p:sp>
        <p:nvSpPr>
          <p:cNvPr id="4" name="Text 2"/>
          <p:cNvSpPr/>
          <p:nvPr/>
        </p:nvSpPr>
        <p:spPr>
          <a:xfrm>
            <a:off x="731520" y="2788920"/>
            <a:ext cx="8686800" cy="548640"/>
          </a:xfrm>
          <a:prstGeom prst="rect">
            <a:avLst/>
          </a:prstGeom>
          <a:noFill/>
          <a:ln/>
        </p:spPr>
        <p:txBody>
          <a:bodyPr wrap="square" lIns="0" tIns="0" rIns="0" bIns="0" rtlCol="0" anchor="ctr"/>
          <a:lstStyle/>
          <a:p>
            <a:pPr indent="0" marL="0">
              <a:buNone/>
            </a:pPr>
            <a:r>
              <a:rPr lang="en-US" sz="1800" i="1" dirty="0">
                <a:solidFill>
                  <a:srgbClr val="94A3B8"/>
                </a:solidFill>
                <a:latin typeface="Calibri" pitchFamily="34" charset="0"/>
                <a:ea typeface="Calibri" pitchFamily="34" charset="-122"/>
                <a:cs typeface="Calibri" pitchFamily="34" charset="-120"/>
              </a:rPr>
              <a:t>Bring your devices, sensors and gateways onto our IoT edge platform</a:t>
            </a:r>
            <a:endParaRPr lang="en-US" sz="1800" dirty="0"/>
          </a:p>
        </p:txBody>
      </p:sp>
      <p:sp>
        <p:nvSpPr>
          <p:cNvPr id="5" name="Shape 3"/>
          <p:cNvSpPr/>
          <p:nvPr/>
        </p:nvSpPr>
        <p:spPr>
          <a:xfrm>
            <a:off x="731520" y="3520440"/>
            <a:ext cx="548640" cy="54864"/>
          </a:xfrm>
          <a:prstGeom prst="rect">
            <a:avLst/>
          </a:prstGeom>
          <a:solidFill>
            <a:srgbClr val="22D3EE"/>
          </a:solidFill>
          <a:ln w="12700">
            <a:solidFill>
              <a:srgbClr val="22D3EE"/>
            </a:solidFill>
            <a:prstDash val="solid"/>
          </a:ln>
        </p:spPr>
      </p:sp>
      <p:sp>
        <p:nvSpPr>
          <p:cNvPr id="6" name="Shape 4"/>
          <p:cNvSpPr/>
          <p:nvPr/>
        </p:nvSpPr>
        <p:spPr>
          <a:xfrm>
            <a:off x="731520" y="3794760"/>
            <a:ext cx="1920240" cy="457200"/>
          </a:xfrm>
          <a:prstGeom prst="rect">
            <a:avLst/>
          </a:prstGeom>
          <a:solidFill>
            <a:srgbClr val="1E3A5F"/>
          </a:solidFill>
          <a:ln w="12700">
            <a:solidFill>
              <a:srgbClr val="0E7490"/>
            </a:solidFill>
            <a:prstDash val="solid"/>
          </a:ln>
        </p:spPr>
      </p:sp>
      <p:sp>
        <p:nvSpPr>
          <p:cNvPr id="7" name="Text 5"/>
          <p:cNvSpPr/>
          <p:nvPr/>
        </p:nvSpPr>
        <p:spPr>
          <a:xfrm>
            <a:off x="731520" y="3794760"/>
            <a:ext cx="1920240" cy="457200"/>
          </a:xfrm>
          <a:prstGeom prst="rect">
            <a:avLst/>
          </a:prstGeom>
          <a:noFill/>
          <a:ln/>
        </p:spPr>
        <p:txBody>
          <a:bodyPr wrap="square" lIns="0" tIns="0" rIns="0" bIns="0" rtlCol="0" anchor="ctr"/>
          <a:lstStyle/>
          <a:p>
            <a:pPr algn="ctr" indent="0" marL="0">
              <a:buNone/>
            </a:pPr>
            <a:r>
              <a:rPr lang="en-US" sz="1300" b="1" dirty="0">
                <a:solidFill>
                  <a:srgbClr val="F1F5F9"/>
                </a:solidFill>
                <a:latin typeface="Calibri" pitchFamily="34" charset="0"/>
                <a:ea typeface="Calibri" pitchFamily="34" charset="-122"/>
                <a:cs typeface="Calibri" pitchFamily="34" charset="-120"/>
              </a:rPr>
              <a:t>MQTT-native</a:t>
            </a:r>
            <a:endParaRPr lang="en-US" sz="1300" dirty="0"/>
          </a:p>
        </p:txBody>
      </p:sp>
      <p:sp>
        <p:nvSpPr>
          <p:cNvPr id="8" name="Shape 6"/>
          <p:cNvSpPr/>
          <p:nvPr/>
        </p:nvSpPr>
        <p:spPr>
          <a:xfrm>
            <a:off x="2926080" y="3794760"/>
            <a:ext cx="1920240" cy="457200"/>
          </a:xfrm>
          <a:prstGeom prst="rect">
            <a:avLst/>
          </a:prstGeom>
          <a:solidFill>
            <a:srgbClr val="1E3A5F"/>
          </a:solidFill>
          <a:ln w="12700">
            <a:solidFill>
              <a:srgbClr val="0E7490"/>
            </a:solidFill>
            <a:prstDash val="solid"/>
          </a:ln>
        </p:spPr>
      </p:sp>
      <p:sp>
        <p:nvSpPr>
          <p:cNvPr id="9" name="Text 7"/>
          <p:cNvSpPr/>
          <p:nvPr/>
        </p:nvSpPr>
        <p:spPr>
          <a:xfrm>
            <a:off x="2926080" y="3794760"/>
            <a:ext cx="1920240" cy="457200"/>
          </a:xfrm>
          <a:prstGeom prst="rect">
            <a:avLst/>
          </a:prstGeom>
          <a:noFill/>
          <a:ln/>
        </p:spPr>
        <p:txBody>
          <a:bodyPr wrap="square" lIns="0" tIns="0" rIns="0" bIns="0" rtlCol="0" anchor="ctr"/>
          <a:lstStyle/>
          <a:p>
            <a:pPr algn="ctr" indent="0" marL="0">
              <a:buNone/>
            </a:pPr>
            <a:r>
              <a:rPr lang="en-US" sz="1300" b="1" dirty="0">
                <a:solidFill>
                  <a:srgbClr val="F1F5F9"/>
                </a:solidFill>
                <a:latin typeface="Calibri" pitchFamily="34" charset="0"/>
                <a:ea typeface="Calibri" pitchFamily="34" charset="-122"/>
                <a:cs typeface="Calibri" pitchFamily="34" charset="-120"/>
              </a:rPr>
              <a:t>Multi-tenant</a:t>
            </a:r>
            <a:endParaRPr lang="en-US" sz="1300" dirty="0"/>
          </a:p>
        </p:txBody>
      </p:sp>
      <p:sp>
        <p:nvSpPr>
          <p:cNvPr id="10" name="Shape 8"/>
          <p:cNvSpPr/>
          <p:nvPr/>
        </p:nvSpPr>
        <p:spPr>
          <a:xfrm>
            <a:off x="5120640" y="3794760"/>
            <a:ext cx="1920240" cy="457200"/>
          </a:xfrm>
          <a:prstGeom prst="rect">
            <a:avLst/>
          </a:prstGeom>
          <a:solidFill>
            <a:srgbClr val="1E3A5F"/>
          </a:solidFill>
          <a:ln w="12700">
            <a:solidFill>
              <a:srgbClr val="0E7490"/>
            </a:solidFill>
            <a:prstDash val="solid"/>
          </a:ln>
        </p:spPr>
      </p:sp>
      <p:sp>
        <p:nvSpPr>
          <p:cNvPr id="11" name="Text 9"/>
          <p:cNvSpPr/>
          <p:nvPr/>
        </p:nvSpPr>
        <p:spPr>
          <a:xfrm>
            <a:off x="5120640" y="3794760"/>
            <a:ext cx="1920240" cy="457200"/>
          </a:xfrm>
          <a:prstGeom prst="rect">
            <a:avLst/>
          </a:prstGeom>
          <a:noFill/>
          <a:ln/>
        </p:spPr>
        <p:txBody>
          <a:bodyPr wrap="square" lIns="0" tIns="0" rIns="0" bIns="0" rtlCol="0" anchor="ctr"/>
          <a:lstStyle/>
          <a:p>
            <a:pPr algn="ctr" indent="0" marL="0">
              <a:buNone/>
            </a:pPr>
            <a:r>
              <a:rPr lang="en-US" sz="1300" b="1" dirty="0">
                <a:solidFill>
                  <a:srgbClr val="F1F5F9"/>
                </a:solidFill>
                <a:latin typeface="Calibri" pitchFamily="34" charset="0"/>
                <a:ea typeface="Calibri" pitchFamily="34" charset="-122"/>
                <a:cs typeface="Calibri" pitchFamily="34" charset="-120"/>
              </a:rPr>
              <a:t>Edge-resilient</a:t>
            </a:r>
            <a:endParaRPr lang="en-US" sz="1300" dirty="0"/>
          </a:p>
        </p:txBody>
      </p:sp>
      <p:sp>
        <p:nvSpPr>
          <p:cNvPr id="12" name="Shape 10"/>
          <p:cNvSpPr/>
          <p:nvPr/>
        </p:nvSpPr>
        <p:spPr>
          <a:xfrm>
            <a:off x="8503920" y="1280160"/>
            <a:ext cx="502920" cy="502920"/>
          </a:xfrm>
          <a:prstGeom prst="rect">
            <a:avLst/>
          </a:prstGeom>
          <a:solidFill>
            <a:srgbClr val="22D3EE">
              <a:alpha val="75000"/>
            </a:srgbClr>
          </a:solidFill>
          <a:ln w="12700">
            <a:solidFill>
              <a:srgbClr val="22D3EE"/>
            </a:solidFill>
            <a:prstDash val="solid"/>
          </a:ln>
        </p:spPr>
      </p:sp>
      <p:sp>
        <p:nvSpPr>
          <p:cNvPr id="13" name="Shape 11"/>
          <p:cNvSpPr/>
          <p:nvPr/>
        </p:nvSpPr>
        <p:spPr>
          <a:xfrm>
            <a:off x="9144000" y="1280160"/>
            <a:ext cx="502920" cy="502920"/>
          </a:xfrm>
          <a:prstGeom prst="rect">
            <a:avLst/>
          </a:prstGeom>
          <a:solidFill>
            <a:srgbClr val="22D3EE">
              <a:alpha val="45000"/>
            </a:srgbClr>
          </a:solidFill>
          <a:ln w="12700">
            <a:solidFill>
              <a:srgbClr val="22D3EE"/>
            </a:solidFill>
            <a:prstDash val="solid"/>
          </a:ln>
        </p:spPr>
      </p:sp>
      <p:sp>
        <p:nvSpPr>
          <p:cNvPr id="14" name="Shape 12"/>
          <p:cNvSpPr/>
          <p:nvPr/>
        </p:nvSpPr>
        <p:spPr>
          <a:xfrm>
            <a:off x="9784080" y="1280160"/>
            <a:ext cx="502920" cy="502920"/>
          </a:xfrm>
          <a:prstGeom prst="rect">
            <a:avLst/>
          </a:prstGeom>
          <a:solidFill>
            <a:srgbClr val="22D3EE">
              <a:alpha val="15000"/>
            </a:srgbClr>
          </a:solidFill>
          <a:ln w="12700">
            <a:solidFill>
              <a:srgbClr val="22D3EE"/>
            </a:solidFill>
            <a:prstDash val="solid"/>
          </a:ln>
        </p:spPr>
      </p:sp>
      <p:sp>
        <p:nvSpPr>
          <p:cNvPr id="15" name="Shape 13"/>
          <p:cNvSpPr/>
          <p:nvPr/>
        </p:nvSpPr>
        <p:spPr>
          <a:xfrm>
            <a:off x="10424160" y="1280160"/>
            <a:ext cx="502920" cy="502920"/>
          </a:xfrm>
          <a:prstGeom prst="rect">
            <a:avLst/>
          </a:prstGeom>
          <a:solidFill>
            <a:srgbClr val="22D3EE">
              <a:alpha val="75000"/>
            </a:srgbClr>
          </a:solidFill>
          <a:ln w="12700">
            <a:solidFill>
              <a:srgbClr val="22D3EE"/>
            </a:solidFill>
            <a:prstDash val="solid"/>
          </a:ln>
        </p:spPr>
      </p:sp>
      <p:sp>
        <p:nvSpPr>
          <p:cNvPr id="16" name="Shape 14"/>
          <p:cNvSpPr/>
          <p:nvPr/>
        </p:nvSpPr>
        <p:spPr>
          <a:xfrm>
            <a:off x="8503920" y="1920240"/>
            <a:ext cx="502920" cy="502920"/>
          </a:xfrm>
          <a:prstGeom prst="rect">
            <a:avLst/>
          </a:prstGeom>
          <a:solidFill>
            <a:srgbClr val="22D3EE">
              <a:alpha val="45000"/>
            </a:srgbClr>
          </a:solidFill>
          <a:ln w="12700">
            <a:solidFill>
              <a:srgbClr val="22D3EE"/>
            </a:solidFill>
            <a:prstDash val="solid"/>
          </a:ln>
        </p:spPr>
      </p:sp>
      <p:sp>
        <p:nvSpPr>
          <p:cNvPr id="17" name="Shape 15"/>
          <p:cNvSpPr/>
          <p:nvPr/>
        </p:nvSpPr>
        <p:spPr>
          <a:xfrm>
            <a:off x="9144000" y="1920240"/>
            <a:ext cx="502920" cy="502920"/>
          </a:xfrm>
          <a:prstGeom prst="rect">
            <a:avLst/>
          </a:prstGeom>
          <a:solidFill>
            <a:srgbClr val="22D3EE">
              <a:alpha val="15000"/>
            </a:srgbClr>
          </a:solidFill>
          <a:ln w="12700">
            <a:solidFill>
              <a:srgbClr val="22D3EE"/>
            </a:solidFill>
            <a:prstDash val="solid"/>
          </a:ln>
        </p:spPr>
      </p:sp>
      <p:sp>
        <p:nvSpPr>
          <p:cNvPr id="18" name="Shape 16"/>
          <p:cNvSpPr/>
          <p:nvPr/>
        </p:nvSpPr>
        <p:spPr>
          <a:xfrm>
            <a:off x="9784080" y="1920240"/>
            <a:ext cx="502920" cy="502920"/>
          </a:xfrm>
          <a:prstGeom prst="rect">
            <a:avLst/>
          </a:prstGeom>
          <a:solidFill>
            <a:srgbClr val="22D3EE">
              <a:alpha val="75000"/>
            </a:srgbClr>
          </a:solidFill>
          <a:ln w="12700">
            <a:solidFill>
              <a:srgbClr val="22D3EE"/>
            </a:solidFill>
            <a:prstDash val="solid"/>
          </a:ln>
        </p:spPr>
      </p:sp>
      <p:sp>
        <p:nvSpPr>
          <p:cNvPr id="19" name="Shape 17"/>
          <p:cNvSpPr/>
          <p:nvPr/>
        </p:nvSpPr>
        <p:spPr>
          <a:xfrm>
            <a:off x="10424160" y="1920240"/>
            <a:ext cx="502920" cy="502920"/>
          </a:xfrm>
          <a:prstGeom prst="rect">
            <a:avLst/>
          </a:prstGeom>
          <a:solidFill>
            <a:srgbClr val="22D3EE">
              <a:alpha val="45000"/>
            </a:srgbClr>
          </a:solidFill>
          <a:ln w="12700">
            <a:solidFill>
              <a:srgbClr val="22D3EE"/>
            </a:solidFill>
            <a:prstDash val="solid"/>
          </a:ln>
        </p:spPr>
      </p:sp>
      <p:sp>
        <p:nvSpPr>
          <p:cNvPr id="20" name="Shape 18"/>
          <p:cNvSpPr/>
          <p:nvPr/>
        </p:nvSpPr>
        <p:spPr>
          <a:xfrm>
            <a:off x="8503920" y="2560320"/>
            <a:ext cx="502920" cy="502920"/>
          </a:xfrm>
          <a:prstGeom prst="rect">
            <a:avLst/>
          </a:prstGeom>
          <a:solidFill>
            <a:srgbClr val="22D3EE">
              <a:alpha val="15000"/>
            </a:srgbClr>
          </a:solidFill>
          <a:ln w="12700">
            <a:solidFill>
              <a:srgbClr val="22D3EE"/>
            </a:solidFill>
            <a:prstDash val="solid"/>
          </a:ln>
        </p:spPr>
      </p:sp>
      <p:sp>
        <p:nvSpPr>
          <p:cNvPr id="21" name="Shape 19"/>
          <p:cNvSpPr/>
          <p:nvPr/>
        </p:nvSpPr>
        <p:spPr>
          <a:xfrm>
            <a:off x="9144000" y="2560320"/>
            <a:ext cx="502920" cy="502920"/>
          </a:xfrm>
          <a:prstGeom prst="rect">
            <a:avLst/>
          </a:prstGeom>
          <a:solidFill>
            <a:srgbClr val="22D3EE">
              <a:alpha val="75000"/>
            </a:srgbClr>
          </a:solidFill>
          <a:ln w="12700">
            <a:solidFill>
              <a:srgbClr val="22D3EE"/>
            </a:solidFill>
            <a:prstDash val="solid"/>
          </a:ln>
        </p:spPr>
      </p:sp>
      <p:sp>
        <p:nvSpPr>
          <p:cNvPr id="22" name="Shape 20"/>
          <p:cNvSpPr/>
          <p:nvPr/>
        </p:nvSpPr>
        <p:spPr>
          <a:xfrm>
            <a:off x="9784080" y="2560320"/>
            <a:ext cx="502920" cy="502920"/>
          </a:xfrm>
          <a:prstGeom prst="rect">
            <a:avLst/>
          </a:prstGeom>
          <a:solidFill>
            <a:srgbClr val="22D3EE">
              <a:alpha val="45000"/>
            </a:srgbClr>
          </a:solidFill>
          <a:ln w="12700">
            <a:solidFill>
              <a:srgbClr val="22D3EE"/>
            </a:solidFill>
            <a:prstDash val="solid"/>
          </a:ln>
        </p:spPr>
      </p:sp>
      <p:sp>
        <p:nvSpPr>
          <p:cNvPr id="23" name="Shape 21"/>
          <p:cNvSpPr/>
          <p:nvPr/>
        </p:nvSpPr>
        <p:spPr>
          <a:xfrm>
            <a:off x="10424160" y="2560320"/>
            <a:ext cx="502920" cy="502920"/>
          </a:xfrm>
          <a:prstGeom prst="rect">
            <a:avLst/>
          </a:prstGeom>
          <a:solidFill>
            <a:srgbClr val="22D3EE">
              <a:alpha val="15000"/>
            </a:srgbClr>
          </a:solidFill>
          <a:ln w="12700">
            <a:solidFill>
              <a:srgbClr val="22D3EE"/>
            </a:solidFill>
            <a:prstDash val="solid"/>
          </a:ln>
        </p:spPr>
      </p:sp>
      <p:sp>
        <p:nvSpPr>
          <p:cNvPr id="24" name="Shape 22"/>
          <p:cNvSpPr/>
          <p:nvPr/>
        </p:nvSpPr>
        <p:spPr>
          <a:xfrm>
            <a:off x="8503920" y="3200400"/>
            <a:ext cx="502920" cy="502920"/>
          </a:xfrm>
          <a:prstGeom prst="rect">
            <a:avLst/>
          </a:prstGeom>
          <a:solidFill>
            <a:srgbClr val="22D3EE">
              <a:alpha val="75000"/>
            </a:srgbClr>
          </a:solidFill>
          <a:ln w="12700">
            <a:solidFill>
              <a:srgbClr val="22D3EE"/>
            </a:solidFill>
            <a:prstDash val="solid"/>
          </a:ln>
        </p:spPr>
      </p:sp>
      <p:sp>
        <p:nvSpPr>
          <p:cNvPr id="25" name="Shape 23"/>
          <p:cNvSpPr/>
          <p:nvPr/>
        </p:nvSpPr>
        <p:spPr>
          <a:xfrm>
            <a:off x="9144000" y="3200400"/>
            <a:ext cx="502920" cy="502920"/>
          </a:xfrm>
          <a:prstGeom prst="rect">
            <a:avLst/>
          </a:prstGeom>
          <a:solidFill>
            <a:srgbClr val="22D3EE">
              <a:alpha val="45000"/>
            </a:srgbClr>
          </a:solidFill>
          <a:ln w="12700">
            <a:solidFill>
              <a:srgbClr val="22D3EE"/>
            </a:solidFill>
            <a:prstDash val="solid"/>
          </a:ln>
        </p:spPr>
      </p:sp>
      <p:sp>
        <p:nvSpPr>
          <p:cNvPr id="26" name="Shape 24"/>
          <p:cNvSpPr/>
          <p:nvPr/>
        </p:nvSpPr>
        <p:spPr>
          <a:xfrm>
            <a:off x="9784080" y="3200400"/>
            <a:ext cx="502920" cy="502920"/>
          </a:xfrm>
          <a:prstGeom prst="rect">
            <a:avLst/>
          </a:prstGeom>
          <a:solidFill>
            <a:srgbClr val="22D3EE">
              <a:alpha val="15000"/>
            </a:srgbClr>
          </a:solidFill>
          <a:ln w="12700">
            <a:solidFill>
              <a:srgbClr val="22D3EE"/>
            </a:solidFill>
            <a:prstDash val="solid"/>
          </a:ln>
        </p:spPr>
      </p:sp>
      <p:sp>
        <p:nvSpPr>
          <p:cNvPr id="27" name="Shape 25"/>
          <p:cNvSpPr/>
          <p:nvPr/>
        </p:nvSpPr>
        <p:spPr>
          <a:xfrm>
            <a:off x="10424160" y="3200400"/>
            <a:ext cx="502920" cy="502920"/>
          </a:xfrm>
          <a:prstGeom prst="rect">
            <a:avLst/>
          </a:prstGeom>
          <a:solidFill>
            <a:srgbClr val="22D3EE">
              <a:alpha val="75000"/>
            </a:srgbClr>
          </a:solidFill>
          <a:ln w="12700">
            <a:solidFill>
              <a:srgbClr val="22D3EE"/>
            </a:solidFill>
            <a:prstDash val="solid"/>
          </a:ln>
        </p:spPr>
      </p:sp>
      <p:sp>
        <p:nvSpPr>
          <p:cNvPr id="28" name="Shape 26"/>
          <p:cNvSpPr/>
          <p:nvPr/>
        </p:nvSpPr>
        <p:spPr>
          <a:xfrm>
            <a:off x="8503920" y="3840480"/>
            <a:ext cx="502920" cy="502920"/>
          </a:xfrm>
          <a:prstGeom prst="rect">
            <a:avLst/>
          </a:prstGeom>
          <a:solidFill>
            <a:srgbClr val="22D3EE">
              <a:alpha val="45000"/>
            </a:srgbClr>
          </a:solidFill>
          <a:ln w="12700">
            <a:solidFill>
              <a:srgbClr val="22D3EE"/>
            </a:solidFill>
            <a:prstDash val="solid"/>
          </a:ln>
        </p:spPr>
      </p:sp>
      <p:sp>
        <p:nvSpPr>
          <p:cNvPr id="29" name="Shape 27"/>
          <p:cNvSpPr/>
          <p:nvPr/>
        </p:nvSpPr>
        <p:spPr>
          <a:xfrm>
            <a:off x="9144000" y="3840480"/>
            <a:ext cx="502920" cy="502920"/>
          </a:xfrm>
          <a:prstGeom prst="rect">
            <a:avLst/>
          </a:prstGeom>
          <a:solidFill>
            <a:srgbClr val="22D3EE">
              <a:alpha val="15000"/>
            </a:srgbClr>
          </a:solidFill>
          <a:ln w="12700">
            <a:solidFill>
              <a:srgbClr val="22D3EE"/>
            </a:solidFill>
            <a:prstDash val="solid"/>
          </a:ln>
        </p:spPr>
      </p:sp>
      <p:sp>
        <p:nvSpPr>
          <p:cNvPr id="30" name="Shape 28"/>
          <p:cNvSpPr/>
          <p:nvPr/>
        </p:nvSpPr>
        <p:spPr>
          <a:xfrm>
            <a:off x="9784080" y="3840480"/>
            <a:ext cx="502920" cy="502920"/>
          </a:xfrm>
          <a:prstGeom prst="rect">
            <a:avLst/>
          </a:prstGeom>
          <a:solidFill>
            <a:srgbClr val="22D3EE">
              <a:alpha val="75000"/>
            </a:srgbClr>
          </a:solidFill>
          <a:ln w="12700">
            <a:solidFill>
              <a:srgbClr val="22D3EE"/>
            </a:solidFill>
            <a:prstDash val="solid"/>
          </a:ln>
        </p:spPr>
      </p:sp>
      <p:sp>
        <p:nvSpPr>
          <p:cNvPr id="31" name="Shape 29"/>
          <p:cNvSpPr/>
          <p:nvPr/>
        </p:nvSpPr>
        <p:spPr>
          <a:xfrm>
            <a:off x="10424160" y="3840480"/>
            <a:ext cx="502920" cy="502920"/>
          </a:xfrm>
          <a:prstGeom prst="rect">
            <a:avLst/>
          </a:prstGeom>
          <a:solidFill>
            <a:srgbClr val="22D3EE">
              <a:alpha val="45000"/>
            </a:srgbClr>
          </a:solidFill>
          <a:ln w="12700">
            <a:solidFill>
              <a:srgbClr val="22D3EE"/>
            </a:solidFill>
            <a:prstDash val="solid"/>
          </a:ln>
        </p:spPr>
      </p:sp>
      <p:sp>
        <p:nvSpPr>
          <p:cNvPr id="32" name="Shape 30"/>
          <p:cNvSpPr/>
          <p:nvPr/>
        </p:nvSpPr>
        <p:spPr>
          <a:xfrm>
            <a:off x="9144000" y="2560320"/>
            <a:ext cx="502920" cy="502920"/>
          </a:xfrm>
          <a:prstGeom prst="rect">
            <a:avLst/>
          </a:prstGeom>
          <a:solidFill>
            <a:srgbClr val="D97706"/>
          </a:solidFill>
          <a:ln w="12700">
            <a:solidFill>
              <a:srgbClr val="D97706"/>
            </a:solidFill>
            <a:prstDash val="solid"/>
          </a:ln>
        </p:spPr>
      </p:sp>
      <p:sp>
        <p:nvSpPr>
          <p:cNvPr id="33" name="Shape 31"/>
          <p:cNvSpPr/>
          <p:nvPr/>
        </p:nvSpPr>
        <p:spPr>
          <a:xfrm>
            <a:off x="0" y="6309360"/>
            <a:ext cx="12191695" cy="54864"/>
          </a:xfrm>
          <a:prstGeom prst="rect">
            <a:avLst/>
          </a:prstGeom>
          <a:solidFill>
            <a:srgbClr val="0E7490"/>
          </a:solidFill>
          <a:ln w="12700">
            <a:solidFill>
              <a:srgbClr val="0E7490"/>
            </a:solidFill>
            <a:prstDash val="solid"/>
          </a:ln>
        </p:spPr>
      </p:sp>
      <p:sp>
        <p:nvSpPr>
          <p:cNvPr id="34" name="Text 32"/>
          <p:cNvSpPr/>
          <p:nvPr/>
        </p:nvSpPr>
        <p:spPr>
          <a:xfrm>
            <a:off x="731520" y="6400800"/>
            <a:ext cx="7315200" cy="36576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v1.0  ·  2026-05  ·  partners@captiatechnology.com</a:t>
            </a:r>
            <a:endParaRPr lang="en-US" sz="1100" dirty="0"/>
          </a:p>
        </p:txBody>
      </p:sp>
      <p:sp>
        <p:nvSpPr>
          <p:cNvPr id="35" name="Text 33"/>
          <p:cNvSpPr/>
          <p:nvPr/>
        </p:nvSpPr>
        <p:spPr>
          <a:xfrm>
            <a:off x="8076895" y="6400800"/>
            <a:ext cx="3657600" cy="365760"/>
          </a:xfrm>
          <a:prstGeom prst="rect">
            <a:avLst/>
          </a:prstGeom>
          <a:noFill/>
          <a:ln/>
        </p:spPr>
        <p:txBody>
          <a:bodyPr wrap="square" lIns="0" tIns="0" rIns="0" bIns="0" rtlCol="0" anchor="ctr"/>
          <a:lstStyle/>
          <a:p>
            <a:pPr algn="r" indent="0" marL="0">
              <a:buNone/>
            </a:pPr>
            <a:r>
              <a:rPr lang="en-US" sz="1100" i="1" dirty="0">
                <a:solidFill>
                  <a:srgbClr val="94A3B8"/>
                </a:solidFill>
                <a:latin typeface="Calibri" pitchFamily="34" charset="0"/>
                <a:ea typeface="Calibri" pitchFamily="34" charset="-122"/>
                <a:cs typeface="Calibri" pitchFamily="34" charset="-120"/>
              </a:rPr>
              <a:t>Confidential — for partner evaluation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lIns="0" tIns="0" rIns="0" bIns="0" rtlCol="0" anchor="ctr"/>
          <a:lstStyle/>
          <a:p>
            <a:pPr indent="0" marL="0">
              <a:buNone/>
            </a:pPr>
            <a:r>
              <a:rPr lang="en-US" sz="1100" b="1" spc="400" kern="0" dirty="0">
                <a:solidFill>
                  <a:srgbClr val="22D3EE"/>
                </a:solidFill>
                <a:latin typeface="Calibri" pitchFamily="34" charset="0"/>
                <a:ea typeface="Calibri" pitchFamily="34" charset="-122"/>
                <a:cs typeface="Calibri" pitchFamily="34" charset="-120"/>
              </a:rPr>
              <a:t>01 · OVERVIEW</a:t>
            </a:r>
            <a:endParaRPr lang="en-US" sz="1100" dirty="0"/>
          </a:p>
        </p:txBody>
      </p:sp>
      <p:sp>
        <p:nvSpPr>
          <p:cNvPr id="3" name="Text 1"/>
          <p:cNvSpPr/>
          <p:nvPr/>
        </p:nvSpPr>
        <p:spPr>
          <a:xfrm>
            <a:off x="548640" y="548640"/>
            <a:ext cx="10058400" cy="640080"/>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What CAPTIA-connect is</a:t>
            </a:r>
            <a:endParaRPr lang="en-US" sz="3000" dirty="0"/>
          </a:p>
        </p:txBody>
      </p:sp>
      <p:sp>
        <p:nvSpPr>
          <p:cNvPr id="4" name="Text 2"/>
          <p:cNvSpPr/>
          <p:nvPr/>
        </p:nvSpPr>
        <p:spPr>
          <a:xfrm>
            <a:off x="11094415"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 / 14</a:t>
            </a:r>
            <a:endParaRPr lang="en-US" sz="900" dirty="0"/>
          </a:p>
        </p:txBody>
      </p:sp>
      <p:sp>
        <p:nvSpPr>
          <p:cNvPr id="5" name="Text 3"/>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CAPTIA Technology · Partner Integration Guide</a:t>
            </a:r>
            <a:endParaRPr lang="en-US" sz="900" dirty="0"/>
          </a:p>
        </p:txBody>
      </p:sp>
      <p:sp>
        <p:nvSpPr>
          <p:cNvPr id="6" name="Shape 4"/>
          <p:cNvSpPr/>
          <p:nvPr/>
        </p:nvSpPr>
        <p:spPr>
          <a:xfrm>
            <a:off x="11688775" y="320040"/>
            <a:ext cx="164592" cy="164592"/>
          </a:xfrm>
          <a:prstGeom prst="rect">
            <a:avLst/>
          </a:prstGeom>
          <a:solidFill>
            <a:srgbClr val="22D3EE"/>
          </a:solidFill>
          <a:ln w="12700">
            <a:solidFill>
              <a:srgbClr val="22D3EE"/>
            </a:solidFill>
            <a:prstDash val="solid"/>
          </a:ln>
        </p:spPr>
      </p:sp>
      <p:sp>
        <p:nvSpPr>
          <p:cNvPr id="7" name="Shape 5"/>
          <p:cNvSpPr/>
          <p:nvPr/>
        </p:nvSpPr>
        <p:spPr>
          <a:xfrm>
            <a:off x="11917375" y="320040"/>
            <a:ext cx="164592" cy="164592"/>
          </a:xfrm>
          <a:prstGeom prst="rect">
            <a:avLst/>
          </a:prstGeom>
          <a:solidFill>
            <a:srgbClr val="D97706"/>
          </a:solidFill>
          <a:ln w="12700">
            <a:solidFill>
              <a:srgbClr val="D97706"/>
            </a:solidFill>
            <a:prstDash val="solid"/>
          </a:ln>
        </p:spPr>
      </p:sp>
      <p:sp>
        <p:nvSpPr>
          <p:cNvPr id="8" name="Text 6"/>
          <p:cNvSpPr/>
          <p:nvPr/>
        </p:nvSpPr>
        <p:spPr>
          <a:xfrm>
            <a:off x="548640" y="1417320"/>
            <a:ext cx="10972800" cy="1005840"/>
          </a:xfrm>
          <a:prstGeom prst="rect">
            <a:avLst/>
          </a:prstGeom>
          <a:noFill/>
          <a:ln/>
        </p:spPr>
        <p:txBody>
          <a:bodyPr wrap="square" lIns="0" tIns="0" rIns="0" bIns="0" rtlCol="0" anchor="ctr"/>
          <a:lstStyle/>
          <a:p>
            <a:pPr indent="0" marL="0">
              <a:buNone/>
            </a:pPr>
            <a:r>
              <a:rPr lang="en-US" sz="1400" dirty="0">
                <a:solidFill>
                  <a:srgbClr val="0F172A"/>
                </a:solidFill>
                <a:latin typeface="Calibri" pitchFamily="34" charset="0"/>
                <a:ea typeface="Calibri" pitchFamily="34" charset="-122"/>
                <a:cs typeface="Calibri" pitchFamily="34" charset="-120"/>
              </a:rPr>
              <a:t>CAPTIA-connect is the on-premise IoT runtime deployed at every customer site. It ingests device telemetry over MQTT, persists it in InfluxDB with tiered retention, exposes a REST/SSE API for dashboards, and runs an event-rules engine — all packaged as a Docker Compose stack on bare-metal Ubuntu 24.04.</a:t>
            </a:r>
            <a:endParaRPr lang="en-US" sz="1400" dirty="0"/>
          </a:p>
        </p:txBody>
      </p:sp>
      <p:sp>
        <p:nvSpPr>
          <p:cNvPr id="9" name="Shape 7"/>
          <p:cNvSpPr/>
          <p:nvPr/>
        </p:nvSpPr>
        <p:spPr>
          <a:xfrm>
            <a:off x="548640" y="2743200"/>
            <a:ext cx="2697480" cy="2606040"/>
          </a:xfrm>
          <a:prstGeom prst="rect">
            <a:avLst/>
          </a:prstGeom>
          <a:solidFill>
            <a:srgbClr val="FFFFFF"/>
          </a:solidFill>
          <a:ln w="12700">
            <a:solidFill>
              <a:srgbClr val="E2E8F0"/>
            </a:solidFill>
            <a:prstDash val="solid"/>
          </a:ln>
          <a:effectLst>
            <a:outerShdw sx="100000" sy="100000" kx="0" ky="0" algn="bl" rotWithShape="0" blurRad="152400" dist="38100" dir="5400000">
              <a:srgbClr val="0F172A">
                <a:alpha val="10000"/>
              </a:srgbClr>
            </a:outerShdw>
          </a:effectLst>
        </p:spPr>
      </p:sp>
      <p:sp>
        <p:nvSpPr>
          <p:cNvPr id="10" name="Shape 8"/>
          <p:cNvSpPr/>
          <p:nvPr/>
        </p:nvSpPr>
        <p:spPr>
          <a:xfrm>
            <a:off x="548640" y="2743200"/>
            <a:ext cx="2697480" cy="109728"/>
          </a:xfrm>
          <a:prstGeom prst="rect">
            <a:avLst/>
          </a:prstGeom>
          <a:solidFill>
            <a:srgbClr val="22D3EE"/>
          </a:solidFill>
          <a:ln w="12700">
            <a:solidFill>
              <a:srgbClr val="22D3EE"/>
            </a:solidFill>
            <a:prstDash val="solid"/>
          </a:ln>
        </p:spPr>
      </p:sp>
      <p:pic>
        <p:nvPicPr>
          <p:cNvPr id="11" name="Image 0" descr="preencoded.png">    </p:cNvPr>
          <p:cNvPicPr>
            <a:picLocks noChangeAspect="1"/>
          </p:cNvPicPr>
          <p:nvPr/>
        </p:nvPicPr>
        <p:blipFill>
          <a:blip r:embed="rId1"/>
          <a:stretch>
            <a:fillRect/>
          </a:stretch>
        </p:blipFill>
        <p:spPr>
          <a:xfrm>
            <a:off x="868680" y="3108960"/>
            <a:ext cx="502920" cy="502920"/>
          </a:xfrm>
          <a:prstGeom prst="rect">
            <a:avLst/>
          </a:prstGeom>
        </p:spPr>
      </p:pic>
      <p:sp>
        <p:nvSpPr>
          <p:cNvPr id="12" name="Text 9"/>
          <p:cNvSpPr/>
          <p:nvPr/>
        </p:nvSpPr>
        <p:spPr>
          <a:xfrm>
            <a:off x="868680" y="3703320"/>
            <a:ext cx="2148840" cy="457200"/>
          </a:xfrm>
          <a:prstGeom prst="rect">
            <a:avLst/>
          </a:prstGeom>
          <a:noFill/>
          <a:ln/>
        </p:spPr>
        <p:txBody>
          <a:bodyPr wrap="square" lIns="0" tIns="0" rIns="0" bIns="0" rtlCol="0" anchor="ctr"/>
          <a:lstStyle/>
          <a:p>
            <a:pPr indent="0" marL="0">
              <a:buNone/>
            </a:pPr>
            <a:r>
              <a:rPr lang="en-US" sz="2200" b="1" dirty="0">
                <a:solidFill>
                  <a:srgbClr val="0E4F88"/>
                </a:solidFill>
                <a:latin typeface="Cambria" pitchFamily="34" charset="0"/>
                <a:ea typeface="Cambria" pitchFamily="34" charset="-122"/>
                <a:cs typeface="Cambria" pitchFamily="34" charset="-120"/>
              </a:rPr>
              <a:t>Ingest</a:t>
            </a:r>
            <a:endParaRPr lang="en-US" sz="2200" dirty="0"/>
          </a:p>
        </p:txBody>
      </p:sp>
      <p:sp>
        <p:nvSpPr>
          <p:cNvPr id="13" name="Text 10"/>
          <p:cNvSpPr/>
          <p:nvPr/>
        </p:nvSpPr>
        <p:spPr>
          <a:xfrm>
            <a:off x="868680" y="4160520"/>
            <a:ext cx="2148840" cy="118872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MQTT 7-segment topics with JSON payloads. Telegraf does dual-stream routing: raw to telemetry, deduped on-change to state_events.</a:t>
            </a:r>
            <a:endParaRPr lang="en-US" sz="1150" dirty="0"/>
          </a:p>
        </p:txBody>
      </p:sp>
      <p:sp>
        <p:nvSpPr>
          <p:cNvPr id="14" name="Shape 11"/>
          <p:cNvSpPr/>
          <p:nvPr/>
        </p:nvSpPr>
        <p:spPr>
          <a:xfrm>
            <a:off x="3410712" y="2743200"/>
            <a:ext cx="2697480" cy="2606040"/>
          </a:xfrm>
          <a:prstGeom prst="rect">
            <a:avLst/>
          </a:prstGeom>
          <a:solidFill>
            <a:srgbClr val="FFFFFF"/>
          </a:solidFill>
          <a:ln w="12700">
            <a:solidFill>
              <a:srgbClr val="E2E8F0"/>
            </a:solidFill>
            <a:prstDash val="solid"/>
          </a:ln>
          <a:effectLst>
            <a:outerShdw sx="100000" sy="100000" kx="0" ky="0" algn="bl" rotWithShape="0" blurRad="152400" dist="38100" dir="5400000">
              <a:srgbClr val="0F172A">
                <a:alpha val="10000"/>
              </a:srgbClr>
            </a:outerShdw>
          </a:effectLst>
        </p:spPr>
      </p:sp>
      <p:sp>
        <p:nvSpPr>
          <p:cNvPr id="15" name="Shape 12"/>
          <p:cNvSpPr/>
          <p:nvPr/>
        </p:nvSpPr>
        <p:spPr>
          <a:xfrm>
            <a:off x="3410712" y="2743200"/>
            <a:ext cx="2697480" cy="109728"/>
          </a:xfrm>
          <a:prstGeom prst="rect">
            <a:avLst/>
          </a:prstGeom>
          <a:solidFill>
            <a:srgbClr val="22D3EE"/>
          </a:solidFill>
          <a:ln w="12700">
            <a:solidFill>
              <a:srgbClr val="22D3EE"/>
            </a:solidFill>
            <a:prstDash val="solid"/>
          </a:ln>
        </p:spPr>
      </p:sp>
      <p:pic>
        <p:nvPicPr>
          <p:cNvPr id="16" name="Image 1" descr="preencoded.png">    </p:cNvPr>
          <p:cNvPicPr>
            <a:picLocks noChangeAspect="1"/>
          </p:cNvPicPr>
          <p:nvPr/>
        </p:nvPicPr>
        <p:blipFill>
          <a:blip r:embed="rId2"/>
          <a:stretch>
            <a:fillRect/>
          </a:stretch>
        </p:blipFill>
        <p:spPr>
          <a:xfrm>
            <a:off x="3730752" y="3108960"/>
            <a:ext cx="502920" cy="502920"/>
          </a:xfrm>
          <a:prstGeom prst="rect">
            <a:avLst/>
          </a:prstGeom>
        </p:spPr>
      </p:pic>
      <p:sp>
        <p:nvSpPr>
          <p:cNvPr id="17" name="Text 13"/>
          <p:cNvSpPr/>
          <p:nvPr/>
        </p:nvSpPr>
        <p:spPr>
          <a:xfrm>
            <a:off x="3730752" y="3703320"/>
            <a:ext cx="2148840" cy="457200"/>
          </a:xfrm>
          <a:prstGeom prst="rect">
            <a:avLst/>
          </a:prstGeom>
          <a:noFill/>
          <a:ln/>
        </p:spPr>
        <p:txBody>
          <a:bodyPr wrap="square" lIns="0" tIns="0" rIns="0" bIns="0" rtlCol="0" anchor="ctr"/>
          <a:lstStyle/>
          <a:p>
            <a:pPr indent="0" marL="0">
              <a:buNone/>
            </a:pPr>
            <a:r>
              <a:rPr lang="en-US" sz="2200" b="1" dirty="0">
                <a:solidFill>
                  <a:srgbClr val="0E4F88"/>
                </a:solidFill>
                <a:latin typeface="Cambria" pitchFamily="34" charset="0"/>
                <a:ea typeface="Cambria" pitchFamily="34" charset="-122"/>
                <a:cs typeface="Cambria" pitchFamily="34" charset="-120"/>
              </a:rPr>
              <a:t>Persist</a:t>
            </a:r>
            <a:endParaRPr lang="en-US" sz="2200" dirty="0"/>
          </a:p>
        </p:txBody>
      </p:sp>
      <p:sp>
        <p:nvSpPr>
          <p:cNvPr id="18" name="Text 14"/>
          <p:cNvSpPr/>
          <p:nvPr/>
        </p:nvSpPr>
        <p:spPr>
          <a:xfrm>
            <a:off x="3730752" y="4160520"/>
            <a:ext cx="2148840" cy="118872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InfluxDB 2.7 with 9 buckets (raw + 1m/15m/1h rollups + on-change + metadata). Cardinality-tuned schema, 14-day raw retention.</a:t>
            </a:r>
            <a:endParaRPr lang="en-US" sz="1150" dirty="0"/>
          </a:p>
        </p:txBody>
      </p:sp>
      <p:sp>
        <p:nvSpPr>
          <p:cNvPr id="19" name="Shape 15"/>
          <p:cNvSpPr/>
          <p:nvPr/>
        </p:nvSpPr>
        <p:spPr>
          <a:xfrm>
            <a:off x="6272784" y="2743200"/>
            <a:ext cx="2697480" cy="2606040"/>
          </a:xfrm>
          <a:prstGeom prst="rect">
            <a:avLst/>
          </a:prstGeom>
          <a:solidFill>
            <a:srgbClr val="FFFFFF"/>
          </a:solidFill>
          <a:ln w="12700">
            <a:solidFill>
              <a:srgbClr val="E2E8F0"/>
            </a:solidFill>
            <a:prstDash val="solid"/>
          </a:ln>
          <a:effectLst>
            <a:outerShdw sx="100000" sy="100000" kx="0" ky="0" algn="bl" rotWithShape="0" blurRad="152400" dist="38100" dir="5400000">
              <a:srgbClr val="0F172A">
                <a:alpha val="10000"/>
              </a:srgbClr>
            </a:outerShdw>
          </a:effectLst>
        </p:spPr>
      </p:sp>
      <p:sp>
        <p:nvSpPr>
          <p:cNvPr id="20" name="Shape 16"/>
          <p:cNvSpPr/>
          <p:nvPr/>
        </p:nvSpPr>
        <p:spPr>
          <a:xfrm>
            <a:off x="6272784" y="2743200"/>
            <a:ext cx="2697480" cy="109728"/>
          </a:xfrm>
          <a:prstGeom prst="rect">
            <a:avLst/>
          </a:prstGeom>
          <a:solidFill>
            <a:srgbClr val="22D3EE"/>
          </a:solidFill>
          <a:ln w="12700">
            <a:solidFill>
              <a:srgbClr val="22D3EE"/>
            </a:solidFill>
            <a:prstDash val="solid"/>
          </a:ln>
        </p:spPr>
      </p:sp>
      <p:pic>
        <p:nvPicPr>
          <p:cNvPr id="21" name="Image 2" descr="preencoded.png">    </p:cNvPr>
          <p:cNvPicPr>
            <a:picLocks noChangeAspect="1"/>
          </p:cNvPicPr>
          <p:nvPr/>
        </p:nvPicPr>
        <p:blipFill>
          <a:blip r:embed="rId3"/>
          <a:stretch>
            <a:fillRect/>
          </a:stretch>
        </p:blipFill>
        <p:spPr>
          <a:xfrm>
            <a:off x="6592824" y="3108960"/>
            <a:ext cx="502920" cy="502920"/>
          </a:xfrm>
          <a:prstGeom prst="rect">
            <a:avLst/>
          </a:prstGeom>
        </p:spPr>
      </p:pic>
      <p:sp>
        <p:nvSpPr>
          <p:cNvPr id="22" name="Text 17"/>
          <p:cNvSpPr/>
          <p:nvPr/>
        </p:nvSpPr>
        <p:spPr>
          <a:xfrm>
            <a:off x="6592824" y="3703320"/>
            <a:ext cx="2148840" cy="457200"/>
          </a:xfrm>
          <a:prstGeom prst="rect">
            <a:avLst/>
          </a:prstGeom>
          <a:noFill/>
          <a:ln/>
        </p:spPr>
        <p:txBody>
          <a:bodyPr wrap="square" lIns="0" tIns="0" rIns="0" bIns="0" rtlCol="0" anchor="ctr"/>
          <a:lstStyle/>
          <a:p>
            <a:pPr indent="0" marL="0">
              <a:buNone/>
            </a:pPr>
            <a:r>
              <a:rPr lang="en-US" sz="2200" b="1" dirty="0">
                <a:solidFill>
                  <a:srgbClr val="0E4F88"/>
                </a:solidFill>
                <a:latin typeface="Cambria" pitchFamily="34" charset="0"/>
                <a:ea typeface="Cambria" pitchFamily="34" charset="-122"/>
                <a:cs typeface="Cambria" pitchFamily="34" charset="-120"/>
              </a:rPr>
              <a:t>Process</a:t>
            </a:r>
            <a:endParaRPr lang="en-US" sz="2200" dirty="0"/>
          </a:p>
        </p:txBody>
      </p:sp>
      <p:sp>
        <p:nvSpPr>
          <p:cNvPr id="23" name="Text 18"/>
          <p:cNvSpPr/>
          <p:nvPr/>
        </p:nvSpPr>
        <p:spPr>
          <a:xfrm>
            <a:off x="6592824" y="4160520"/>
            <a:ext cx="2148840" cy="118872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Events Engine evaluates rules in real time with Redis-backed gate state. Normalizer translates vendor protocols into canonical CAPTIA topics.</a:t>
            </a:r>
            <a:endParaRPr lang="en-US" sz="1150" dirty="0"/>
          </a:p>
        </p:txBody>
      </p:sp>
      <p:sp>
        <p:nvSpPr>
          <p:cNvPr id="24" name="Shape 19"/>
          <p:cNvSpPr/>
          <p:nvPr/>
        </p:nvSpPr>
        <p:spPr>
          <a:xfrm>
            <a:off x="9134856" y="2743200"/>
            <a:ext cx="2697480" cy="2606040"/>
          </a:xfrm>
          <a:prstGeom prst="rect">
            <a:avLst/>
          </a:prstGeom>
          <a:solidFill>
            <a:srgbClr val="FFFFFF"/>
          </a:solidFill>
          <a:ln w="12700">
            <a:solidFill>
              <a:srgbClr val="E2E8F0"/>
            </a:solidFill>
            <a:prstDash val="solid"/>
          </a:ln>
          <a:effectLst>
            <a:outerShdw sx="100000" sy="100000" kx="0" ky="0" algn="bl" rotWithShape="0" blurRad="152400" dist="38100" dir="5400000">
              <a:srgbClr val="0F172A">
                <a:alpha val="10000"/>
              </a:srgbClr>
            </a:outerShdw>
          </a:effectLst>
        </p:spPr>
      </p:sp>
      <p:sp>
        <p:nvSpPr>
          <p:cNvPr id="25" name="Shape 20"/>
          <p:cNvSpPr/>
          <p:nvPr/>
        </p:nvSpPr>
        <p:spPr>
          <a:xfrm>
            <a:off x="9134856" y="2743200"/>
            <a:ext cx="2697480" cy="109728"/>
          </a:xfrm>
          <a:prstGeom prst="rect">
            <a:avLst/>
          </a:prstGeom>
          <a:solidFill>
            <a:srgbClr val="22D3EE"/>
          </a:solidFill>
          <a:ln w="12700">
            <a:solidFill>
              <a:srgbClr val="22D3EE"/>
            </a:solidFill>
            <a:prstDash val="solid"/>
          </a:ln>
        </p:spPr>
      </p:sp>
      <p:pic>
        <p:nvPicPr>
          <p:cNvPr id="26" name="Image 3" descr="preencoded.png">    </p:cNvPr>
          <p:cNvPicPr>
            <a:picLocks noChangeAspect="1"/>
          </p:cNvPicPr>
          <p:nvPr/>
        </p:nvPicPr>
        <p:blipFill>
          <a:blip r:embed="rId4"/>
          <a:stretch>
            <a:fillRect/>
          </a:stretch>
        </p:blipFill>
        <p:spPr>
          <a:xfrm>
            <a:off x="9454896" y="3108960"/>
            <a:ext cx="502920" cy="502920"/>
          </a:xfrm>
          <a:prstGeom prst="rect">
            <a:avLst/>
          </a:prstGeom>
        </p:spPr>
      </p:pic>
      <p:sp>
        <p:nvSpPr>
          <p:cNvPr id="27" name="Text 21"/>
          <p:cNvSpPr/>
          <p:nvPr/>
        </p:nvSpPr>
        <p:spPr>
          <a:xfrm>
            <a:off x="9454896" y="3703320"/>
            <a:ext cx="2148840" cy="457200"/>
          </a:xfrm>
          <a:prstGeom prst="rect">
            <a:avLst/>
          </a:prstGeom>
          <a:noFill/>
          <a:ln/>
        </p:spPr>
        <p:txBody>
          <a:bodyPr wrap="square" lIns="0" tIns="0" rIns="0" bIns="0" rtlCol="0" anchor="ctr"/>
          <a:lstStyle/>
          <a:p>
            <a:pPr indent="0" marL="0">
              <a:buNone/>
            </a:pPr>
            <a:r>
              <a:rPr lang="en-US" sz="2200" b="1" dirty="0">
                <a:solidFill>
                  <a:srgbClr val="0E4F88"/>
                </a:solidFill>
                <a:latin typeface="Cambria" pitchFamily="34" charset="0"/>
                <a:ea typeface="Cambria" pitchFamily="34" charset="-122"/>
                <a:cs typeface="Cambria" pitchFamily="34" charset="-120"/>
              </a:rPr>
              <a:t>Serve</a:t>
            </a:r>
            <a:endParaRPr lang="en-US" sz="2200" dirty="0"/>
          </a:p>
        </p:txBody>
      </p:sp>
      <p:sp>
        <p:nvSpPr>
          <p:cNvPr id="28" name="Text 22"/>
          <p:cNvSpPr/>
          <p:nvPr/>
        </p:nvSpPr>
        <p:spPr>
          <a:xfrm>
            <a:off x="9454896" y="4160520"/>
            <a:ext cx="2148840" cy="118872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Dashboard Adapter (FastAPI) exposes /v1/query, SSE streams, command bridge. Grafana, custom React UIs and the SaaS plane consume it.</a:t>
            </a:r>
            <a:endParaRPr lang="en-US" sz="1150" dirty="0"/>
          </a:p>
        </p:txBody>
      </p:sp>
      <p:sp>
        <p:nvSpPr>
          <p:cNvPr id="29" name="Text 23"/>
          <p:cNvSpPr/>
          <p:nvPr/>
        </p:nvSpPr>
        <p:spPr>
          <a:xfrm>
            <a:off x="548640" y="5532120"/>
            <a:ext cx="1371600" cy="502920"/>
          </a:xfrm>
          <a:prstGeom prst="rect">
            <a:avLst/>
          </a:prstGeom>
          <a:noFill/>
          <a:ln/>
        </p:spPr>
        <p:txBody>
          <a:bodyPr wrap="square" lIns="0" tIns="0" rIns="0" bIns="0" rtlCol="0" anchor="ctr"/>
          <a:lstStyle/>
          <a:p>
            <a:pPr indent="0" marL="0">
              <a:buNone/>
            </a:pPr>
            <a:r>
              <a:rPr lang="en-US" sz="2800" b="1" dirty="0">
                <a:solidFill>
                  <a:srgbClr val="D97706"/>
                </a:solidFill>
                <a:latin typeface="Cambria" pitchFamily="34" charset="0"/>
                <a:ea typeface="Cambria" pitchFamily="34" charset="-122"/>
                <a:cs typeface="Cambria" pitchFamily="34" charset="-120"/>
              </a:rPr>
              <a:t>29</a:t>
            </a:r>
            <a:endParaRPr lang="en-US" sz="2800" dirty="0"/>
          </a:p>
        </p:txBody>
      </p:sp>
      <p:sp>
        <p:nvSpPr>
          <p:cNvPr id="30" name="Text 24"/>
          <p:cNvSpPr/>
          <p:nvPr/>
        </p:nvSpPr>
        <p:spPr>
          <a:xfrm>
            <a:off x="548640" y="5989320"/>
            <a:ext cx="274320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containerized services</a:t>
            </a:r>
            <a:endParaRPr lang="en-US" sz="1100" dirty="0"/>
          </a:p>
        </p:txBody>
      </p:sp>
      <p:sp>
        <p:nvSpPr>
          <p:cNvPr id="31" name="Text 25"/>
          <p:cNvSpPr/>
          <p:nvPr/>
        </p:nvSpPr>
        <p:spPr>
          <a:xfrm>
            <a:off x="3410712" y="5532120"/>
            <a:ext cx="1371600" cy="502920"/>
          </a:xfrm>
          <a:prstGeom prst="rect">
            <a:avLst/>
          </a:prstGeom>
          <a:noFill/>
          <a:ln/>
        </p:spPr>
        <p:txBody>
          <a:bodyPr wrap="square" lIns="0" tIns="0" rIns="0" bIns="0" rtlCol="0" anchor="ctr"/>
          <a:lstStyle/>
          <a:p>
            <a:pPr indent="0" marL="0">
              <a:buNone/>
            </a:pPr>
            <a:r>
              <a:rPr lang="en-US" sz="2800" b="1" dirty="0">
                <a:solidFill>
                  <a:srgbClr val="D97706"/>
                </a:solidFill>
                <a:latin typeface="Cambria" pitchFamily="34" charset="0"/>
                <a:ea typeface="Cambria" pitchFamily="34" charset="-122"/>
                <a:cs typeface="Cambria" pitchFamily="34" charset="-120"/>
              </a:rPr>
              <a:t>2</a:t>
            </a:r>
            <a:endParaRPr lang="en-US" sz="2800" dirty="0"/>
          </a:p>
        </p:txBody>
      </p:sp>
      <p:sp>
        <p:nvSpPr>
          <p:cNvPr id="32" name="Text 26"/>
          <p:cNvSpPr/>
          <p:nvPr/>
        </p:nvSpPr>
        <p:spPr>
          <a:xfrm>
            <a:off x="3410712" y="5989320"/>
            <a:ext cx="274320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production tenants</a:t>
            </a:r>
            <a:endParaRPr lang="en-US" sz="1100" dirty="0"/>
          </a:p>
        </p:txBody>
      </p:sp>
      <p:sp>
        <p:nvSpPr>
          <p:cNvPr id="33" name="Text 27"/>
          <p:cNvSpPr/>
          <p:nvPr/>
        </p:nvSpPr>
        <p:spPr>
          <a:xfrm>
            <a:off x="6272784" y="5532120"/>
            <a:ext cx="1371600" cy="502920"/>
          </a:xfrm>
          <a:prstGeom prst="rect">
            <a:avLst/>
          </a:prstGeom>
          <a:noFill/>
          <a:ln/>
        </p:spPr>
        <p:txBody>
          <a:bodyPr wrap="square" lIns="0" tIns="0" rIns="0" bIns="0" rtlCol="0" anchor="ctr"/>
          <a:lstStyle/>
          <a:p>
            <a:pPr indent="0" marL="0">
              <a:buNone/>
            </a:pPr>
            <a:r>
              <a:rPr lang="en-US" sz="2800" b="1" dirty="0">
                <a:solidFill>
                  <a:srgbClr val="D97706"/>
                </a:solidFill>
                <a:latin typeface="Cambria" pitchFamily="34" charset="0"/>
                <a:ea typeface="Cambria" pitchFamily="34" charset="-122"/>
                <a:cs typeface="Cambria" pitchFamily="34" charset="-120"/>
              </a:rPr>
              <a:t>&lt;5s</a:t>
            </a:r>
            <a:endParaRPr lang="en-US" sz="2800" dirty="0"/>
          </a:p>
        </p:txBody>
      </p:sp>
      <p:sp>
        <p:nvSpPr>
          <p:cNvPr id="34" name="Text 28"/>
          <p:cNvSpPr/>
          <p:nvPr/>
        </p:nvSpPr>
        <p:spPr>
          <a:xfrm>
            <a:off x="6272784" y="5989320"/>
            <a:ext cx="274320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MQTT-to-storage latency</a:t>
            </a:r>
            <a:endParaRPr lang="en-US" sz="1100" dirty="0"/>
          </a:p>
        </p:txBody>
      </p:sp>
      <p:sp>
        <p:nvSpPr>
          <p:cNvPr id="35" name="Text 29"/>
          <p:cNvSpPr/>
          <p:nvPr/>
        </p:nvSpPr>
        <p:spPr>
          <a:xfrm>
            <a:off x="9134856" y="5532120"/>
            <a:ext cx="1371600" cy="502920"/>
          </a:xfrm>
          <a:prstGeom prst="rect">
            <a:avLst/>
          </a:prstGeom>
          <a:noFill/>
          <a:ln/>
        </p:spPr>
        <p:txBody>
          <a:bodyPr wrap="square" lIns="0" tIns="0" rIns="0" bIns="0" rtlCol="0" anchor="ctr"/>
          <a:lstStyle/>
          <a:p>
            <a:pPr indent="0" marL="0">
              <a:buNone/>
            </a:pPr>
            <a:r>
              <a:rPr lang="en-US" sz="2800" b="1" dirty="0">
                <a:solidFill>
                  <a:srgbClr val="D97706"/>
                </a:solidFill>
                <a:latin typeface="Cambria" pitchFamily="34" charset="0"/>
                <a:ea typeface="Cambria" pitchFamily="34" charset="-122"/>
                <a:cs typeface="Cambria" pitchFamily="34" charset="-120"/>
              </a:rPr>
              <a:t>365d</a:t>
            </a:r>
            <a:endParaRPr lang="en-US" sz="2800" dirty="0"/>
          </a:p>
        </p:txBody>
      </p:sp>
      <p:sp>
        <p:nvSpPr>
          <p:cNvPr id="36" name="Text 30"/>
          <p:cNvSpPr/>
          <p:nvPr/>
        </p:nvSpPr>
        <p:spPr>
          <a:xfrm>
            <a:off x="9134856" y="5989320"/>
            <a:ext cx="274320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long-term retention (1h rollup)</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lIns="0" tIns="0" rIns="0" bIns="0" rtlCol="0" anchor="ctr"/>
          <a:lstStyle/>
          <a:p>
            <a:pPr indent="0" marL="0">
              <a:buNone/>
            </a:pPr>
            <a:r>
              <a:rPr lang="en-US" sz="1100" b="1" spc="400" kern="0" dirty="0">
                <a:solidFill>
                  <a:srgbClr val="22D3EE"/>
                </a:solidFill>
                <a:latin typeface="Calibri" pitchFamily="34" charset="0"/>
                <a:ea typeface="Calibri" pitchFamily="34" charset="-122"/>
                <a:cs typeface="Calibri" pitchFamily="34" charset="-120"/>
              </a:rPr>
              <a:t>02 · ARCHITECTURE</a:t>
            </a:r>
            <a:endParaRPr lang="en-US" sz="1100" dirty="0"/>
          </a:p>
        </p:txBody>
      </p:sp>
      <p:sp>
        <p:nvSpPr>
          <p:cNvPr id="3" name="Text 1"/>
          <p:cNvSpPr/>
          <p:nvPr/>
        </p:nvSpPr>
        <p:spPr>
          <a:xfrm>
            <a:off x="548640" y="548640"/>
            <a:ext cx="10058400" cy="640080"/>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End-to-end data flow</a:t>
            </a:r>
            <a:endParaRPr lang="en-US" sz="3000" dirty="0"/>
          </a:p>
        </p:txBody>
      </p:sp>
      <p:sp>
        <p:nvSpPr>
          <p:cNvPr id="4" name="Text 2"/>
          <p:cNvSpPr/>
          <p:nvPr/>
        </p:nvSpPr>
        <p:spPr>
          <a:xfrm>
            <a:off x="11094415"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 / 14</a:t>
            </a:r>
            <a:endParaRPr lang="en-US" sz="900" dirty="0"/>
          </a:p>
        </p:txBody>
      </p:sp>
      <p:sp>
        <p:nvSpPr>
          <p:cNvPr id="5" name="Text 3"/>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CAPTIA Technology · Partner Integration Guide</a:t>
            </a:r>
            <a:endParaRPr lang="en-US" sz="900" dirty="0"/>
          </a:p>
        </p:txBody>
      </p:sp>
      <p:sp>
        <p:nvSpPr>
          <p:cNvPr id="6" name="Shape 4"/>
          <p:cNvSpPr/>
          <p:nvPr/>
        </p:nvSpPr>
        <p:spPr>
          <a:xfrm>
            <a:off x="11688775" y="320040"/>
            <a:ext cx="164592" cy="164592"/>
          </a:xfrm>
          <a:prstGeom prst="rect">
            <a:avLst/>
          </a:prstGeom>
          <a:solidFill>
            <a:srgbClr val="22D3EE"/>
          </a:solidFill>
          <a:ln w="12700">
            <a:solidFill>
              <a:srgbClr val="22D3EE"/>
            </a:solidFill>
            <a:prstDash val="solid"/>
          </a:ln>
        </p:spPr>
      </p:sp>
      <p:sp>
        <p:nvSpPr>
          <p:cNvPr id="7" name="Shape 5"/>
          <p:cNvSpPr/>
          <p:nvPr/>
        </p:nvSpPr>
        <p:spPr>
          <a:xfrm>
            <a:off x="11917375" y="320040"/>
            <a:ext cx="164592" cy="164592"/>
          </a:xfrm>
          <a:prstGeom prst="rect">
            <a:avLst/>
          </a:prstGeom>
          <a:solidFill>
            <a:srgbClr val="D97706"/>
          </a:solidFill>
          <a:ln w="12700">
            <a:solidFill>
              <a:srgbClr val="D97706"/>
            </a:solidFill>
            <a:prstDash val="solid"/>
          </a:ln>
        </p:spPr>
      </p:sp>
      <p:sp>
        <p:nvSpPr>
          <p:cNvPr id="8" name="Text 6"/>
          <p:cNvSpPr/>
          <p:nvPr/>
        </p:nvSpPr>
        <p:spPr>
          <a:xfrm>
            <a:off x="548640" y="1417320"/>
            <a:ext cx="10972800" cy="822960"/>
          </a:xfrm>
          <a:prstGeom prst="rect">
            <a:avLst/>
          </a:prstGeom>
          <a:noFill/>
          <a:ln/>
        </p:spPr>
        <p:txBody>
          <a:bodyPr wrap="square" lIns="0" tIns="0" rIns="0" bIns="0" rtlCol="0" anchor="ctr"/>
          <a:lstStyle/>
          <a:p>
            <a:pPr indent="0" marL="0">
              <a:buNone/>
            </a:pPr>
            <a:r>
              <a:rPr lang="en-US" sz="1300" i="1" dirty="0">
                <a:solidFill>
                  <a:srgbClr val="0F172A"/>
                </a:solidFill>
                <a:latin typeface="Calibri" pitchFamily="34" charset="0"/>
                <a:ea typeface="Calibri" pitchFamily="34" charset="-122"/>
                <a:cs typeface="Calibri" pitchFamily="34" charset="-120"/>
              </a:rPr>
              <a:t>Your devices publish to the local Mosquitto broker. Telegraf and the Normalizer route data into InfluxDB. The Dashboard Adapter and the Events Engine read from there. Apps query the Adapter only — never InfluxDB directly.</a:t>
            </a:r>
            <a:endParaRPr lang="en-US" sz="1300" dirty="0"/>
          </a:p>
        </p:txBody>
      </p:sp>
      <p:sp>
        <p:nvSpPr>
          <p:cNvPr id="9" name="Shape 7"/>
          <p:cNvSpPr/>
          <p:nvPr/>
        </p:nvSpPr>
        <p:spPr>
          <a:xfrm>
            <a:off x="548640" y="3108960"/>
            <a:ext cx="1653540" cy="1554480"/>
          </a:xfrm>
          <a:prstGeom prst="rect">
            <a:avLst/>
          </a:prstGeom>
          <a:solidFill>
            <a:srgbClr val="FFFFFF"/>
          </a:solidFill>
          <a:ln w="12700">
            <a:solidFill>
              <a:srgbClr val="E2E8F0"/>
            </a:solidFill>
            <a:prstDash val="solid"/>
          </a:ln>
          <a:effectLst>
            <a:outerShdw sx="100000" sy="100000" kx="0" ky="0" algn="bl" rotWithShape="0" blurRad="152400" dist="38100" dir="5400000">
              <a:srgbClr val="0F172A">
                <a:alpha val="10000"/>
              </a:srgbClr>
            </a:outerShdw>
          </a:effectLst>
        </p:spPr>
      </p:sp>
      <p:sp>
        <p:nvSpPr>
          <p:cNvPr id="10" name="Shape 8"/>
          <p:cNvSpPr/>
          <p:nvPr/>
        </p:nvSpPr>
        <p:spPr>
          <a:xfrm>
            <a:off x="548640" y="3108960"/>
            <a:ext cx="1653540" cy="109728"/>
          </a:xfrm>
          <a:prstGeom prst="rect">
            <a:avLst/>
          </a:prstGeom>
          <a:solidFill>
            <a:srgbClr val="D97706"/>
          </a:solidFill>
          <a:ln w="12700">
            <a:solidFill>
              <a:srgbClr val="D97706"/>
            </a:solidFill>
            <a:prstDash val="solid"/>
          </a:ln>
        </p:spPr>
      </p:sp>
      <p:pic>
        <p:nvPicPr>
          <p:cNvPr id="11" name="Image 0" descr="preencoded.png">    </p:cNvPr>
          <p:cNvPicPr>
            <a:picLocks noChangeAspect="1"/>
          </p:cNvPicPr>
          <p:nvPr/>
        </p:nvPicPr>
        <p:blipFill>
          <a:blip r:embed="rId1"/>
          <a:stretch>
            <a:fillRect/>
          </a:stretch>
        </p:blipFill>
        <p:spPr>
          <a:xfrm>
            <a:off x="1123950" y="3383280"/>
            <a:ext cx="502920" cy="502920"/>
          </a:xfrm>
          <a:prstGeom prst="rect">
            <a:avLst/>
          </a:prstGeom>
        </p:spPr>
      </p:pic>
      <p:sp>
        <p:nvSpPr>
          <p:cNvPr id="12" name="Text 9"/>
          <p:cNvSpPr/>
          <p:nvPr/>
        </p:nvSpPr>
        <p:spPr>
          <a:xfrm>
            <a:off x="548640" y="3977640"/>
            <a:ext cx="1653540" cy="411480"/>
          </a:xfrm>
          <a:prstGeom prst="rect">
            <a:avLst/>
          </a:prstGeom>
          <a:noFill/>
          <a:ln/>
        </p:spPr>
        <p:txBody>
          <a:bodyPr wrap="square" lIns="0" tIns="0" rIns="0" bIns="0" rtlCol="0" anchor="ctr"/>
          <a:lstStyle/>
          <a:p>
            <a:pPr algn="ctr" indent="0" marL="0">
              <a:buNone/>
            </a:pPr>
            <a:r>
              <a:rPr lang="en-US" sz="1400" b="1" dirty="0">
                <a:solidFill>
                  <a:srgbClr val="0F172A"/>
                </a:solidFill>
                <a:latin typeface="Cambria" pitchFamily="34" charset="0"/>
                <a:ea typeface="Cambria" pitchFamily="34" charset="-122"/>
                <a:cs typeface="Cambria" pitchFamily="34" charset="-120"/>
              </a:rPr>
              <a:t>Partner</a:t>
            </a:r>
            <a:endParaRPr lang="en-US" sz="1400" dirty="0"/>
          </a:p>
          <a:p>
            <a:pPr algn="ctr" indent="0" marL="0">
              <a:buNone/>
            </a:pPr>
            <a:r>
              <a:rPr lang="en-US" sz="1400" b="1" dirty="0">
                <a:solidFill>
                  <a:srgbClr val="0F172A"/>
                </a:solidFill>
                <a:latin typeface="Cambria" pitchFamily="34" charset="0"/>
                <a:ea typeface="Cambria" pitchFamily="34" charset="-122"/>
                <a:cs typeface="Cambria" pitchFamily="34" charset="-120"/>
              </a:rPr>
              <a:t>Device</a:t>
            </a:r>
            <a:endParaRPr lang="en-US" sz="1400" dirty="0"/>
          </a:p>
        </p:txBody>
      </p:sp>
      <p:sp>
        <p:nvSpPr>
          <p:cNvPr id="13" name="Text 10"/>
          <p:cNvSpPr/>
          <p:nvPr/>
        </p:nvSpPr>
        <p:spPr>
          <a:xfrm>
            <a:off x="548640" y="4389120"/>
            <a:ext cx="1653540" cy="22860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Native or vendor proto</a:t>
            </a:r>
            <a:endParaRPr lang="en-US" sz="1000" dirty="0"/>
          </a:p>
        </p:txBody>
      </p:sp>
      <p:sp>
        <p:nvSpPr>
          <p:cNvPr id="14" name="Shape 11"/>
          <p:cNvSpPr/>
          <p:nvPr/>
        </p:nvSpPr>
        <p:spPr>
          <a:xfrm>
            <a:off x="2202180" y="3886200"/>
            <a:ext cx="228600" cy="0"/>
          </a:xfrm>
          <a:prstGeom prst="line">
            <a:avLst/>
          </a:prstGeom>
          <a:noFill/>
          <a:ln w="25400">
            <a:solidFill>
              <a:srgbClr val="0E4F88"/>
            </a:solidFill>
            <a:prstDash val="solid"/>
            <a:tailEnd type="triangle"/>
          </a:ln>
        </p:spPr>
      </p:sp>
      <p:sp>
        <p:nvSpPr>
          <p:cNvPr id="15" name="Shape 12"/>
          <p:cNvSpPr/>
          <p:nvPr/>
        </p:nvSpPr>
        <p:spPr>
          <a:xfrm>
            <a:off x="2430780" y="3108960"/>
            <a:ext cx="1653540" cy="1554480"/>
          </a:xfrm>
          <a:prstGeom prst="rect">
            <a:avLst/>
          </a:prstGeom>
          <a:solidFill>
            <a:srgbClr val="FFFFFF"/>
          </a:solidFill>
          <a:ln w="12700">
            <a:solidFill>
              <a:srgbClr val="E2E8F0"/>
            </a:solidFill>
            <a:prstDash val="solid"/>
          </a:ln>
          <a:effectLst>
            <a:outerShdw sx="100000" sy="100000" kx="0" ky="0" algn="bl" rotWithShape="0" blurRad="152400" dist="38100" dir="5400000">
              <a:srgbClr val="0F172A">
                <a:alpha val="10000"/>
              </a:srgbClr>
            </a:outerShdw>
          </a:effectLst>
        </p:spPr>
      </p:sp>
      <p:sp>
        <p:nvSpPr>
          <p:cNvPr id="16" name="Shape 13"/>
          <p:cNvSpPr/>
          <p:nvPr/>
        </p:nvSpPr>
        <p:spPr>
          <a:xfrm>
            <a:off x="2430780" y="3108960"/>
            <a:ext cx="1653540" cy="109728"/>
          </a:xfrm>
          <a:prstGeom prst="rect">
            <a:avLst/>
          </a:prstGeom>
          <a:solidFill>
            <a:srgbClr val="0E4F88"/>
          </a:solidFill>
          <a:ln w="12700">
            <a:solidFill>
              <a:srgbClr val="0E4F88"/>
            </a:solidFill>
            <a:prstDash val="solid"/>
          </a:ln>
        </p:spPr>
      </p:sp>
      <p:pic>
        <p:nvPicPr>
          <p:cNvPr id="17" name="Image 1" descr="preencoded.png">    </p:cNvPr>
          <p:cNvPicPr>
            <a:picLocks noChangeAspect="1"/>
          </p:cNvPicPr>
          <p:nvPr/>
        </p:nvPicPr>
        <p:blipFill>
          <a:blip r:embed="rId2"/>
          <a:stretch>
            <a:fillRect/>
          </a:stretch>
        </p:blipFill>
        <p:spPr>
          <a:xfrm>
            <a:off x="3006090" y="3383280"/>
            <a:ext cx="502920" cy="502920"/>
          </a:xfrm>
          <a:prstGeom prst="rect">
            <a:avLst/>
          </a:prstGeom>
        </p:spPr>
      </p:pic>
      <p:sp>
        <p:nvSpPr>
          <p:cNvPr id="18" name="Text 14"/>
          <p:cNvSpPr/>
          <p:nvPr/>
        </p:nvSpPr>
        <p:spPr>
          <a:xfrm>
            <a:off x="2430780" y="3977640"/>
            <a:ext cx="1653540" cy="411480"/>
          </a:xfrm>
          <a:prstGeom prst="rect">
            <a:avLst/>
          </a:prstGeom>
          <a:noFill/>
          <a:ln/>
        </p:spPr>
        <p:txBody>
          <a:bodyPr wrap="square" lIns="0" tIns="0" rIns="0" bIns="0" rtlCol="0" anchor="ctr"/>
          <a:lstStyle/>
          <a:p>
            <a:pPr algn="ctr" indent="0" marL="0">
              <a:buNone/>
            </a:pPr>
            <a:r>
              <a:rPr lang="en-US" sz="1400" b="1" dirty="0">
                <a:solidFill>
                  <a:srgbClr val="0F172A"/>
                </a:solidFill>
                <a:latin typeface="Cambria" pitchFamily="34" charset="0"/>
                <a:ea typeface="Cambria" pitchFamily="34" charset="-122"/>
                <a:cs typeface="Cambria" pitchFamily="34" charset="-120"/>
              </a:rPr>
              <a:t>Mosquitto</a:t>
            </a:r>
            <a:endParaRPr lang="en-US" sz="1400" dirty="0"/>
          </a:p>
        </p:txBody>
      </p:sp>
      <p:sp>
        <p:nvSpPr>
          <p:cNvPr id="19" name="Text 15"/>
          <p:cNvSpPr/>
          <p:nvPr/>
        </p:nvSpPr>
        <p:spPr>
          <a:xfrm>
            <a:off x="2430780" y="4389120"/>
            <a:ext cx="1653540" cy="22860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MQTT 1883/8883</a:t>
            </a:r>
            <a:endParaRPr lang="en-US" sz="1000" dirty="0"/>
          </a:p>
        </p:txBody>
      </p:sp>
      <p:sp>
        <p:nvSpPr>
          <p:cNvPr id="20" name="Shape 16"/>
          <p:cNvSpPr/>
          <p:nvPr/>
        </p:nvSpPr>
        <p:spPr>
          <a:xfrm>
            <a:off x="4084320" y="3886200"/>
            <a:ext cx="228600" cy="0"/>
          </a:xfrm>
          <a:prstGeom prst="line">
            <a:avLst/>
          </a:prstGeom>
          <a:noFill/>
          <a:ln w="25400">
            <a:solidFill>
              <a:srgbClr val="0E4F88"/>
            </a:solidFill>
            <a:prstDash val="solid"/>
            <a:tailEnd type="triangle"/>
          </a:ln>
        </p:spPr>
      </p:sp>
      <p:sp>
        <p:nvSpPr>
          <p:cNvPr id="21" name="Shape 17"/>
          <p:cNvSpPr/>
          <p:nvPr/>
        </p:nvSpPr>
        <p:spPr>
          <a:xfrm>
            <a:off x="4312920" y="3108960"/>
            <a:ext cx="1653540" cy="1554480"/>
          </a:xfrm>
          <a:prstGeom prst="rect">
            <a:avLst/>
          </a:prstGeom>
          <a:solidFill>
            <a:srgbClr val="FFFFFF"/>
          </a:solidFill>
          <a:ln w="12700">
            <a:solidFill>
              <a:srgbClr val="E2E8F0"/>
            </a:solidFill>
            <a:prstDash val="solid"/>
          </a:ln>
          <a:effectLst>
            <a:outerShdw sx="100000" sy="100000" kx="0" ky="0" algn="bl" rotWithShape="0" blurRad="152400" dist="38100" dir="5400000">
              <a:srgbClr val="0F172A">
                <a:alpha val="10000"/>
              </a:srgbClr>
            </a:outerShdw>
          </a:effectLst>
        </p:spPr>
      </p:sp>
      <p:sp>
        <p:nvSpPr>
          <p:cNvPr id="22" name="Shape 18"/>
          <p:cNvSpPr/>
          <p:nvPr/>
        </p:nvSpPr>
        <p:spPr>
          <a:xfrm>
            <a:off x="4312920" y="3108960"/>
            <a:ext cx="1653540" cy="109728"/>
          </a:xfrm>
          <a:prstGeom prst="rect">
            <a:avLst/>
          </a:prstGeom>
          <a:solidFill>
            <a:srgbClr val="0E4F88"/>
          </a:solidFill>
          <a:ln w="12700">
            <a:solidFill>
              <a:srgbClr val="0E4F88"/>
            </a:solidFill>
            <a:prstDash val="solid"/>
          </a:ln>
        </p:spPr>
      </p:sp>
      <p:pic>
        <p:nvPicPr>
          <p:cNvPr id="23" name="Image 2" descr="preencoded.png">    </p:cNvPr>
          <p:cNvPicPr>
            <a:picLocks noChangeAspect="1"/>
          </p:cNvPicPr>
          <p:nvPr/>
        </p:nvPicPr>
        <p:blipFill>
          <a:blip r:embed="rId3"/>
          <a:stretch>
            <a:fillRect/>
          </a:stretch>
        </p:blipFill>
        <p:spPr>
          <a:xfrm>
            <a:off x="4888230" y="3383280"/>
            <a:ext cx="502920" cy="502920"/>
          </a:xfrm>
          <a:prstGeom prst="rect">
            <a:avLst/>
          </a:prstGeom>
        </p:spPr>
      </p:pic>
      <p:sp>
        <p:nvSpPr>
          <p:cNvPr id="24" name="Text 19"/>
          <p:cNvSpPr/>
          <p:nvPr/>
        </p:nvSpPr>
        <p:spPr>
          <a:xfrm>
            <a:off x="4312920" y="3977640"/>
            <a:ext cx="1653540" cy="411480"/>
          </a:xfrm>
          <a:prstGeom prst="rect">
            <a:avLst/>
          </a:prstGeom>
          <a:noFill/>
          <a:ln/>
        </p:spPr>
        <p:txBody>
          <a:bodyPr wrap="square" lIns="0" tIns="0" rIns="0" bIns="0" rtlCol="0" anchor="ctr"/>
          <a:lstStyle/>
          <a:p>
            <a:pPr algn="ctr" indent="0" marL="0">
              <a:buNone/>
            </a:pPr>
            <a:r>
              <a:rPr lang="en-US" sz="1400" b="1" dirty="0">
                <a:solidFill>
                  <a:srgbClr val="0F172A"/>
                </a:solidFill>
                <a:latin typeface="Cambria" pitchFamily="34" charset="0"/>
                <a:ea typeface="Cambria" pitchFamily="34" charset="-122"/>
                <a:cs typeface="Cambria" pitchFamily="34" charset="-120"/>
              </a:rPr>
              <a:t>Normalizer</a:t>
            </a:r>
            <a:endParaRPr lang="en-US" sz="1400" dirty="0"/>
          </a:p>
          <a:p>
            <a:pPr algn="ctr" indent="0" marL="0">
              <a:buNone/>
            </a:pPr>
            <a:r>
              <a:rPr lang="en-US" sz="1400" b="1" dirty="0">
                <a:solidFill>
                  <a:srgbClr val="0F172A"/>
                </a:solidFill>
                <a:latin typeface="Cambria" pitchFamily="34" charset="0"/>
                <a:ea typeface="Cambria" pitchFamily="34" charset="-122"/>
                <a:cs typeface="Cambria" pitchFamily="34" charset="-120"/>
              </a:rPr>
              <a:t>+ Telegraf</a:t>
            </a:r>
            <a:endParaRPr lang="en-US" sz="1400" dirty="0"/>
          </a:p>
        </p:txBody>
      </p:sp>
      <p:sp>
        <p:nvSpPr>
          <p:cNvPr id="25" name="Text 20"/>
          <p:cNvSpPr/>
          <p:nvPr/>
        </p:nvSpPr>
        <p:spPr>
          <a:xfrm>
            <a:off x="4312920" y="4389120"/>
            <a:ext cx="1653540" cy="22860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Tag extraction · dedup</a:t>
            </a:r>
            <a:endParaRPr lang="en-US" sz="1000" dirty="0"/>
          </a:p>
        </p:txBody>
      </p:sp>
      <p:sp>
        <p:nvSpPr>
          <p:cNvPr id="26" name="Shape 21"/>
          <p:cNvSpPr/>
          <p:nvPr/>
        </p:nvSpPr>
        <p:spPr>
          <a:xfrm>
            <a:off x="5966460" y="3886200"/>
            <a:ext cx="228600" cy="0"/>
          </a:xfrm>
          <a:prstGeom prst="line">
            <a:avLst/>
          </a:prstGeom>
          <a:noFill/>
          <a:ln w="25400">
            <a:solidFill>
              <a:srgbClr val="0E4F88"/>
            </a:solidFill>
            <a:prstDash val="solid"/>
            <a:tailEnd type="triangle"/>
          </a:ln>
        </p:spPr>
      </p:sp>
      <p:sp>
        <p:nvSpPr>
          <p:cNvPr id="27" name="Shape 22"/>
          <p:cNvSpPr/>
          <p:nvPr/>
        </p:nvSpPr>
        <p:spPr>
          <a:xfrm>
            <a:off x="6195060" y="3108960"/>
            <a:ext cx="1653540" cy="1554480"/>
          </a:xfrm>
          <a:prstGeom prst="rect">
            <a:avLst/>
          </a:prstGeom>
          <a:solidFill>
            <a:srgbClr val="FFFFFF"/>
          </a:solidFill>
          <a:ln w="12700">
            <a:solidFill>
              <a:srgbClr val="E2E8F0"/>
            </a:solidFill>
            <a:prstDash val="solid"/>
          </a:ln>
          <a:effectLst>
            <a:outerShdw sx="100000" sy="100000" kx="0" ky="0" algn="bl" rotWithShape="0" blurRad="152400" dist="38100" dir="5400000">
              <a:srgbClr val="0F172A">
                <a:alpha val="10000"/>
              </a:srgbClr>
            </a:outerShdw>
          </a:effectLst>
        </p:spPr>
      </p:sp>
      <p:sp>
        <p:nvSpPr>
          <p:cNvPr id="28" name="Shape 23"/>
          <p:cNvSpPr/>
          <p:nvPr/>
        </p:nvSpPr>
        <p:spPr>
          <a:xfrm>
            <a:off x="6195060" y="3108960"/>
            <a:ext cx="1653540" cy="109728"/>
          </a:xfrm>
          <a:prstGeom prst="rect">
            <a:avLst/>
          </a:prstGeom>
          <a:solidFill>
            <a:srgbClr val="0D9488"/>
          </a:solidFill>
          <a:ln w="12700">
            <a:solidFill>
              <a:srgbClr val="0D9488"/>
            </a:solidFill>
            <a:prstDash val="solid"/>
          </a:ln>
        </p:spPr>
      </p:sp>
      <p:pic>
        <p:nvPicPr>
          <p:cNvPr id="29" name="Image 3" descr="preencoded.png">    </p:cNvPr>
          <p:cNvPicPr>
            <a:picLocks noChangeAspect="1"/>
          </p:cNvPicPr>
          <p:nvPr/>
        </p:nvPicPr>
        <p:blipFill>
          <a:blip r:embed="rId4"/>
          <a:stretch>
            <a:fillRect/>
          </a:stretch>
        </p:blipFill>
        <p:spPr>
          <a:xfrm>
            <a:off x="6770370" y="3383280"/>
            <a:ext cx="502920" cy="502920"/>
          </a:xfrm>
          <a:prstGeom prst="rect">
            <a:avLst/>
          </a:prstGeom>
        </p:spPr>
      </p:pic>
      <p:sp>
        <p:nvSpPr>
          <p:cNvPr id="30" name="Text 24"/>
          <p:cNvSpPr/>
          <p:nvPr/>
        </p:nvSpPr>
        <p:spPr>
          <a:xfrm>
            <a:off x="6195060" y="3977640"/>
            <a:ext cx="1653540" cy="411480"/>
          </a:xfrm>
          <a:prstGeom prst="rect">
            <a:avLst/>
          </a:prstGeom>
          <a:noFill/>
          <a:ln/>
        </p:spPr>
        <p:txBody>
          <a:bodyPr wrap="square" lIns="0" tIns="0" rIns="0" bIns="0" rtlCol="0" anchor="ctr"/>
          <a:lstStyle/>
          <a:p>
            <a:pPr algn="ctr" indent="0" marL="0">
              <a:buNone/>
            </a:pPr>
            <a:r>
              <a:rPr lang="en-US" sz="1400" b="1" dirty="0">
                <a:solidFill>
                  <a:srgbClr val="0F172A"/>
                </a:solidFill>
                <a:latin typeface="Cambria" pitchFamily="34" charset="0"/>
                <a:ea typeface="Cambria" pitchFamily="34" charset="-122"/>
                <a:cs typeface="Cambria" pitchFamily="34" charset="-120"/>
              </a:rPr>
              <a:t>InfluxDB</a:t>
            </a:r>
            <a:endParaRPr lang="en-US" sz="1400" dirty="0"/>
          </a:p>
        </p:txBody>
      </p:sp>
      <p:sp>
        <p:nvSpPr>
          <p:cNvPr id="31" name="Text 25"/>
          <p:cNvSpPr/>
          <p:nvPr/>
        </p:nvSpPr>
        <p:spPr>
          <a:xfrm>
            <a:off x="6195060" y="4389120"/>
            <a:ext cx="1653540" cy="22860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telemetry · rollups</a:t>
            </a:r>
            <a:endParaRPr lang="en-US" sz="1000" dirty="0"/>
          </a:p>
        </p:txBody>
      </p:sp>
      <p:sp>
        <p:nvSpPr>
          <p:cNvPr id="32" name="Shape 26"/>
          <p:cNvSpPr/>
          <p:nvPr/>
        </p:nvSpPr>
        <p:spPr>
          <a:xfrm>
            <a:off x="7848600" y="3886200"/>
            <a:ext cx="228600" cy="0"/>
          </a:xfrm>
          <a:prstGeom prst="line">
            <a:avLst/>
          </a:prstGeom>
          <a:noFill/>
          <a:ln w="25400">
            <a:solidFill>
              <a:srgbClr val="0E4F88"/>
            </a:solidFill>
            <a:prstDash val="solid"/>
            <a:tailEnd type="triangle"/>
          </a:ln>
        </p:spPr>
      </p:sp>
      <p:sp>
        <p:nvSpPr>
          <p:cNvPr id="33" name="Shape 27"/>
          <p:cNvSpPr/>
          <p:nvPr/>
        </p:nvSpPr>
        <p:spPr>
          <a:xfrm>
            <a:off x="8077200" y="3108960"/>
            <a:ext cx="1653540" cy="1554480"/>
          </a:xfrm>
          <a:prstGeom prst="rect">
            <a:avLst/>
          </a:prstGeom>
          <a:solidFill>
            <a:srgbClr val="FFFFFF"/>
          </a:solidFill>
          <a:ln w="12700">
            <a:solidFill>
              <a:srgbClr val="E2E8F0"/>
            </a:solidFill>
            <a:prstDash val="solid"/>
          </a:ln>
          <a:effectLst>
            <a:outerShdw sx="100000" sy="100000" kx="0" ky="0" algn="bl" rotWithShape="0" blurRad="152400" dist="38100" dir="5400000">
              <a:srgbClr val="0F172A">
                <a:alpha val="10000"/>
              </a:srgbClr>
            </a:outerShdw>
          </a:effectLst>
        </p:spPr>
      </p:sp>
      <p:sp>
        <p:nvSpPr>
          <p:cNvPr id="34" name="Shape 28"/>
          <p:cNvSpPr/>
          <p:nvPr/>
        </p:nvSpPr>
        <p:spPr>
          <a:xfrm>
            <a:off x="8077200" y="3108960"/>
            <a:ext cx="1653540" cy="109728"/>
          </a:xfrm>
          <a:prstGeom prst="rect">
            <a:avLst/>
          </a:prstGeom>
          <a:solidFill>
            <a:srgbClr val="0E4F88"/>
          </a:solidFill>
          <a:ln w="12700">
            <a:solidFill>
              <a:srgbClr val="0E4F88"/>
            </a:solidFill>
            <a:prstDash val="solid"/>
          </a:ln>
        </p:spPr>
      </p:sp>
      <p:pic>
        <p:nvPicPr>
          <p:cNvPr id="35" name="Image 4" descr="preencoded.png">    </p:cNvPr>
          <p:cNvPicPr>
            <a:picLocks noChangeAspect="1"/>
          </p:cNvPicPr>
          <p:nvPr/>
        </p:nvPicPr>
        <p:blipFill>
          <a:blip r:embed="rId5"/>
          <a:stretch>
            <a:fillRect/>
          </a:stretch>
        </p:blipFill>
        <p:spPr>
          <a:xfrm>
            <a:off x="8652510" y="3383280"/>
            <a:ext cx="502920" cy="502920"/>
          </a:xfrm>
          <a:prstGeom prst="rect">
            <a:avLst/>
          </a:prstGeom>
        </p:spPr>
      </p:pic>
      <p:sp>
        <p:nvSpPr>
          <p:cNvPr id="36" name="Text 29"/>
          <p:cNvSpPr/>
          <p:nvPr/>
        </p:nvSpPr>
        <p:spPr>
          <a:xfrm>
            <a:off x="8077200" y="3977640"/>
            <a:ext cx="1653540" cy="411480"/>
          </a:xfrm>
          <a:prstGeom prst="rect">
            <a:avLst/>
          </a:prstGeom>
          <a:noFill/>
          <a:ln/>
        </p:spPr>
        <p:txBody>
          <a:bodyPr wrap="square" lIns="0" tIns="0" rIns="0" bIns="0" rtlCol="0" anchor="ctr"/>
          <a:lstStyle/>
          <a:p>
            <a:pPr algn="ctr" indent="0" marL="0">
              <a:buNone/>
            </a:pPr>
            <a:r>
              <a:rPr lang="en-US" sz="1400" b="1" dirty="0">
                <a:solidFill>
                  <a:srgbClr val="0F172A"/>
                </a:solidFill>
                <a:latin typeface="Cambria" pitchFamily="34" charset="0"/>
                <a:ea typeface="Cambria" pitchFamily="34" charset="-122"/>
                <a:cs typeface="Cambria" pitchFamily="34" charset="-120"/>
              </a:rPr>
              <a:t>Adapter</a:t>
            </a:r>
            <a:endParaRPr lang="en-US" sz="1400" dirty="0"/>
          </a:p>
          <a:p>
            <a:pPr algn="ctr" indent="0" marL="0">
              <a:buNone/>
            </a:pPr>
            <a:r>
              <a:rPr lang="en-US" sz="1400" b="1" dirty="0">
                <a:solidFill>
                  <a:srgbClr val="0F172A"/>
                </a:solidFill>
                <a:latin typeface="Cambria" pitchFamily="34" charset="0"/>
                <a:ea typeface="Cambria" pitchFamily="34" charset="-122"/>
                <a:cs typeface="Cambria" pitchFamily="34" charset="-120"/>
              </a:rPr>
              <a:t>+ Events</a:t>
            </a:r>
            <a:endParaRPr lang="en-US" sz="1400" dirty="0"/>
          </a:p>
        </p:txBody>
      </p:sp>
      <p:sp>
        <p:nvSpPr>
          <p:cNvPr id="37" name="Text 30"/>
          <p:cNvSpPr/>
          <p:nvPr/>
        </p:nvSpPr>
        <p:spPr>
          <a:xfrm>
            <a:off x="8077200" y="4389120"/>
            <a:ext cx="1653540" cy="22860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API · SSE · rules</a:t>
            </a:r>
            <a:endParaRPr lang="en-US" sz="1000" dirty="0"/>
          </a:p>
        </p:txBody>
      </p:sp>
      <p:sp>
        <p:nvSpPr>
          <p:cNvPr id="38" name="Shape 31"/>
          <p:cNvSpPr/>
          <p:nvPr/>
        </p:nvSpPr>
        <p:spPr>
          <a:xfrm>
            <a:off x="9730740" y="3886200"/>
            <a:ext cx="228600" cy="0"/>
          </a:xfrm>
          <a:prstGeom prst="line">
            <a:avLst/>
          </a:prstGeom>
          <a:noFill/>
          <a:ln w="25400">
            <a:solidFill>
              <a:srgbClr val="0E4F88"/>
            </a:solidFill>
            <a:prstDash val="solid"/>
            <a:tailEnd type="triangle"/>
          </a:ln>
        </p:spPr>
      </p:sp>
      <p:sp>
        <p:nvSpPr>
          <p:cNvPr id="39" name="Shape 32"/>
          <p:cNvSpPr/>
          <p:nvPr/>
        </p:nvSpPr>
        <p:spPr>
          <a:xfrm>
            <a:off x="9959340" y="3108960"/>
            <a:ext cx="1653540" cy="1554480"/>
          </a:xfrm>
          <a:prstGeom prst="rect">
            <a:avLst/>
          </a:prstGeom>
          <a:solidFill>
            <a:srgbClr val="FFFFFF"/>
          </a:solidFill>
          <a:ln w="12700">
            <a:solidFill>
              <a:srgbClr val="E2E8F0"/>
            </a:solidFill>
            <a:prstDash val="solid"/>
          </a:ln>
          <a:effectLst>
            <a:outerShdw sx="100000" sy="100000" kx="0" ky="0" algn="bl" rotWithShape="0" blurRad="152400" dist="38100" dir="5400000">
              <a:srgbClr val="0F172A">
                <a:alpha val="10000"/>
              </a:srgbClr>
            </a:outerShdw>
          </a:effectLst>
        </p:spPr>
      </p:sp>
      <p:sp>
        <p:nvSpPr>
          <p:cNvPr id="40" name="Shape 33"/>
          <p:cNvSpPr/>
          <p:nvPr/>
        </p:nvSpPr>
        <p:spPr>
          <a:xfrm>
            <a:off x="9959340" y="3108960"/>
            <a:ext cx="1653540" cy="109728"/>
          </a:xfrm>
          <a:prstGeom prst="rect">
            <a:avLst/>
          </a:prstGeom>
          <a:solidFill>
            <a:srgbClr val="D97706"/>
          </a:solidFill>
          <a:ln w="12700">
            <a:solidFill>
              <a:srgbClr val="D97706"/>
            </a:solidFill>
            <a:prstDash val="solid"/>
          </a:ln>
        </p:spPr>
      </p:sp>
      <p:pic>
        <p:nvPicPr>
          <p:cNvPr id="41" name="Image 5" descr="preencoded.png">    </p:cNvPr>
          <p:cNvPicPr>
            <a:picLocks noChangeAspect="1"/>
          </p:cNvPicPr>
          <p:nvPr/>
        </p:nvPicPr>
        <p:blipFill>
          <a:blip r:embed="rId6"/>
          <a:stretch>
            <a:fillRect/>
          </a:stretch>
        </p:blipFill>
        <p:spPr>
          <a:xfrm>
            <a:off x="10534650" y="3383280"/>
            <a:ext cx="502920" cy="502920"/>
          </a:xfrm>
          <a:prstGeom prst="rect">
            <a:avLst/>
          </a:prstGeom>
        </p:spPr>
      </p:pic>
      <p:sp>
        <p:nvSpPr>
          <p:cNvPr id="42" name="Text 34"/>
          <p:cNvSpPr/>
          <p:nvPr/>
        </p:nvSpPr>
        <p:spPr>
          <a:xfrm>
            <a:off x="9959340" y="3977640"/>
            <a:ext cx="1653540" cy="411480"/>
          </a:xfrm>
          <a:prstGeom prst="rect">
            <a:avLst/>
          </a:prstGeom>
          <a:noFill/>
          <a:ln/>
        </p:spPr>
        <p:txBody>
          <a:bodyPr wrap="square" lIns="0" tIns="0" rIns="0" bIns="0" rtlCol="0" anchor="ctr"/>
          <a:lstStyle/>
          <a:p>
            <a:pPr algn="ctr" indent="0" marL="0">
              <a:buNone/>
            </a:pPr>
            <a:r>
              <a:rPr lang="en-US" sz="1400" b="1" dirty="0">
                <a:solidFill>
                  <a:srgbClr val="0F172A"/>
                </a:solidFill>
                <a:latin typeface="Cambria" pitchFamily="34" charset="0"/>
                <a:ea typeface="Cambria" pitchFamily="34" charset="-122"/>
                <a:cs typeface="Cambria" pitchFamily="34" charset="-120"/>
              </a:rPr>
              <a:t>Dashboards</a:t>
            </a:r>
            <a:endParaRPr lang="en-US" sz="1400" dirty="0"/>
          </a:p>
          <a:p>
            <a:pPr algn="ctr" indent="0" marL="0">
              <a:buNone/>
            </a:pPr>
            <a:r>
              <a:rPr lang="en-US" sz="1400" b="1" dirty="0">
                <a:solidFill>
                  <a:srgbClr val="0F172A"/>
                </a:solidFill>
                <a:latin typeface="Cambria" pitchFamily="34" charset="0"/>
                <a:ea typeface="Cambria" pitchFamily="34" charset="-122"/>
                <a:cs typeface="Cambria" pitchFamily="34" charset="-120"/>
              </a:rPr>
              <a:t>+ SaaS</a:t>
            </a:r>
            <a:endParaRPr lang="en-US" sz="1400" dirty="0"/>
          </a:p>
        </p:txBody>
      </p:sp>
      <p:sp>
        <p:nvSpPr>
          <p:cNvPr id="43" name="Text 35"/>
          <p:cNvSpPr/>
          <p:nvPr/>
        </p:nvSpPr>
        <p:spPr>
          <a:xfrm>
            <a:off x="9959340" y="4389120"/>
            <a:ext cx="1653540" cy="22860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Grafana · React · BFF</a:t>
            </a:r>
            <a:endParaRPr lang="en-US" sz="1000" dirty="0"/>
          </a:p>
        </p:txBody>
      </p:sp>
      <p:sp>
        <p:nvSpPr>
          <p:cNvPr id="44" name="Shape 36"/>
          <p:cNvSpPr/>
          <p:nvPr/>
        </p:nvSpPr>
        <p:spPr>
          <a:xfrm>
            <a:off x="548640" y="5120640"/>
            <a:ext cx="3611880" cy="1188720"/>
          </a:xfrm>
          <a:prstGeom prst="rect">
            <a:avLst/>
          </a:prstGeom>
          <a:solidFill>
            <a:srgbClr val="ECFEFF"/>
          </a:solidFill>
          <a:ln w="12700">
            <a:solidFill>
              <a:srgbClr val="0E7490"/>
            </a:solidFill>
            <a:prstDash val="solid"/>
          </a:ln>
        </p:spPr>
      </p:sp>
      <p:sp>
        <p:nvSpPr>
          <p:cNvPr id="45" name="Shape 37"/>
          <p:cNvSpPr/>
          <p:nvPr/>
        </p:nvSpPr>
        <p:spPr>
          <a:xfrm>
            <a:off x="548640" y="5120640"/>
            <a:ext cx="73152" cy="1188720"/>
          </a:xfrm>
          <a:prstGeom prst="rect">
            <a:avLst/>
          </a:prstGeom>
          <a:solidFill>
            <a:srgbClr val="0E7490"/>
          </a:solidFill>
          <a:ln w="12700">
            <a:solidFill>
              <a:srgbClr val="0E7490"/>
            </a:solidFill>
            <a:prstDash val="solid"/>
          </a:ln>
        </p:spPr>
      </p:sp>
      <p:sp>
        <p:nvSpPr>
          <p:cNvPr id="46" name="Text 38"/>
          <p:cNvSpPr/>
          <p:nvPr/>
        </p:nvSpPr>
        <p:spPr>
          <a:xfrm>
            <a:off x="777240" y="5230368"/>
            <a:ext cx="3383280" cy="274320"/>
          </a:xfrm>
          <a:prstGeom prst="rect">
            <a:avLst/>
          </a:prstGeom>
          <a:noFill/>
          <a:ln/>
        </p:spPr>
        <p:txBody>
          <a:bodyPr wrap="square" lIns="0" tIns="0" rIns="0" bIns="0" rtlCol="0" anchor="ctr"/>
          <a:lstStyle/>
          <a:p>
            <a:pPr indent="0" marL="0">
              <a:buNone/>
            </a:pPr>
            <a:r>
              <a:rPr lang="en-US" sz="1000" b="1" spc="300" kern="0" dirty="0">
                <a:solidFill>
                  <a:srgbClr val="0E7490"/>
                </a:solidFill>
                <a:latin typeface="Calibri" pitchFamily="34" charset="0"/>
                <a:ea typeface="Calibri" pitchFamily="34" charset="-122"/>
                <a:cs typeface="Calibri" pitchFamily="34" charset="-120"/>
              </a:rPr>
              <a:t>WHERE PARTNERS PLUG IN</a:t>
            </a:r>
            <a:endParaRPr lang="en-US" sz="1000" dirty="0"/>
          </a:p>
        </p:txBody>
      </p:sp>
      <p:sp>
        <p:nvSpPr>
          <p:cNvPr id="47" name="Text 39"/>
          <p:cNvSpPr/>
          <p:nvPr/>
        </p:nvSpPr>
        <p:spPr>
          <a:xfrm>
            <a:off x="777240" y="5532120"/>
            <a:ext cx="3383280" cy="77724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Stages 1–2: you publish to MQTT. Stages 3–6 are managed by CAPTIA — no work on your side.</a:t>
            </a:r>
            <a:endParaRPr lang="en-US" sz="1150" dirty="0"/>
          </a:p>
        </p:txBody>
      </p:sp>
      <p:sp>
        <p:nvSpPr>
          <p:cNvPr id="48" name="Shape 40"/>
          <p:cNvSpPr/>
          <p:nvPr/>
        </p:nvSpPr>
        <p:spPr>
          <a:xfrm>
            <a:off x="4325112" y="5120640"/>
            <a:ext cx="3611880" cy="1188720"/>
          </a:xfrm>
          <a:prstGeom prst="rect">
            <a:avLst/>
          </a:prstGeom>
          <a:solidFill>
            <a:srgbClr val="ECFEFF"/>
          </a:solidFill>
          <a:ln w="12700">
            <a:solidFill>
              <a:srgbClr val="0E7490"/>
            </a:solidFill>
            <a:prstDash val="solid"/>
          </a:ln>
        </p:spPr>
      </p:sp>
      <p:sp>
        <p:nvSpPr>
          <p:cNvPr id="49" name="Shape 41"/>
          <p:cNvSpPr/>
          <p:nvPr/>
        </p:nvSpPr>
        <p:spPr>
          <a:xfrm>
            <a:off x="4325112" y="5120640"/>
            <a:ext cx="73152" cy="1188720"/>
          </a:xfrm>
          <a:prstGeom prst="rect">
            <a:avLst/>
          </a:prstGeom>
          <a:solidFill>
            <a:srgbClr val="0E7490"/>
          </a:solidFill>
          <a:ln w="12700">
            <a:solidFill>
              <a:srgbClr val="0E7490"/>
            </a:solidFill>
            <a:prstDash val="solid"/>
          </a:ln>
        </p:spPr>
      </p:sp>
      <p:sp>
        <p:nvSpPr>
          <p:cNvPr id="50" name="Text 42"/>
          <p:cNvSpPr/>
          <p:nvPr/>
        </p:nvSpPr>
        <p:spPr>
          <a:xfrm>
            <a:off x="4553712" y="5230368"/>
            <a:ext cx="3383280" cy="274320"/>
          </a:xfrm>
          <a:prstGeom prst="rect">
            <a:avLst/>
          </a:prstGeom>
          <a:noFill/>
          <a:ln/>
        </p:spPr>
        <p:txBody>
          <a:bodyPr wrap="square" lIns="0" tIns="0" rIns="0" bIns="0" rtlCol="0" anchor="ctr"/>
          <a:lstStyle/>
          <a:p>
            <a:pPr indent="0" marL="0">
              <a:buNone/>
            </a:pPr>
            <a:r>
              <a:rPr lang="en-US" sz="1000" b="1" spc="300" kern="0" dirty="0">
                <a:solidFill>
                  <a:srgbClr val="0E7490"/>
                </a:solidFill>
                <a:latin typeface="Calibri" pitchFamily="34" charset="0"/>
                <a:ea typeface="Calibri" pitchFamily="34" charset="-122"/>
                <a:cs typeface="Calibri" pitchFamily="34" charset="-120"/>
              </a:rPr>
              <a:t>WHAT CROSSES THE WIRE</a:t>
            </a:r>
            <a:endParaRPr lang="en-US" sz="1000" dirty="0"/>
          </a:p>
        </p:txBody>
      </p:sp>
      <p:sp>
        <p:nvSpPr>
          <p:cNvPr id="51" name="Text 43"/>
          <p:cNvSpPr/>
          <p:nvPr/>
        </p:nvSpPr>
        <p:spPr>
          <a:xfrm>
            <a:off x="4553712" y="5532120"/>
            <a:ext cx="3383280" cy="77724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Only JSON over MQTT. No vendor SDKs to embed, no firewall changes beyond a single broker port.</a:t>
            </a:r>
            <a:endParaRPr lang="en-US" sz="1150" dirty="0"/>
          </a:p>
        </p:txBody>
      </p:sp>
      <p:sp>
        <p:nvSpPr>
          <p:cNvPr id="52" name="Shape 44"/>
          <p:cNvSpPr/>
          <p:nvPr/>
        </p:nvSpPr>
        <p:spPr>
          <a:xfrm>
            <a:off x="8101584" y="5120640"/>
            <a:ext cx="3611880" cy="1188720"/>
          </a:xfrm>
          <a:prstGeom prst="rect">
            <a:avLst/>
          </a:prstGeom>
          <a:solidFill>
            <a:srgbClr val="ECFEFF"/>
          </a:solidFill>
          <a:ln w="12700">
            <a:solidFill>
              <a:srgbClr val="0E7490"/>
            </a:solidFill>
            <a:prstDash val="solid"/>
          </a:ln>
        </p:spPr>
      </p:sp>
      <p:sp>
        <p:nvSpPr>
          <p:cNvPr id="53" name="Shape 45"/>
          <p:cNvSpPr/>
          <p:nvPr/>
        </p:nvSpPr>
        <p:spPr>
          <a:xfrm>
            <a:off x="8101584" y="5120640"/>
            <a:ext cx="73152" cy="1188720"/>
          </a:xfrm>
          <a:prstGeom prst="rect">
            <a:avLst/>
          </a:prstGeom>
          <a:solidFill>
            <a:srgbClr val="0E7490"/>
          </a:solidFill>
          <a:ln w="12700">
            <a:solidFill>
              <a:srgbClr val="0E7490"/>
            </a:solidFill>
            <a:prstDash val="solid"/>
          </a:ln>
        </p:spPr>
      </p:sp>
      <p:sp>
        <p:nvSpPr>
          <p:cNvPr id="54" name="Text 46"/>
          <p:cNvSpPr/>
          <p:nvPr/>
        </p:nvSpPr>
        <p:spPr>
          <a:xfrm>
            <a:off x="8330184" y="5230368"/>
            <a:ext cx="3383280" cy="274320"/>
          </a:xfrm>
          <a:prstGeom prst="rect">
            <a:avLst/>
          </a:prstGeom>
          <a:noFill/>
          <a:ln/>
        </p:spPr>
        <p:txBody>
          <a:bodyPr wrap="square" lIns="0" tIns="0" rIns="0" bIns="0" rtlCol="0" anchor="ctr"/>
          <a:lstStyle/>
          <a:p>
            <a:pPr indent="0" marL="0">
              <a:buNone/>
            </a:pPr>
            <a:r>
              <a:rPr lang="en-US" sz="1000" b="1" spc="300" kern="0" dirty="0">
                <a:solidFill>
                  <a:srgbClr val="0E7490"/>
                </a:solidFill>
                <a:latin typeface="Calibri" pitchFamily="34" charset="0"/>
                <a:ea typeface="Calibri" pitchFamily="34" charset="-122"/>
                <a:cs typeface="Calibri" pitchFamily="34" charset="-120"/>
              </a:rPr>
              <a:t>OBSERVABILITY</a:t>
            </a:r>
            <a:endParaRPr lang="en-US" sz="1000" dirty="0"/>
          </a:p>
        </p:txBody>
      </p:sp>
      <p:sp>
        <p:nvSpPr>
          <p:cNvPr id="55" name="Text 47"/>
          <p:cNvSpPr/>
          <p:nvPr/>
        </p:nvSpPr>
        <p:spPr>
          <a:xfrm>
            <a:off x="8330184" y="5532120"/>
            <a:ext cx="3383280" cy="77724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Every hop is instrumented (Prometheus, Loki, OpenTelemetry). We trace your samples end-to-end during onboarding.</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lIns="0" tIns="0" rIns="0" bIns="0" rtlCol="0" anchor="ctr"/>
          <a:lstStyle/>
          <a:p>
            <a:pPr indent="0" marL="0">
              <a:buNone/>
            </a:pPr>
            <a:r>
              <a:rPr lang="en-US" sz="1100" b="1" spc="400" kern="0" dirty="0">
                <a:solidFill>
                  <a:srgbClr val="22D3EE"/>
                </a:solidFill>
                <a:latin typeface="Calibri" pitchFamily="34" charset="0"/>
                <a:ea typeface="Calibri" pitchFamily="34" charset="-122"/>
                <a:cs typeface="Calibri" pitchFamily="34" charset="-120"/>
              </a:rPr>
              <a:t>03 · CHOOSE YOUR PATH</a:t>
            </a:r>
            <a:endParaRPr lang="en-US" sz="1100" dirty="0"/>
          </a:p>
        </p:txBody>
      </p:sp>
      <p:sp>
        <p:nvSpPr>
          <p:cNvPr id="3" name="Text 1"/>
          <p:cNvSpPr/>
          <p:nvPr/>
        </p:nvSpPr>
        <p:spPr>
          <a:xfrm>
            <a:off x="548640" y="548640"/>
            <a:ext cx="10058400" cy="640080"/>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Two ways to integrate</a:t>
            </a:r>
            <a:endParaRPr lang="en-US" sz="3000" dirty="0"/>
          </a:p>
        </p:txBody>
      </p:sp>
      <p:sp>
        <p:nvSpPr>
          <p:cNvPr id="4" name="Text 2"/>
          <p:cNvSpPr/>
          <p:nvPr/>
        </p:nvSpPr>
        <p:spPr>
          <a:xfrm>
            <a:off x="11094415"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 / 14</a:t>
            </a:r>
            <a:endParaRPr lang="en-US" sz="900" dirty="0"/>
          </a:p>
        </p:txBody>
      </p:sp>
      <p:sp>
        <p:nvSpPr>
          <p:cNvPr id="5" name="Text 3"/>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CAPTIA Technology · Partner Integration Guide</a:t>
            </a:r>
            <a:endParaRPr lang="en-US" sz="900" dirty="0"/>
          </a:p>
        </p:txBody>
      </p:sp>
      <p:sp>
        <p:nvSpPr>
          <p:cNvPr id="6" name="Shape 4"/>
          <p:cNvSpPr/>
          <p:nvPr/>
        </p:nvSpPr>
        <p:spPr>
          <a:xfrm>
            <a:off x="11688775" y="320040"/>
            <a:ext cx="164592" cy="164592"/>
          </a:xfrm>
          <a:prstGeom prst="rect">
            <a:avLst/>
          </a:prstGeom>
          <a:solidFill>
            <a:srgbClr val="22D3EE"/>
          </a:solidFill>
          <a:ln w="12700">
            <a:solidFill>
              <a:srgbClr val="22D3EE"/>
            </a:solidFill>
            <a:prstDash val="solid"/>
          </a:ln>
        </p:spPr>
      </p:sp>
      <p:sp>
        <p:nvSpPr>
          <p:cNvPr id="7" name="Shape 5"/>
          <p:cNvSpPr/>
          <p:nvPr/>
        </p:nvSpPr>
        <p:spPr>
          <a:xfrm>
            <a:off x="11917375" y="320040"/>
            <a:ext cx="164592" cy="164592"/>
          </a:xfrm>
          <a:prstGeom prst="rect">
            <a:avLst/>
          </a:prstGeom>
          <a:solidFill>
            <a:srgbClr val="D97706"/>
          </a:solidFill>
          <a:ln w="12700">
            <a:solidFill>
              <a:srgbClr val="D97706"/>
            </a:solidFill>
            <a:prstDash val="solid"/>
          </a:ln>
        </p:spPr>
      </p:sp>
      <p:sp>
        <p:nvSpPr>
          <p:cNvPr id="8" name="Text 6"/>
          <p:cNvSpPr/>
          <p:nvPr/>
        </p:nvSpPr>
        <p:spPr>
          <a:xfrm>
            <a:off x="548640" y="1417320"/>
            <a:ext cx="10972800" cy="640080"/>
          </a:xfrm>
          <a:prstGeom prst="rect">
            <a:avLst/>
          </a:prstGeom>
          <a:noFill/>
          <a:ln/>
        </p:spPr>
        <p:txBody>
          <a:bodyPr wrap="square" lIns="0" tIns="0" rIns="0" bIns="0" rtlCol="0" anchor="ctr"/>
          <a:lstStyle/>
          <a:p>
            <a:pPr indent="0" marL="0">
              <a:buNone/>
            </a:pPr>
            <a:r>
              <a:rPr lang="en-US" sz="1300" i="1" dirty="0">
                <a:solidFill>
                  <a:srgbClr val="0F172A"/>
                </a:solidFill>
                <a:latin typeface="Calibri" pitchFamily="34" charset="0"/>
                <a:ea typeface="Calibri" pitchFamily="34" charset="-122"/>
                <a:cs typeface="Calibri" pitchFamily="34" charset="-120"/>
              </a:rPr>
              <a:t>Pick the path that matches your firmware. Path A is the fastest if you can shape the payload. Path B keeps your firmware unchanged and pushes the work into CAPTIA.</a:t>
            </a:r>
            <a:endParaRPr lang="en-US" sz="1300" dirty="0"/>
          </a:p>
        </p:txBody>
      </p:sp>
      <p:sp>
        <p:nvSpPr>
          <p:cNvPr id="9" name="Shape 7"/>
          <p:cNvSpPr/>
          <p:nvPr/>
        </p:nvSpPr>
        <p:spPr>
          <a:xfrm>
            <a:off x="548640" y="2286000"/>
            <a:ext cx="5532120" cy="4023360"/>
          </a:xfrm>
          <a:prstGeom prst="rect">
            <a:avLst/>
          </a:prstGeom>
          <a:solidFill>
            <a:srgbClr val="FFFFFF"/>
          </a:solidFill>
          <a:ln w="12700">
            <a:solidFill>
              <a:srgbClr val="E2E8F0"/>
            </a:solidFill>
            <a:prstDash val="solid"/>
          </a:ln>
          <a:effectLst>
            <a:outerShdw sx="100000" sy="100000" kx="0" ky="0" algn="bl" rotWithShape="0" blurRad="152400" dist="38100" dir="5400000">
              <a:srgbClr val="0F172A">
                <a:alpha val="10000"/>
              </a:srgbClr>
            </a:outerShdw>
          </a:effectLst>
        </p:spPr>
      </p:sp>
      <p:sp>
        <p:nvSpPr>
          <p:cNvPr id="10" name="Shape 8"/>
          <p:cNvSpPr/>
          <p:nvPr/>
        </p:nvSpPr>
        <p:spPr>
          <a:xfrm>
            <a:off x="548640" y="2286000"/>
            <a:ext cx="137160" cy="4023360"/>
          </a:xfrm>
          <a:prstGeom prst="rect">
            <a:avLst/>
          </a:prstGeom>
          <a:solidFill>
            <a:srgbClr val="0D9488"/>
          </a:solidFill>
          <a:ln w="12700">
            <a:solidFill>
              <a:srgbClr val="0D9488"/>
            </a:solidFill>
            <a:prstDash val="solid"/>
          </a:ln>
        </p:spPr>
      </p:sp>
      <p:sp>
        <p:nvSpPr>
          <p:cNvPr id="11" name="Text 9"/>
          <p:cNvSpPr/>
          <p:nvPr/>
        </p:nvSpPr>
        <p:spPr>
          <a:xfrm>
            <a:off x="914400" y="2514600"/>
            <a:ext cx="4983480" cy="274320"/>
          </a:xfrm>
          <a:prstGeom prst="rect">
            <a:avLst/>
          </a:prstGeom>
          <a:noFill/>
          <a:ln/>
        </p:spPr>
        <p:txBody>
          <a:bodyPr wrap="square" lIns="0" tIns="0" rIns="0" bIns="0" rtlCol="0" anchor="ctr"/>
          <a:lstStyle/>
          <a:p>
            <a:pPr indent="0" marL="0">
              <a:buNone/>
            </a:pPr>
            <a:r>
              <a:rPr lang="en-US" sz="1100" b="1" spc="300" kern="0" dirty="0">
                <a:solidFill>
                  <a:srgbClr val="115E59"/>
                </a:solidFill>
                <a:latin typeface="Calibri" pitchFamily="34" charset="0"/>
                <a:ea typeface="Calibri" pitchFamily="34" charset="-122"/>
                <a:cs typeface="Calibri" pitchFamily="34" charset="-120"/>
              </a:rPr>
              <a:t>PATH A · RECOMMENDED</a:t>
            </a:r>
            <a:endParaRPr lang="en-US" sz="1100" dirty="0"/>
          </a:p>
        </p:txBody>
      </p:sp>
      <p:sp>
        <p:nvSpPr>
          <p:cNvPr id="12" name="Text 10"/>
          <p:cNvSpPr/>
          <p:nvPr/>
        </p:nvSpPr>
        <p:spPr>
          <a:xfrm>
            <a:off x="914400" y="2834640"/>
            <a:ext cx="4983480" cy="548640"/>
          </a:xfrm>
          <a:prstGeom prst="rect">
            <a:avLst/>
          </a:prstGeom>
          <a:noFill/>
          <a:ln/>
        </p:spPr>
        <p:txBody>
          <a:bodyPr wrap="square" lIns="0" tIns="0" rIns="0" bIns="0" rtlCol="0" anchor="ctr"/>
          <a:lstStyle/>
          <a:p>
            <a:pPr indent="0" marL="0">
              <a:buNone/>
            </a:pPr>
            <a:r>
              <a:rPr lang="en-US" sz="2400" b="1" dirty="0">
                <a:solidFill>
                  <a:srgbClr val="0F172A"/>
                </a:solidFill>
                <a:latin typeface="Cambria" pitchFamily="34" charset="0"/>
                <a:ea typeface="Cambria" pitchFamily="34" charset="-122"/>
                <a:cs typeface="Cambria" pitchFamily="34" charset="-120"/>
              </a:rPr>
              <a:t>Native CAPTIA payload</a:t>
            </a:r>
            <a:endParaRPr lang="en-US" sz="2400" dirty="0"/>
          </a:p>
        </p:txBody>
      </p:sp>
      <p:sp>
        <p:nvSpPr>
          <p:cNvPr id="13" name="Text 11"/>
          <p:cNvSpPr/>
          <p:nvPr/>
        </p:nvSpPr>
        <p:spPr>
          <a:xfrm>
            <a:off x="914400" y="3383280"/>
            <a:ext cx="4983480" cy="64008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Your device publishes directly to canonical CAPTIA topics with the standard payload. Skips the normalizer.</a:t>
            </a:r>
            <a:endParaRPr lang="en-US" sz="1200" dirty="0"/>
          </a:p>
        </p:txBody>
      </p:sp>
      <p:sp>
        <p:nvSpPr>
          <p:cNvPr id="14" name="Text 12"/>
          <p:cNvSpPr/>
          <p:nvPr/>
        </p:nvSpPr>
        <p:spPr>
          <a:xfrm>
            <a:off x="914400" y="4114800"/>
            <a:ext cx="4983480" cy="155448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0F172A"/>
                </a:solidFill>
                <a:latin typeface="Calibri" pitchFamily="34" charset="0"/>
                <a:ea typeface="Calibri" pitchFamily="34" charset="-122"/>
                <a:cs typeface="Calibri" pitchFamily="34" charset="-120"/>
              </a:rPr>
              <a:t>Lowest latency (1 hop instead of 2)</a:t>
            </a:r>
            <a:endParaRPr lang="en-US" sz="1250" dirty="0"/>
          </a:p>
          <a:p>
            <a:pPr marL="342900" indent="-342900">
              <a:spcAft>
                <a:spcPts val="800"/>
              </a:spcAft>
              <a:buSzPct val="100000"/>
              <a:buChar char="●"/>
            </a:pPr>
            <a:r>
              <a:rPr lang="en-US" sz="1250" dirty="0">
                <a:solidFill>
                  <a:srgbClr val="0F172A"/>
                </a:solidFill>
                <a:latin typeface="Calibri" pitchFamily="34" charset="0"/>
                <a:ea typeface="Calibri" pitchFamily="34" charset="-122"/>
                <a:cs typeface="Calibri" pitchFamily="34" charset="-120"/>
              </a:rPr>
              <a:t>No normalizer profile to author / maintain</a:t>
            </a:r>
            <a:endParaRPr lang="en-US" sz="1250" dirty="0"/>
          </a:p>
          <a:p>
            <a:pPr marL="342900" indent="-342900">
              <a:spcAft>
                <a:spcPts val="800"/>
              </a:spcAft>
              <a:buSzPct val="100000"/>
              <a:buChar char="●"/>
            </a:pPr>
            <a:r>
              <a:rPr lang="en-US" sz="1250" dirty="0">
                <a:solidFill>
                  <a:srgbClr val="0F172A"/>
                </a:solidFill>
                <a:latin typeface="Calibri" pitchFamily="34" charset="0"/>
                <a:ea typeface="Calibri" pitchFamily="34" charset="-122"/>
                <a:cs typeface="Calibri" pitchFamily="34" charset="-120"/>
              </a:rPr>
              <a:t>Faster onboarding — typically days, not weeks</a:t>
            </a:r>
            <a:endParaRPr lang="en-US" sz="1250" dirty="0"/>
          </a:p>
          <a:p>
            <a:pPr marL="342900" indent="-342900">
              <a:spcAft>
                <a:spcPts val="800"/>
              </a:spcAft>
              <a:buSzPct val="100000"/>
              <a:buChar char="●"/>
            </a:pPr>
            <a:r>
              <a:rPr lang="en-US" sz="1250" dirty="0">
                <a:solidFill>
                  <a:srgbClr val="0F172A"/>
                </a:solidFill>
                <a:latin typeface="Calibri" pitchFamily="34" charset="0"/>
                <a:ea typeface="Calibri" pitchFamily="34" charset="-122"/>
                <a:cs typeface="Calibri" pitchFamily="34" charset="-120"/>
              </a:rPr>
              <a:t>Best for new product lines or firmware in development</a:t>
            </a:r>
            <a:endParaRPr lang="en-US" sz="1250" dirty="0"/>
          </a:p>
        </p:txBody>
      </p:sp>
      <p:sp>
        <p:nvSpPr>
          <p:cNvPr id="15" name="Shape 13"/>
          <p:cNvSpPr/>
          <p:nvPr/>
        </p:nvSpPr>
        <p:spPr>
          <a:xfrm>
            <a:off x="914400" y="5715000"/>
            <a:ext cx="1463040" cy="365760"/>
          </a:xfrm>
          <a:prstGeom prst="rect">
            <a:avLst/>
          </a:prstGeom>
          <a:solidFill>
            <a:srgbClr val="F0FDFA"/>
          </a:solidFill>
          <a:ln w="12700">
            <a:solidFill>
              <a:srgbClr val="0D9488"/>
            </a:solidFill>
            <a:prstDash val="solid"/>
          </a:ln>
        </p:spPr>
      </p:sp>
      <p:sp>
        <p:nvSpPr>
          <p:cNvPr id="16" name="Text 14"/>
          <p:cNvSpPr/>
          <p:nvPr/>
        </p:nvSpPr>
        <p:spPr>
          <a:xfrm>
            <a:off x="914400" y="5715000"/>
            <a:ext cx="1463040" cy="365760"/>
          </a:xfrm>
          <a:prstGeom prst="rect">
            <a:avLst/>
          </a:prstGeom>
          <a:noFill/>
          <a:ln/>
        </p:spPr>
        <p:txBody>
          <a:bodyPr wrap="square" lIns="0" tIns="0" rIns="0" bIns="0" rtlCol="0" anchor="ctr"/>
          <a:lstStyle/>
          <a:p>
            <a:pPr algn="ctr" indent="0" marL="0">
              <a:buNone/>
            </a:pPr>
            <a:r>
              <a:rPr lang="en-US" sz="1050" b="1" dirty="0">
                <a:solidFill>
                  <a:srgbClr val="115E59"/>
                </a:solidFill>
                <a:latin typeface="Calibri" pitchFamily="34" charset="0"/>
                <a:ea typeface="Calibri" pitchFamily="34" charset="-122"/>
                <a:cs typeface="Calibri" pitchFamily="34" charset="-120"/>
              </a:rPr>
              <a:t>Effort: LOW</a:t>
            </a:r>
            <a:endParaRPr lang="en-US" sz="1050" dirty="0"/>
          </a:p>
        </p:txBody>
      </p:sp>
      <p:sp>
        <p:nvSpPr>
          <p:cNvPr id="17" name="Shape 15"/>
          <p:cNvSpPr/>
          <p:nvPr/>
        </p:nvSpPr>
        <p:spPr>
          <a:xfrm>
            <a:off x="6263640" y="2286000"/>
            <a:ext cx="5532120" cy="4023360"/>
          </a:xfrm>
          <a:prstGeom prst="rect">
            <a:avLst/>
          </a:prstGeom>
          <a:solidFill>
            <a:srgbClr val="FFFFFF"/>
          </a:solidFill>
          <a:ln w="12700">
            <a:solidFill>
              <a:srgbClr val="E2E8F0"/>
            </a:solidFill>
            <a:prstDash val="solid"/>
          </a:ln>
          <a:effectLst>
            <a:outerShdw sx="100000" sy="100000" kx="0" ky="0" algn="bl" rotWithShape="0" blurRad="152400" dist="38100" dir="5400000">
              <a:srgbClr val="0F172A">
                <a:alpha val="10000"/>
              </a:srgbClr>
            </a:outerShdw>
          </a:effectLst>
        </p:spPr>
      </p:sp>
      <p:sp>
        <p:nvSpPr>
          <p:cNvPr id="18" name="Shape 16"/>
          <p:cNvSpPr/>
          <p:nvPr/>
        </p:nvSpPr>
        <p:spPr>
          <a:xfrm>
            <a:off x="6263640" y="2286000"/>
            <a:ext cx="137160" cy="4023360"/>
          </a:xfrm>
          <a:prstGeom prst="rect">
            <a:avLst/>
          </a:prstGeom>
          <a:solidFill>
            <a:srgbClr val="D97706"/>
          </a:solidFill>
          <a:ln w="12700">
            <a:solidFill>
              <a:srgbClr val="D97706"/>
            </a:solidFill>
            <a:prstDash val="solid"/>
          </a:ln>
        </p:spPr>
      </p:sp>
      <p:sp>
        <p:nvSpPr>
          <p:cNvPr id="19" name="Text 17"/>
          <p:cNvSpPr/>
          <p:nvPr/>
        </p:nvSpPr>
        <p:spPr>
          <a:xfrm>
            <a:off x="6629400" y="2514600"/>
            <a:ext cx="4983480" cy="274320"/>
          </a:xfrm>
          <a:prstGeom prst="rect">
            <a:avLst/>
          </a:prstGeom>
          <a:noFill/>
          <a:ln/>
        </p:spPr>
        <p:txBody>
          <a:bodyPr wrap="square" lIns="0" tIns="0" rIns="0" bIns="0" rtlCol="0" anchor="ctr"/>
          <a:lstStyle/>
          <a:p>
            <a:pPr indent="0" marL="0">
              <a:buNone/>
            </a:pPr>
            <a:r>
              <a:rPr lang="en-US" sz="1100" b="1" spc="300" kern="0" dirty="0">
                <a:solidFill>
                  <a:srgbClr val="D97706"/>
                </a:solidFill>
                <a:latin typeface="Calibri" pitchFamily="34" charset="0"/>
                <a:ea typeface="Calibri" pitchFamily="34" charset="-122"/>
                <a:cs typeface="Calibri" pitchFamily="34" charset="-120"/>
              </a:rPr>
              <a:t>PATH B · DROP-IN</a:t>
            </a:r>
            <a:endParaRPr lang="en-US" sz="1100" dirty="0"/>
          </a:p>
        </p:txBody>
      </p:sp>
      <p:sp>
        <p:nvSpPr>
          <p:cNvPr id="20" name="Text 18"/>
          <p:cNvSpPr/>
          <p:nvPr/>
        </p:nvSpPr>
        <p:spPr>
          <a:xfrm>
            <a:off x="6629400" y="2834640"/>
            <a:ext cx="4983480" cy="548640"/>
          </a:xfrm>
          <a:prstGeom prst="rect">
            <a:avLst/>
          </a:prstGeom>
          <a:noFill/>
          <a:ln/>
        </p:spPr>
        <p:txBody>
          <a:bodyPr wrap="square" lIns="0" tIns="0" rIns="0" bIns="0" rtlCol="0" anchor="ctr"/>
          <a:lstStyle/>
          <a:p>
            <a:pPr indent="0" marL="0">
              <a:buNone/>
            </a:pPr>
            <a:r>
              <a:rPr lang="en-US" sz="2400" b="1" dirty="0">
                <a:solidFill>
                  <a:srgbClr val="0F172A"/>
                </a:solidFill>
                <a:latin typeface="Cambria" pitchFamily="34" charset="0"/>
                <a:ea typeface="Cambria" pitchFamily="34" charset="-122"/>
                <a:cs typeface="Cambria" pitchFamily="34" charset="-120"/>
              </a:rPr>
              <a:t>Vendor protocol → Normalizer</a:t>
            </a:r>
            <a:endParaRPr lang="en-US" sz="2400" dirty="0"/>
          </a:p>
        </p:txBody>
      </p:sp>
      <p:sp>
        <p:nvSpPr>
          <p:cNvPr id="21" name="Text 19"/>
          <p:cNvSpPr/>
          <p:nvPr/>
        </p:nvSpPr>
        <p:spPr>
          <a:xfrm>
            <a:off x="6629400" y="3383280"/>
            <a:ext cx="4983480" cy="64008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Your device speaks its native MQTT (or Modbus/OPC-UA via gateway). A YAML normalizer profile maps it to canonical topics.</a:t>
            </a:r>
            <a:endParaRPr lang="en-US" sz="1200" dirty="0"/>
          </a:p>
        </p:txBody>
      </p:sp>
      <p:sp>
        <p:nvSpPr>
          <p:cNvPr id="22" name="Text 20"/>
          <p:cNvSpPr/>
          <p:nvPr/>
        </p:nvSpPr>
        <p:spPr>
          <a:xfrm>
            <a:off x="6629400" y="4114800"/>
            <a:ext cx="4983480" cy="155448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0F172A"/>
                </a:solidFill>
                <a:latin typeface="Calibri" pitchFamily="34" charset="0"/>
                <a:ea typeface="Calibri" pitchFamily="34" charset="-122"/>
                <a:cs typeface="Calibri" pitchFamily="34" charset="-120"/>
              </a:rPr>
              <a:t>Zero changes to your firmware</a:t>
            </a:r>
            <a:endParaRPr lang="en-US" sz="1250" dirty="0"/>
          </a:p>
          <a:p>
            <a:pPr marL="342900" indent="-342900">
              <a:spcAft>
                <a:spcPts val="800"/>
              </a:spcAft>
              <a:buSzPct val="100000"/>
              <a:buChar char="●"/>
            </a:pPr>
            <a:r>
              <a:rPr lang="en-US" sz="1250" dirty="0">
                <a:solidFill>
                  <a:srgbClr val="0F172A"/>
                </a:solidFill>
                <a:latin typeface="Calibri" pitchFamily="34" charset="0"/>
                <a:ea typeface="Calibri" pitchFamily="34" charset="-122"/>
                <a:cs typeface="Calibri" pitchFamily="34" charset="-120"/>
              </a:rPr>
              <a:t>Profiles versioned in git, hot-reloaded at runtime</a:t>
            </a:r>
            <a:endParaRPr lang="en-US" sz="1250" dirty="0"/>
          </a:p>
          <a:p>
            <a:pPr marL="342900" indent="-342900">
              <a:spcAft>
                <a:spcPts val="800"/>
              </a:spcAft>
              <a:buSzPct val="100000"/>
              <a:buChar char="●"/>
            </a:pPr>
            <a:r>
              <a:rPr lang="en-US" sz="1250" dirty="0">
                <a:solidFill>
                  <a:srgbClr val="0F172A"/>
                </a:solidFill>
                <a:latin typeface="Calibri" pitchFamily="34" charset="0"/>
                <a:ea typeface="Calibri" pitchFamily="34" charset="-122"/>
                <a:cs typeface="Calibri" pitchFamily="34" charset="-120"/>
              </a:rPr>
              <a:t>Per-device overrides for tagging exceptions</a:t>
            </a:r>
            <a:endParaRPr lang="en-US" sz="1250" dirty="0"/>
          </a:p>
          <a:p>
            <a:pPr marL="342900" indent="-342900">
              <a:spcAft>
                <a:spcPts val="800"/>
              </a:spcAft>
              <a:buSzPct val="100000"/>
              <a:buChar char="●"/>
            </a:pPr>
            <a:r>
              <a:rPr lang="en-US" sz="1250" dirty="0">
                <a:solidFill>
                  <a:srgbClr val="0F172A"/>
                </a:solidFill>
                <a:latin typeface="Calibri" pitchFamily="34" charset="0"/>
                <a:ea typeface="Calibri" pitchFamily="34" charset="-122"/>
                <a:cs typeface="Calibri" pitchFamily="34" charset="-120"/>
              </a:rPr>
              <a:t>Suitable for fielded devices and OEM gateways</a:t>
            </a:r>
            <a:endParaRPr lang="en-US" sz="1250" dirty="0"/>
          </a:p>
        </p:txBody>
      </p:sp>
      <p:sp>
        <p:nvSpPr>
          <p:cNvPr id="23" name="Shape 21"/>
          <p:cNvSpPr/>
          <p:nvPr/>
        </p:nvSpPr>
        <p:spPr>
          <a:xfrm>
            <a:off x="6629400" y="5715000"/>
            <a:ext cx="1645920" cy="365760"/>
          </a:xfrm>
          <a:prstGeom prst="rect">
            <a:avLst/>
          </a:prstGeom>
          <a:solidFill>
            <a:srgbClr val="FEF3C7"/>
          </a:solidFill>
          <a:ln w="12700">
            <a:solidFill>
              <a:srgbClr val="D97706"/>
            </a:solidFill>
            <a:prstDash val="solid"/>
          </a:ln>
        </p:spPr>
      </p:sp>
      <p:sp>
        <p:nvSpPr>
          <p:cNvPr id="24" name="Text 22"/>
          <p:cNvSpPr/>
          <p:nvPr/>
        </p:nvSpPr>
        <p:spPr>
          <a:xfrm>
            <a:off x="6629400" y="5715000"/>
            <a:ext cx="1645920" cy="365760"/>
          </a:xfrm>
          <a:prstGeom prst="rect">
            <a:avLst/>
          </a:prstGeom>
          <a:noFill/>
          <a:ln/>
        </p:spPr>
        <p:txBody>
          <a:bodyPr wrap="square" lIns="0" tIns="0" rIns="0" bIns="0" rtlCol="0" anchor="ctr"/>
          <a:lstStyle/>
          <a:p>
            <a:pPr algn="ctr" indent="0" marL="0">
              <a:buNone/>
            </a:pPr>
            <a:r>
              <a:rPr lang="en-US" sz="1050" b="1" dirty="0">
                <a:solidFill>
                  <a:srgbClr val="D97706"/>
                </a:solidFill>
                <a:latin typeface="Calibri" pitchFamily="34" charset="0"/>
                <a:ea typeface="Calibri" pitchFamily="34" charset="-122"/>
                <a:cs typeface="Calibri" pitchFamily="34" charset="-120"/>
              </a:rPr>
              <a:t>Effort: MEDIUM</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lIns="0" tIns="0" rIns="0" bIns="0" rtlCol="0" anchor="ctr"/>
          <a:lstStyle/>
          <a:p>
            <a:pPr indent="0" marL="0">
              <a:buNone/>
            </a:pPr>
            <a:r>
              <a:rPr lang="en-US" sz="1100" b="1" spc="400" kern="0" dirty="0">
                <a:solidFill>
                  <a:srgbClr val="22D3EE"/>
                </a:solidFill>
                <a:latin typeface="Calibri" pitchFamily="34" charset="0"/>
                <a:ea typeface="Calibri" pitchFamily="34" charset="-122"/>
                <a:cs typeface="Calibri" pitchFamily="34" charset="-120"/>
              </a:rPr>
              <a:t>04 · CONTRACT</a:t>
            </a:r>
            <a:endParaRPr lang="en-US" sz="1100" dirty="0"/>
          </a:p>
        </p:txBody>
      </p:sp>
      <p:sp>
        <p:nvSpPr>
          <p:cNvPr id="3" name="Text 1"/>
          <p:cNvSpPr/>
          <p:nvPr/>
        </p:nvSpPr>
        <p:spPr>
          <a:xfrm>
            <a:off x="548640" y="548640"/>
            <a:ext cx="10058400" cy="640080"/>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MQTT topic format (7 segments)</a:t>
            </a:r>
            <a:endParaRPr lang="en-US" sz="3000" dirty="0"/>
          </a:p>
        </p:txBody>
      </p:sp>
      <p:sp>
        <p:nvSpPr>
          <p:cNvPr id="4" name="Text 2"/>
          <p:cNvSpPr/>
          <p:nvPr/>
        </p:nvSpPr>
        <p:spPr>
          <a:xfrm>
            <a:off x="11094415"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 / 14</a:t>
            </a:r>
            <a:endParaRPr lang="en-US" sz="900" dirty="0"/>
          </a:p>
        </p:txBody>
      </p:sp>
      <p:sp>
        <p:nvSpPr>
          <p:cNvPr id="5" name="Text 3"/>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CAPTIA Technology · Partner Integration Guide</a:t>
            </a:r>
            <a:endParaRPr lang="en-US" sz="900" dirty="0"/>
          </a:p>
        </p:txBody>
      </p:sp>
      <p:sp>
        <p:nvSpPr>
          <p:cNvPr id="6" name="Shape 4"/>
          <p:cNvSpPr/>
          <p:nvPr/>
        </p:nvSpPr>
        <p:spPr>
          <a:xfrm>
            <a:off x="11688775" y="320040"/>
            <a:ext cx="164592" cy="164592"/>
          </a:xfrm>
          <a:prstGeom prst="rect">
            <a:avLst/>
          </a:prstGeom>
          <a:solidFill>
            <a:srgbClr val="22D3EE"/>
          </a:solidFill>
          <a:ln w="12700">
            <a:solidFill>
              <a:srgbClr val="22D3EE"/>
            </a:solidFill>
            <a:prstDash val="solid"/>
          </a:ln>
        </p:spPr>
      </p:sp>
      <p:sp>
        <p:nvSpPr>
          <p:cNvPr id="7" name="Shape 5"/>
          <p:cNvSpPr/>
          <p:nvPr/>
        </p:nvSpPr>
        <p:spPr>
          <a:xfrm>
            <a:off x="11917375" y="320040"/>
            <a:ext cx="164592" cy="164592"/>
          </a:xfrm>
          <a:prstGeom prst="rect">
            <a:avLst/>
          </a:prstGeom>
          <a:solidFill>
            <a:srgbClr val="D97706"/>
          </a:solidFill>
          <a:ln w="12700">
            <a:solidFill>
              <a:srgbClr val="D97706"/>
            </a:solidFill>
            <a:prstDash val="solid"/>
          </a:ln>
        </p:spPr>
      </p:sp>
      <p:sp>
        <p:nvSpPr>
          <p:cNvPr id="8" name="Text 6"/>
          <p:cNvSpPr/>
          <p:nvPr/>
        </p:nvSpPr>
        <p:spPr>
          <a:xfrm>
            <a:off x="548640" y="1417320"/>
            <a:ext cx="10972800" cy="640080"/>
          </a:xfrm>
          <a:prstGeom prst="rect">
            <a:avLst/>
          </a:prstGeom>
          <a:noFill/>
          <a:ln/>
        </p:spPr>
        <p:txBody>
          <a:bodyPr wrap="square" lIns="0" tIns="0" rIns="0" bIns="0" rtlCol="0" anchor="ctr"/>
          <a:lstStyle/>
          <a:p>
            <a:pPr indent="0" marL="0">
              <a:buNone/>
            </a:pPr>
            <a:r>
              <a:rPr lang="en-US" sz="1300" i="1" dirty="0">
                <a:solidFill>
                  <a:srgbClr val="0F172A"/>
                </a:solidFill>
                <a:latin typeface="Calibri" pitchFamily="34" charset="0"/>
                <a:ea typeface="Calibri" pitchFamily="34" charset="-122"/>
                <a:cs typeface="Calibri" pitchFamily="34" charset="-120"/>
              </a:rPr>
              <a:t>All telemetry rides on a strict 7-segment topic. Telegraf parses each segment into an indexed InfluxDB tag. Get this right and the rest is automatic.</a:t>
            </a:r>
            <a:endParaRPr lang="en-US" sz="1300" dirty="0"/>
          </a:p>
        </p:txBody>
      </p:sp>
      <p:sp>
        <p:nvSpPr>
          <p:cNvPr id="9" name="Shape 7"/>
          <p:cNvSpPr/>
          <p:nvPr/>
        </p:nvSpPr>
        <p:spPr>
          <a:xfrm>
            <a:off x="548640" y="2423160"/>
            <a:ext cx="1439527" cy="777240"/>
          </a:xfrm>
          <a:prstGeom prst="roundRect">
            <a:avLst>
              <a:gd name="adj" fmla="val 11765"/>
            </a:avLst>
          </a:prstGeom>
          <a:solidFill>
            <a:srgbClr val="1E3A5F"/>
          </a:solidFill>
          <a:ln w="12700">
            <a:solidFill>
              <a:srgbClr val="1E3A5F"/>
            </a:solidFill>
            <a:prstDash val="solid"/>
          </a:ln>
        </p:spPr>
      </p:sp>
      <p:sp>
        <p:nvSpPr>
          <p:cNvPr id="10" name="Text 8"/>
          <p:cNvSpPr/>
          <p:nvPr/>
        </p:nvSpPr>
        <p:spPr>
          <a:xfrm>
            <a:off x="548640" y="2423160"/>
            <a:ext cx="1439527"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captia</a:t>
            </a:r>
            <a:endParaRPr lang="en-US" sz="1400" dirty="0"/>
          </a:p>
        </p:txBody>
      </p:sp>
      <p:sp>
        <p:nvSpPr>
          <p:cNvPr id="11" name="Text 9"/>
          <p:cNvSpPr/>
          <p:nvPr/>
        </p:nvSpPr>
        <p:spPr>
          <a:xfrm>
            <a:off x="1942447" y="2423160"/>
            <a:ext cx="256032" cy="777240"/>
          </a:xfrm>
          <a:prstGeom prst="rect">
            <a:avLst/>
          </a:prstGeom>
          <a:noFill/>
          <a:ln/>
        </p:spPr>
        <p:txBody>
          <a:bodyPr wrap="square" lIns="0" tIns="0" rIns="0" bIns="0" rtlCol="0" anchor="ctr"/>
          <a:lstStyle/>
          <a:p>
            <a:pPr algn="ctr" indent="0" marL="0">
              <a:buNone/>
            </a:pPr>
            <a:r>
              <a:rPr lang="en-US" sz="2200" b="1" dirty="0">
                <a:solidFill>
                  <a:srgbClr val="64748B"/>
                </a:solidFill>
                <a:latin typeface="Calibri" pitchFamily="34" charset="0"/>
                <a:ea typeface="Calibri" pitchFamily="34" charset="-122"/>
                <a:cs typeface="Calibri" pitchFamily="34" charset="-120"/>
              </a:rPr>
              <a:t>/</a:t>
            </a:r>
            <a:endParaRPr lang="en-US" sz="2200" dirty="0"/>
          </a:p>
        </p:txBody>
      </p:sp>
      <p:sp>
        <p:nvSpPr>
          <p:cNvPr id="12" name="Text 10"/>
          <p:cNvSpPr/>
          <p:nvPr/>
        </p:nvSpPr>
        <p:spPr>
          <a:xfrm>
            <a:off x="411480" y="3246120"/>
            <a:ext cx="1713847" cy="274320"/>
          </a:xfrm>
          <a:prstGeom prst="rect">
            <a:avLst/>
          </a:prstGeom>
          <a:noFill/>
          <a:ln/>
        </p:spPr>
        <p:txBody>
          <a:bodyPr wrap="square" lIns="0" tIns="0" rIns="0" bIns="0" rtlCol="0" anchor="ctr"/>
          <a:lstStyle/>
          <a:p>
            <a:pPr algn="ctr" indent="0" marL="0">
              <a:buNone/>
            </a:pPr>
            <a:r>
              <a:rPr lang="en-US" sz="1000" b="1" spc="100" kern="0" dirty="0">
                <a:solidFill>
                  <a:srgbClr val="64748B"/>
                </a:solidFill>
                <a:latin typeface="Calibri" pitchFamily="34" charset="0"/>
                <a:ea typeface="Calibri" pitchFamily="34" charset="-122"/>
                <a:cs typeface="Calibri" pitchFamily="34" charset="-120"/>
              </a:rPr>
              <a:t>namespace</a:t>
            </a:r>
            <a:endParaRPr lang="en-US" sz="1000" dirty="0"/>
          </a:p>
        </p:txBody>
      </p:sp>
      <p:sp>
        <p:nvSpPr>
          <p:cNvPr id="13" name="Text 11"/>
          <p:cNvSpPr/>
          <p:nvPr/>
        </p:nvSpPr>
        <p:spPr>
          <a:xfrm>
            <a:off x="548640" y="2130552"/>
            <a:ext cx="1439527" cy="228600"/>
          </a:xfrm>
          <a:prstGeom prst="rect">
            <a:avLst/>
          </a:prstGeom>
          <a:noFill/>
          <a:ln/>
        </p:spPr>
        <p:txBody>
          <a:bodyPr wrap="square" lIns="0" tIns="0" rIns="0" bIns="0" rtlCol="0" anchor="ctr"/>
          <a:lstStyle/>
          <a:p>
            <a:pPr algn="ctr" indent="0" marL="0">
              <a:buNone/>
            </a:pPr>
            <a:r>
              <a:rPr lang="en-US" sz="900" b="1" dirty="0">
                <a:solidFill>
                  <a:srgbClr val="64748B"/>
                </a:solidFill>
                <a:latin typeface="Calibri" pitchFamily="34" charset="0"/>
                <a:ea typeface="Calibri" pitchFamily="34" charset="-122"/>
                <a:cs typeface="Calibri" pitchFamily="34" charset="-120"/>
              </a:rPr>
              <a:t>0</a:t>
            </a:r>
            <a:endParaRPr lang="en-US" sz="900" dirty="0"/>
          </a:p>
        </p:txBody>
      </p:sp>
      <p:sp>
        <p:nvSpPr>
          <p:cNvPr id="14" name="Shape 12"/>
          <p:cNvSpPr/>
          <p:nvPr/>
        </p:nvSpPr>
        <p:spPr>
          <a:xfrm>
            <a:off x="2152759" y="2423160"/>
            <a:ext cx="1439527" cy="777240"/>
          </a:xfrm>
          <a:prstGeom prst="roundRect">
            <a:avLst>
              <a:gd name="adj" fmla="val 11765"/>
            </a:avLst>
          </a:prstGeom>
          <a:solidFill>
            <a:srgbClr val="0E4F88"/>
          </a:solidFill>
          <a:ln w="12700">
            <a:solidFill>
              <a:srgbClr val="0E4F88"/>
            </a:solidFill>
            <a:prstDash val="solid"/>
          </a:ln>
        </p:spPr>
      </p:sp>
      <p:sp>
        <p:nvSpPr>
          <p:cNvPr id="15" name="Text 13"/>
          <p:cNvSpPr/>
          <p:nvPr/>
        </p:nvSpPr>
        <p:spPr>
          <a:xfrm>
            <a:off x="2152759" y="2423160"/>
            <a:ext cx="1439527"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{env}</a:t>
            </a:r>
            <a:endParaRPr lang="en-US" sz="1400" dirty="0"/>
          </a:p>
        </p:txBody>
      </p:sp>
      <p:sp>
        <p:nvSpPr>
          <p:cNvPr id="16" name="Text 14"/>
          <p:cNvSpPr/>
          <p:nvPr/>
        </p:nvSpPr>
        <p:spPr>
          <a:xfrm>
            <a:off x="3546566" y="2423160"/>
            <a:ext cx="256032" cy="777240"/>
          </a:xfrm>
          <a:prstGeom prst="rect">
            <a:avLst/>
          </a:prstGeom>
          <a:noFill/>
          <a:ln/>
        </p:spPr>
        <p:txBody>
          <a:bodyPr wrap="square" lIns="0" tIns="0" rIns="0" bIns="0" rtlCol="0" anchor="ctr"/>
          <a:lstStyle/>
          <a:p>
            <a:pPr algn="ctr" indent="0" marL="0">
              <a:buNone/>
            </a:pPr>
            <a:r>
              <a:rPr lang="en-US" sz="2200" b="1" dirty="0">
                <a:solidFill>
                  <a:srgbClr val="64748B"/>
                </a:solidFill>
                <a:latin typeface="Calibri" pitchFamily="34" charset="0"/>
                <a:ea typeface="Calibri" pitchFamily="34" charset="-122"/>
                <a:cs typeface="Calibri" pitchFamily="34" charset="-120"/>
              </a:rPr>
              <a:t>/</a:t>
            </a:r>
            <a:endParaRPr lang="en-US" sz="2200" dirty="0"/>
          </a:p>
        </p:txBody>
      </p:sp>
      <p:sp>
        <p:nvSpPr>
          <p:cNvPr id="17" name="Text 15"/>
          <p:cNvSpPr/>
          <p:nvPr/>
        </p:nvSpPr>
        <p:spPr>
          <a:xfrm>
            <a:off x="2015599" y="3246120"/>
            <a:ext cx="1713847" cy="274320"/>
          </a:xfrm>
          <a:prstGeom prst="rect">
            <a:avLst/>
          </a:prstGeom>
          <a:noFill/>
          <a:ln/>
        </p:spPr>
        <p:txBody>
          <a:bodyPr wrap="square" lIns="0" tIns="0" rIns="0" bIns="0" rtlCol="0" anchor="ctr"/>
          <a:lstStyle/>
          <a:p>
            <a:pPr algn="ctr" indent="0" marL="0">
              <a:buNone/>
            </a:pPr>
            <a:r>
              <a:rPr lang="en-US" sz="1000" b="1" spc="100" kern="0" dirty="0">
                <a:solidFill>
                  <a:srgbClr val="64748B"/>
                </a:solidFill>
                <a:latin typeface="Calibri" pitchFamily="34" charset="0"/>
                <a:ea typeface="Calibri" pitchFamily="34" charset="-122"/>
                <a:cs typeface="Calibri" pitchFamily="34" charset="-120"/>
              </a:rPr>
              <a:t>environment</a:t>
            </a:r>
            <a:endParaRPr lang="en-US" sz="1000" dirty="0"/>
          </a:p>
        </p:txBody>
      </p:sp>
      <p:sp>
        <p:nvSpPr>
          <p:cNvPr id="18" name="Text 16"/>
          <p:cNvSpPr/>
          <p:nvPr/>
        </p:nvSpPr>
        <p:spPr>
          <a:xfrm>
            <a:off x="2152759" y="2130552"/>
            <a:ext cx="1439527" cy="228600"/>
          </a:xfrm>
          <a:prstGeom prst="rect">
            <a:avLst/>
          </a:prstGeom>
          <a:noFill/>
          <a:ln/>
        </p:spPr>
        <p:txBody>
          <a:bodyPr wrap="square" lIns="0" tIns="0" rIns="0" bIns="0" rtlCol="0" anchor="ctr"/>
          <a:lstStyle/>
          <a:p>
            <a:pPr algn="ctr" indent="0" marL="0">
              <a:buNone/>
            </a:pPr>
            <a:r>
              <a:rPr lang="en-US" sz="900" b="1" dirty="0">
                <a:solidFill>
                  <a:srgbClr val="64748B"/>
                </a:solidFill>
                <a:latin typeface="Calibri" pitchFamily="34" charset="0"/>
                <a:ea typeface="Calibri" pitchFamily="34" charset="-122"/>
                <a:cs typeface="Calibri" pitchFamily="34" charset="-120"/>
              </a:rPr>
              <a:t>1</a:t>
            </a:r>
            <a:endParaRPr lang="en-US" sz="900" dirty="0"/>
          </a:p>
        </p:txBody>
      </p:sp>
      <p:sp>
        <p:nvSpPr>
          <p:cNvPr id="19" name="Shape 17"/>
          <p:cNvSpPr/>
          <p:nvPr/>
        </p:nvSpPr>
        <p:spPr>
          <a:xfrm>
            <a:off x="3756878" y="2423160"/>
            <a:ext cx="1439527" cy="777240"/>
          </a:xfrm>
          <a:prstGeom prst="roundRect">
            <a:avLst>
              <a:gd name="adj" fmla="val 11765"/>
            </a:avLst>
          </a:prstGeom>
          <a:solidFill>
            <a:srgbClr val="0E4F88"/>
          </a:solidFill>
          <a:ln w="12700">
            <a:solidFill>
              <a:srgbClr val="0E4F88"/>
            </a:solidFill>
            <a:prstDash val="solid"/>
          </a:ln>
        </p:spPr>
      </p:sp>
      <p:sp>
        <p:nvSpPr>
          <p:cNvPr id="20" name="Text 18"/>
          <p:cNvSpPr/>
          <p:nvPr/>
        </p:nvSpPr>
        <p:spPr>
          <a:xfrm>
            <a:off x="3756878" y="2423160"/>
            <a:ext cx="1439527"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{tenant}</a:t>
            </a:r>
            <a:endParaRPr lang="en-US" sz="1400" dirty="0"/>
          </a:p>
        </p:txBody>
      </p:sp>
      <p:sp>
        <p:nvSpPr>
          <p:cNvPr id="21" name="Text 19"/>
          <p:cNvSpPr/>
          <p:nvPr/>
        </p:nvSpPr>
        <p:spPr>
          <a:xfrm>
            <a:off x="5150685" y="2423160"/>
            <a:ext cx="256032" cy="777240"/>
          </a:xfrm>
          <a:prstGeom prst="rect">
            <a:avLst/>
          </a:prstGeom>
          <a:noFill/>
          <a:ln/>
        </p:spPr>
        <p:txBody>
          <a:bodyPr wrap="square" lIns="0" tIns="0" rIns="0" bIns="0" rtlCol="0" anchor="ctr"/>
          <a:lstStyle/>
          <a:p>
            <a:pPr algn="ctr" indent="0" marL="0">
              <a:buNone/>
            </a:pPr>
            <a:r>
              <a:rPr lang="en-US" sz="2200" b="1" dirty="0">
                <a:solidFill>
                  <a:srgbClr val="64748B"/>
                </a:solidFill>
                <a:latin typeface="Calibri" pitchFamily="34" charset="0"/>
                <a:ea typeface="Calibri" pitchFamily="34" charset="-122"/>
                <a:cs typeface="Calibri" pitchFamily="34" charset="-120"/>
              </a:rPr>
              <a:t>/</a:t>
            </a:r>
            <a:endParaRPr lang="en-US" sz="2200" dirty="0"/>
          </a:p>
        </p:txBody>
      </p:sp>
      <p:sp>
        <p:nvSpPr>
          <p:cNvPr id="22" name="Text 20"/>
          <p:cNvSpPr/>
          <p:nvPr/>
        </p:nvSpPr>
        <p:spPr>
          <a:xfrm>
            <a:off x="3619718" y="3246120"/>
            <a:ext cx="1713847" cy="274320"/>
          </a:xfrm>
          <a:prstGeom prst="rect">
            <a:avLst/>
          </a:prstGeom>
          <a:noFill/>
          <a:ln/>
        </p:spPr>
        <p:txBody>
          <a:bodyPr wrap="square" lIns="0" tIns="0" rIns="0" bIns="0" rtlCol="0" anchor="ctr"/>
          <a:lstStyle/>
          <a:p>
            <a:pPr algn="ctr" indent="0" marL="0">
              <a:buNone/>
            </a:pPr>
            <a:r>
              <a:rPr lang="en-US" sz="1000" b="1" spc="100" kern="0" dirty="0">
                <a:solidFill>
                  <a:srgbClr val="64748B"/>
                </a:solidFill>
                <a:latin typeface="Calibri" pitchFamily="34" charset="0"/>
                <a:ea typeface="Calibri" pitchFamily="34" charset="-122"/>
                <a:cs typeface="Calibri" pitchFamily="34" charset="-120"/>
              </a:rPr>
              <a:t>domain_id</a:t>
            </a:r>
            <a:endParaRPr lang="en-US" sz="1000" dirty="0"/>
          </a:p>
        </p:txBody>
      </p:sp>
      <p:sp>
        <p:nvSpPr>
          <p:cNvPr id="23" name="Text 21"/>
          <p:cNvSpPr/>
          <p:nvPr/>
        </p:nvSpPr>
        <p:spPr>
          <a:xfrm>
            <a:off x="3756878" y="2130552"/>
            <a:ext cx="1439527" cy="228600"/>
          </a:xfrm>
          <a:prstGeom prst="rect">
            <a:avLst/>
          </a:prstGeom>
          <a:noFill/>
          <a:ln/>
        </p:spPr>
        <p:txBody>
          <a:bodyPr wrap="square" lIns="0" tIns="0" rIns="0" bIns="0" rtlCol="0" anchor="ctr"/>
          <a:lstStyle/>
          <a:p>
            <a:pPr algn="ctr" indent="0" marL="0">
              <a:buNone/>
            </a:pPr>
            <a:r>
              <a:rPr lang="en-US" sz="900" b="1" dirty="0">
                <a:solidFill>
                  <a:srgbClr val="64748B"/>
                </a:solidFill>
                <a:latin typeface="Calibri" pitchFamily="34" charset="0"/>
                <a:ea typeface="Calibri" pitchFamily="34" charset="-122"/>
                <a:cs typeface="Calibri" pitchFamily="34" charset="-120"/>
              </a:rPr>
              <a:t>2</a:t>
            </a:r>
            <a:endParaRPr lang="en-US" sz="900" dirty="0"/>
          </a:p>
        </p:txBody>
      </p:sp>
      <p:sp>
        <p:nvSpPr>
          <p:cNvPr id="24" name="Shape 22"/>
          <p:cNvSpPr/>
          <p:nvPr/>
        </p:nvSpPr>
        <p:spPr>
          <a:xfrm>
            <a:off x="5360997" y="2423160"/>
            <a:ext cx="1439527" cy="777240"/>
          </a:xfrm>
          <a:prstGeom prst="roundRect">
            <a:avLst>
              <a:gd name="adj" fmla="val 11765"/>
            </a:avLst>
          </a:prstGeom>
          <a:solidFill>
            <a:srgbClr val="0D9488"/>
          </a:solidFill>
          <a:ln w="12700">
            <a:solidFill>
              <a:srgbClr val="0D9488"/>
            </a:solidFill>
            <a:prstDash val="solid"/>
          </a:ln>
        </p:spPr>
      </p:sp>
      <p:sp>
        <p:nvSpPr>
          <p:cNvPr id="25" name="Text 23"/>
          <p:cNvSpPr/>
          <p:nvPr/>
        </p:nvSpPr>
        <p:spPr>
          <a:xfrm>
            <a:off x="5360997" y="2423160"/>
            <a:ext cx="1439527"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{site}</a:t>
            </a:r>
            <a:endParaRPr lang="en-US" sz="1400" dirty="0"/>
          </a:p>
        </p:txBody>
      </p:sp>
      <p:sp>
        <p:nvSpPr>
          <p:cNvPr id="26" name="Text 24"/>
          <p:cNvSpPr/>
          <p:nvPr/>
        </p:nvSpPr>
        <p:spPr>
          <a:xfrm>
            <a:off x="6754803" y="2423160"/>
            <a:ext cx="256032" cy="777240"/>
          </a:xfrm>
          <a:prstGeom prst="rect">
            <a:avLst/>
          </a:prstGeom>
          <a:noFill/>
          <a:ln/>
        </p:spPr>
        <p:txBody>
          <a:bodyPr wrap="square" lIns="0" tIns="0" rIns="0" bIns="0" rtlCol="0" anchor="ctr"/>
          <a:lstStyle/>
          <a:p>
            <a:pPr algn="ctr" indent="0" marL="0">
              <a:buNone/>
            </a:pPr>
            <a:r>
              <a:rPr lang="en-US" sz="2200" b="1" dirty="0">
                <a:solidFill>
                  <a:srgbClr val="64748B"/>
                </a:solidFill>
                <a:latin typeface="Calibri" pitchFamily="34" charset="0"/>
                <a:ea typeface="Calibri" pitchFamily="34" charset="-122"/>
                <a:cs typeface="Calibri" pitchFamily="34" charset="-120"/>
              </a:rPr>
              <a:t>/</a:t>
            </a:r>
            <a:endParaRPr lang="en-US" sz="2200" dirty="0"/>
          </a:p>
        </p:txBody>
      </p:sp>
      <p:sp>
        <p:nvSpPr>
          <p:cNvPr id="27" name="Text 25"/>
          <p:cNvSpPr/>
          <p:nvPr/>
        </p:nvSpPr>
        <p:spPr>
          <a:xfrm>
            <a:off x="5223837" y="3246120"/>
            <a:ext cx="1713847" cy="274320"/>
          </a:xfrm>
          <a:prstGeom prst="rect">
            <a:avLst/>
          </a:prstGeom>
          <a:noFill/>
          <a:ln/>
        </p:spPr>
        <p:txBody>
          <a:bodyPr wrap="square" lIns="0" tIns="0" rIns="0" bIns="0" rtlCol="0" anchor="ctr"/>
          <a:lstStyle/>
          <a:p>
            <a:pPr algn="ctr" indent="0" marL="0">
              <a:buNone/>
            </a:pPr>
            <a:r>
              <a:rPr lang="en-US" sz="1000" b="1" spc="100" kern="0" dirty="0">
                <a:solidFill>
                  <a:srgbClr val="64748B"/>
                </a:solidFill>
                <a:latin typeface="Calibri" pitchFamily="34" charset="0"/>
                <a:ea typeface="Calibri" pitchFamily="34" charset="-122"/>
                <a:cs typeface="Calibri" pitchFamily="34" charset="-120"/>
              </a:rPr>
              <a:t>site_id</a:t>
            </a:r>
            <a:endParaRPr lang="en-US" sz="1000" dirty="0"/>
          </a:p>
        </p:txBody>
      </p:sp>
      <p:sp>
        <p:nvSpPr>
          <p:cNvPr id="28" name="Text 26"/>
          <p:cNvSpPr/>
          <p:nvPr/>
        </p:nvSpPr>
        <p:spPr>
          <a:xfrm>
            <a:off x="5360997" y="2130552"/>
            <a:ext cx="1439527" cy="228600"/>
          </a:xfrm>
          <a:prstGeom prst="rect">
            <a:avLst/>
          </a:prstGeom>
          <a:noFill/>
          <a:ln/>
        </p:spPr>
        <p:txBody>
          <a:bodyPr wrap="square" lIns="0" tIns="0" rIns="0" bIns="0" rtlCol="0" anchor="ctr"/>
          <a:lstStyle/>
          <a:p>
            <a:pPr algn="ctr" indent="0" marL="0">
              <a:buNone/>
            </a:pPr>
            <a:r>
              <a:rPr lang="en-US" sz="900" b="1" dirty="0">
                <a:solidFill>
                  <a:srgbClr val="64748B"/>
                </a:solidFill>
                <a:latin typeface="Calibri" pitchFamily="34" charset="0"/>
                <a:ea typeface="Calibri" pitchFamily="34" charset="-122"/>
                <a:cs typeface="Calibri" pitchFamily="34" charset="-120"/>
              </a:rPr>
              <a:t>3</a:t>
            </a:r>
            <a:endParaRPr lang="en-US" sz="900" dirty="0"/>
          </a:p>
        </p:txBody>
      </p:sp>
      <p:sp>
        <p:nvSpPr>
          <p:cNvPr id="29" name="Shape 27"/>
          <p:cNvSpPr/>
          <p:nvPr/>
        </p:nvSpPr>
        <p:spPr>
          <a:xfrm>
            <a:off x="6965115" y="2423160"/>
            <a:ext cx="1439527" cy="777240"/>
          </a:xfrm>
          <a:prstGeom prst="roundRect">
            <a:avLst>
              <a:gd name="adj" fmla="val 11765"/>
            </a:avLst>
          </a:prstGeom>
          <a:solidFill>
            <a:srgbClr val="0D9488"/>
          </a:solidFill>
          <a:ln w="12700">
            <a:solidFill>
              <a:srgbClr val="0D9488"/>
            </a:solidFill>
            <a:prstDash val="solid"/>
          </a:ln>
        </p:spPr>
      </p:sp>
      <p:sp>
        <p:nvSpPr>
          <p:cNvPr id="30" name="Text 28"/>
          <p:cNvSpPr/>
          <p:nvPr/>
        </p:nvSpPr>
        <p:spPr>
          <a:xfrm>
            <a:off x="6965115" y="2423160"/>
            <a:ext cx="1439527"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{device}</a:t>
            </a:r>
            <a:endParaRPr lang="en-US" sz="1400" dirty="0"/>
          </a:p>
        </p:txBody>
      </p:sp>
      <p:sp>
        <p:nvSpPr>
          <p:cNvPr id="31" name="Text 29"/>
          <p:cNvSpPr/>
          <p:nvPr/>
        </p:nvSpPr>
        <p:spPr>
          <a:xfrm>
            <a:off x="8358922" y="2423160"/>
            <a:ext cx="256032" cy="777240"/>
          </a:xfrm>
          <a:prstGeom prst="rect">
            <a:avLst/>
          </a:prstGeom>
          <a:noFill/>
          <a:ln/>
        </p:spPr>
        <p:txBody>
          <a:bodyPr wrap="square" lIns="0" tIns="0" rIns="0" bIns="0" rtlCol="0" anchor="ctr"/>
          <a:lstStyle/>
          <a:p>
            <a:pPr algn="ctr" indent="0" marL="0">
              <a:buNone/>
            </a:pPr>
            <a:r>
              <a:rPr lang="en-US" sz="2200" b="1" dirty="0">
                <a:solidFill>
                  <a:srgbClr val="64748B"/>
                </a:solidFill>
                <a:latin typeface="Calibri" pitchFamily="34" charset="0"/>
                <a:ea typeface="Calibri" pitchFamily="34" charset="-122"/>
                <a:cs typeface="Calibri" pitchFamily="34" charset="-120"/>
              </a:rPr>
              <a:t>/</a:t>
            </a:r>
            <a:endParaRPr lang="en-US" sz="2200" dirty="0"/>
          </a:p>
        </p:txBody>
      </p:sp>
      <p:sp>
        <p:nvSpPr>
          <p:cNvPr id="32" name="Text 30"/>
          <p:cNvSpPr/>
          <p:nvPr/>
        </p:nvSpPr>
        <p:spPr>
          <a:xfrm>
            <a:off x="6827955" y="3246120"/>
            <a:ext cx="1713847" cy="274320"/>
          </a:xfrm>
          <a:prstGeom prst="rect">
            <a:avLst/>
          </a:prstGeom>
          <a:noFill/>
          <a:ln/>
        </p:spPr>
        <p:txBody>
          <a:bodyPr wrap="square" lIns="0" tIns="0" rIns="0" bIns="0" rtlCol="0" anchor="ctr"/>
          <a:lstStyle/>
          <a:p>
            <a:pPr algn="ctr" indent="0" marL="0">
              <a:buNone/>
            </a:pPr>
            <a:r>
              <a:rPr lang="en-US" sz="1000" b="1" spc="100" kern="0" dirty="0">
                <a:solidFill>
                  <a:srgbClr val="64748B"/>
                </a:solidFill>
                <a:latin typeface="Calibri" pitchFamily="34" charset="0"/>
                <a:ea typeface="Calibri" pitchFamily="34" charset="-122"/>
                <a:cs typeface="Calibri" pitchFamily="34" charset="-120"/>
              </a:rPr>
              <a:t>asset_id</a:t>
            </a:r>
            <a:endParaRPr lang="en-US" sz="1000" dirty="0"/>
          </a:p>
        </p:txBody>
      </p:sp>
      <p:sp>
        <p:nvSpPr>
          <p:cNvPr id="33" name="Text 31"/>
          <p:cNvSpPr/>
          <p:nvPr/>
        </p:nvSpPr>
        <p:spPr>
          <a:xfrm>
            <a:off x="6965115" y="2130552"/>
            <a:ext cx="1439527" cy="228600"/>
          </a:xfrm>
          <a:prstGeom prst="rect">
            <a:avLst/>
          </a:prstGeom>
          <a:noFill/>
          <a:ln/>
        </p:spPr>
        <p:txBody>
          <a:bodyPr wrap="square" lIns="0" tIns="0" rIns="0" bIns="0" rtlCol="0" anchor="ctr"/>
          <a:lstStyle/>
          <a:p>
            <a:pPr algn="ctr" indent="0" marL="0">
              <a:buNone/>
            </a:pPr>
            <a:r>
              <a:rPr lang="en-US" sz="900" b="1" dirty="0">
                <a:solidFill>
                  <a:srgbClr val="64748B"/>
                </a:solidFill>
                <a:latin typeface="Calibri" pitchFamily="34" charset="0"/>
                <a:ea typeface="Calibri" pitchFamily="34" charset="-122"/>
                <a:cs typeface="Calibri" pitchFamily="34" charset="-120"/>
              </a:rPr>
              <a:t>4</a:t>
            </a:r>
            <a:endParaRPr lang="en-US" sz="900" dirty="0"/>
          </a:p>
        </p:txBody>
      </p:sp>
      <p:sp>
        <p:nvSpPr>
          <p:cNvPr id="34" name="Shape 32"/>
          <p:cNvSpPr/>
          <p:nvPr/>
        </p:nvSpPr>
        <p:spPr>
          <a:xfrm>
            <a:off x="8569234" y="2423160"/>
            <a:ext cx="1439527" cy="777240"/>
          </a:xfrm>
          <a:prstGeom prst="roundRect">
            <a:avLst>
              <a:gd name="adj" fmla="val 11765"/>
            </a:avLst>
          </a:prstGeom>
          <a:solidFill>
            <a:srgbClr val="D97706"/>
          </a:solidFill>
          <a:ln w="12700">
            <a:solidFill>
              <a:srgbClr val="D97706"/>
            </a:solidFill>
            <a:prstDash val="solid"/>
          </a:ln>
        </p:spPr>
      </p:sp>
      <p:sp>
        <p:nvSpPr>
          <p:cNvPr id="35" name="Text 33"/>
          <p:cNvSpPr/>
          <p:nvPr/>
        </p:nvSpPr>
        <p:spPr>
          <a:xfrm>
            <a:off x="8569234" y="2423160"/>
            <a:ext cx="1439527"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telemetry</a:t>
            </a:r>
            <a:endParaRPr lang="en-US" sz="1400" dirty="0"/>
          </a:p>
        </p:txBody>
      </p:sp>
      <p:sp>
        <p:nvSpPr>
          <p:cNvPr id="36" name="Text 34"/>
          <p:cNvSpPr/>
          <p:nvPr/>
        </p:nvSpPr>
        <p:spPr>
          <a:xfrm>
            <a:off x="9963041" y="2423160"/>
            <a:ext cx="256032" cy="777240"/>
          </a:xfrm>
          <a:prstGeom prst="rect">
            <a:avLst/>
          </a:prstGeom>
          <a:noFill/>
          <a:ln/>
        </p:spPr>
        <p:txBody>
          <a:bodyPr wrap="square" lIns="0" tIns="0" rIns="0" bIns="0" rtlCol="0" anchor="ctr"/>
          <a:lstStyle/>
          <a:p>
            <a:pPr algn="ctr" indent="0" marL="0">
              <a:buNone/>
            </a:pPr>
            <a:r>
              <a:rPr lang="en-US" sz="2200" b="1" dirty="0">
                <a:solidFill>
                  <a:srgbClr val="64748B"/>
                </a:solidFill>
                <a:latin typeface="Calibri" pitchFamily="34" charset="0"/>
                <a:ea typeface="Calibri" pitchFamily="34" charset="-122"/>
                <a:cs typeface="Calibri" pitchFamily="34" charset="-120"/>
              </a:rPr>
              <a:t>/</a:t>
            </a:r>
            <a:endParaRPr lang="en-US" sz="2200" dirty="0"/>
          </a:p>
        </p:txBody>
      </p:sp>
      <p:sp>
        <p:nvSpPr>
          <p:cNvPr id="37" name="Text 35"/>
          <p:cNvSpPr/>
          <p:nvPr/>
        </p:nvSpPr>
        <p:spPr>
          <a:xfrm>
            <a:off x="8432074" y="3246120"/>
            <a:ext cx="1713847" cy="274320"/>
          </a:xfrm>
          <a:prstGeom prst="rect">
            <a:avLst/>
          </a:prstGeom>
          <a:noFill/>
          <a:ln/>
        </p:spPr>
        <p:txBody>
          <a:bodyPr wrap="square" lIns="0" tIns="0" rIns="0" bIns="0" rtlCol="0" anchor="ctr"/>
          <a:lstStyle/>
          <a:p>
            <a:pPr algn="ctr" indent="0" marL="0">
              <a:buNone/>
            </a:pPr>
            <a:r>
              <a:rPr lang="en-US" sz="1000" b="1" spc="100" kern="0" dirty="0">
                <a:solidFill>
                  <a:srgbClr val="64748B"/>
                </a:solidFill>
                <a:latin typeface="Calibri" pitchFamily="34" charset="0"/>
                <a:ea typeface="Calibri" pitchFamily="34" charset="-122"/>
                <a:cs typeface="Calibri" pitchFamily="34" charset="-120"/>
              </a:rPr>
              <a:t>stream</a:t>
            </a:r>
            <a:endParaRPr lang="en-US" sz="1000" dirty="0"/>
          </a:p>
        </p:txBody>
      </p:sp>
      <p:sp>
        <p:nvSpPr>
          <p:cNvPr id="38" name="Text 36"/>
          <p:cNvSpPr/>
          <p:nvPr/>
        </p:nvSpPr>
        <p:spPr>
          <a:xfrm>
            <a:off x="8569234" y="2130552"/>
            <a:ext cx="1439527" cy="228600"/>
          </a:xfrm>
          <a:prstGeom prst="rect">
            <a:avLst/>
          </a:prstGeom>
          <a:noFill/>
          <a:ln/>
        </p:spPr>
        <p:txBody>
          <a:bodyPr wrap="square" lIns="0" tIns="0" rIns="0" bIns="0" rtlCol="0" anchor="ctr"/>
          <a:lstStyle/>
          <a:p>
            <a:pPr algn="ctr" indent="0" marL="0">
              <a:buNone/>
            </a:pPr>
            <a:r>
              <a:rPr lang="en-US" sz="900" b="1" dirty="0">
                <a:solidFill>
                  <a:srgbClr val="64748B"/>
                </a:solidFill>
                <a:latin typeface="Calibri" pitchFamily="34" charset="0"/>
                <a:ea typeface="Calibri" pitchFamily="34" charset="-122"/>
                <a:cs typeface="Calibri" pitchFamily="34" charset="-120"/>
              </a:rPr>
              <a:t>5</a:t>
            </a:r>
            <a:endParaRPr lang="en-US" sz="900" dirty="0"/>
          </a:p>
        </p:txBody>
      </p:sp>
      <p:sp>
        <p:nvSpPr>
          <p:cNvPr id="39" name="Shape 37"/>
          <p:cNvSpPr/>
          <p:nvPr/>
        </p:nvSpPr>
        <p:spPr>
          <a:xfrm>
            <a:off x="10173353" y="2423160"/>
            <a:ext cx="1439527" cy="777240"/>
          </a:xfrm>
          <a:prstGeom prst="roundRect">
            <a:avLst>
              <a:gd name="adj" fmla="val 11765"/>
            </a:avLst>
          </a:prstGeom>
          <a:solidFill>
            <a:srgbClr val="D97706"/>
          </a:solidFill>
          <a:ln w="12700">
            <a:solidFill>
              <a:srgbClr val="D97706"/>
            </a:solidFill>
            <a:prstDash val="solid"/>
          </a:ln>
        </p:spPr>
      </p:sp>
      <p:sp>
        <p:nvSpPr>
          <p:cNvPr id="40" name="Text 38"/>
          <p:cNvSpPr/>
          <p:nvPr/>
        </p:nvSpPr>
        <p:spPr>
          <a:xfrm>
            <a:off x="10173353" y="2423160"/>
            <a:ext cx="1439527"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{name}</a:t>
            </a:r>
            <a:endParaRPr lang="en-US" sz="1400" dirty="0"/>
          </a:p>
        </p:txBody>
      </p:sp>
      <p:sp>
        <p:nvSpPr>
          <p:cNvPr id="41" name="Text 39"/>
          <p:cNvSpPr/>
          <p:nvPr/>
        </p:nvSpPr>
        <p:spPr>
          <a:xfrm>
            <a:off x="10036193" y="3246120"/>
            <a:ext cx="1713847" cy="274320"/>
          </a:xfrm>
          <a:prstGeom prst="rect">
            <a:avLst/>
          </a:prstGeom>
          <a:noFill/>
          <a:ln/>
        </p:spPr>
        <p:txBody>
          <a:bodyPr wrap="square" lIns="0" tIns="0" rIns="0" bIns="0" rtlCol="0" anchor="ctr"/>
          <a:lstStyle/>
          <a:p>
            <a:pPr algn="ctr" indent="0" marL="0">
              <a:buNone/>
            </a:pPr>
            <a:r>
              <a:rPr lang="en-US" sz="1000" b="1" spc="100" kern="0" dirty="0">
                <a:solidFill>
                  <a:srgbClr val="64748B"/>
                </a:solidFill>
                <a:latin typeface="Calibri" pitchFamily="34" charset="0"/>
                <a:ea typeface="Calibri" pitchFamily="34" charset="-122"/>
                <a:cs typeface="Calibri" pitchFamily="34" charset="-120"/>
              </a:rPr>
              <a:t>variable</a:t>
            </a:r>
            <a:endParaRPr lang="en-US" sz="1000" dirty="0"/>
          </a:p>
        </p:txBody>
      </p:sp>
      <p:sp>
        <p:nvSpPr>
          <p:cNvPr id="42" name="Text 40"/>
          <p:cNvSpPr/>
          <p:nvPr/>
        </p:nvSpPr>
        <p:spPr>
          <a:xfrm>
            <a:off x="10173353" y="2130552"/>
            <a:ext cx="1439527" cy="228600"/>
          </a:xfrm>
          <a:prstGeom prst="rect">
            <a:avLst/>
          </a:prstGeom>
          <a:noFill/>
          <a:ln/>
        </p:spPr>
        <p:txBody>
          <a:bodyPr wrap="square" lIns="0" tIns="0" rIns="0" bIns="0" rtlCol="0" anchor="ctr"/>
          <a:lstStyle/>
          <a:p>
            <a:pPr algn="ctr" indent="0" marL="0">
              <a:buNone/>
            </a:pPr>
            <a:r>
              <a:rPr lang="en-US" sz="900" b="1" dirty="0">
                <a:solidFill>
                  <a:srgbClr val="64748B"/>
                </a:solidFill>
                <a:latin typeface="Calibri" pitchFamily="34" charset="0"/>
                <a:ea typeface="Calibri" pitchFamily="34" charset="-122"/>
                <a:cs typeface="Calibri" pitchFamily="34" charset="-120"/>
              </a:rPr>
              <a:t>6</a:t>
            </a:r>
            <a:endParaRPr lang="en-US" sz="900" dirty="0"/>
          </a:p>
        </p:txBody>
      </p:sp>
      <p:sp>
        <p:nvSpPr>
          <p:cNvPr id="43" name="Text 41"/>
          <p:cNvSpPr/>
          <p:nvPr/>
        </p:nvSpPr>
        <p:spPr>
          <a:xfrm>
            <a:off x="548640" y="3977640"/>
            <a:ext cx="7315200" cy="274320"/>
          </a:xfrm>
          <a:prstGeom prst="rect">
            <a:avLst/>
          </a:prstGeom>
          <a:noFill/>
          <a:ln/>
        </p:spPr>
        <p:txBody>
          <a:bodyPr wrap="square" lIns="0" tIns="0" rIns="0" bIns="0" rtlCol="0" anchor="ctr"/>
          <a:lstStyle/>
          <a:p>
            <a:pPr indent="0" marL="0">
              <a:buNone/>
            </a:pPr>
            <a:r>
              <a:rPr lang="en-US" sz="1000" b="1" spc="300" kern="0" dirty="0">
                <a:solidFill>
                  <a:srgbClr val="0E7490"/>
                </a:solidFill>
                <a:latin typeface="Calibri" pitchFamily="34" charset="0"/>
                <a:ea typeface="Calibri" pitchFamily="34" charset="-122"/>
                <a:cs typeface="Calibri" pitchFamily="34" charset="-120"/>
              </a:rPr>
              <a:t>EXAMPLE — IES Simarro classroom</a:t>
            </a:r>
            <a:endParaRPr lang="en-US" sz="1000" dirty="0"/>
          </a:p>
        </p:txBody>
      </p:sp>
      <p:sp>
        <p:nvSpPr>
          <p:cNvPr id="44" name="Shape 42"/>
          <p:cNvSpPr/>
          <p:nvPr/>
        </p:nvSpPr>
        <p:spPr>
          <a:xfrm>
            <a:off x="548640" y="4297680"/>
            <a:ext cx="11064240" cy="640080"/>
          </a:xfrm>
          <a:prstGeom prst="rect">
            <a:avLst/>
          </a:prstGeom>
          <a:solidFill>
            <a:srgbClr val="0A1929"/>
          </a:solidFill>
          <a:ln w="12700">
            <a:solidFill>
              <a:srgbClr val="0A1929"/>
            </a:solidFill>
            <a:prstDash val="solid"/>
          </a:ln>
        </p:spPr>
      </p:sp>
      <p:sp>
        <p:nvSpPr>
          <p:cNvPr id="45" name="Text 43"/>
          <p:cNvSpPr/>
          <p:nvPr/>
        </p:nvSpPr>
        <p:spPr>
          <a:xfrm>
            <a:off x="548640" y="4297680"/>
            <a:ext cx="11064240" cy="640080"/>
          </a:xfrm>
          <a:prstGeom prst="rect">
            <a:avLst/>
          </a:prstGeom>
          <a:noFill/>
          <a:ln/>
        </p:spPr>
        <p:txBody>
          <a:bodyPr wrap="square" lIns="0" tIns="0" rIns="0" bIns="0" rtlCol="0" anchor="ctr"/>
          <a:lstStyle/>
          <a:p>
            <a:pPr algn="ctr" indent="0" marL="0">
              <a:buNone/>
            </a:pPr>
            <a:r>
              <a:rPr lang="en-US" sz="1600" dirty="0">
                <a:solidFill>
                  <a:srgbClr val="22D3EE"/>
                </a:solidFill>
                <a:latin typeface="Consolas" pitchFamily="34" charset="0"/>
                <a:ea typeface="Consolas" pitchFamily="34" charset="-122"/>
                <a:cs typeface="Consolas" pitchFamily="34" charset="-120"/>
              </a:rPr>
              <a:t>captia/prod/bms_classrooms/ies_simarro/AULA01/telemetry/co2</a:t>
            </a:r>
            <a:endParaRPr lang="en-US" sz="1600" dirty="0"/>
          </a:p>
        </p:txBody>
      </p:sp>
      <p:sp>
        <p:nvSpPr>
          <p:cNvPr id="46" name="Text 44"/>
          <p:cNvSpPr/>
          <p:nvPr/>
        </p:nvSpPr>
        <p:spPr>
          <a:xfrm>
            <a:off x="548640" y="5074920"/>
            <a:ext cx="7315200" cy="274320"/>
          </a:xfrm>
          <a:prstGeom prst="rect">
            <a:avLst/>
          </a:prstGeom>
          <a:noFill/>
          <a:ln/>
        </p:spPr>
        <p:txBody>
          <a:bodyPr wrap="square" lIns="0" tIns="0" rIns="0" bIns="0" rtlCol="0" anchor="ctr"/>
          <a:lstStyle/>
          <a:p>
            <a:pPr indent="0" marL="0">
              <a:buNone/>
            </a:pPr>
            <a:r>
              <a:rPr lang="en-US" sz="1000" b="1" spc="200" kern="0" dirty="0">
                <a:solidFill>
                  <a:srgbClr val="64748B"/>
                </a:solidFill>
                <a:latin typeface="Calibri" pitchFamily="34" charset="0"/>
                <a:ea typeface="Calibri" pitchFamily="34" charset="-122"/>
                <a:cs typeface="Calibri" pitchFamily="34" charset="-120"/>
              </a:rPr>
              <a:t>STREAM (segment 5) — five canonical values:</a:t>
            </a:r>
            <a:endParaRPr lang="en-US" sz="1000" dirty="0"/>
          </a:p>
        </p:txBody>
      </p:sp>
      <p:sp>
        <p:nvSpPr>
          <p:cNvPr id="47" name="Shape 45"/>
          <p:cNvSpPr/>
          <p:nvPr/>
        </p:nvSpPr>
        <p:spPr>
          <a:xfrm>
            <a:off x="548640" y="5440680"/>
            <a:ext cx="2121408" cy="1005840"/>
          </a:xfrm>
          <a:prstGeom prst="rect">
            <a:avLst/>
          </a:prstGeom>
          <a:solidFill>
            <a:srgbClr val="FFFFFF"/>
          </a:solidFill>
          <a:ln w="12700">
            <a:solidFill>
              <a:srgbClr val="E2E8F0"/>
            </a:solidFill>
            <a:prstDash val="solid"/>
          </a:ln>
        </p:spPr>
      </p:sp>
      <p:sp>
        <p:nvSpPr>
          <p:cNvPr id="48" name="Text 46"/>
          <p:cNvSpPr/>
          <p:nvPr/>
        </p:nvSpPr>
        <p:spPr>
          <a:xfrm>
            <a:off x="685800" y="5532120"/>
            <a:ext cx="1828800" cy="365760"/>
          </a:xfrm>
          <a:prstGeom prst="rect">
            <a:avLst/>
          </a:prstGeom>
          <a:noFill/>
          <a:ln/>
        </p:spPr>
        <p:txBody>
          <a:bodyPr wrap="square" lIns="0" tIns="0" rIns="0" bIns="0" rtlCol="0" anchor="ctr"/>
          <a:lstStyle/>
          <a:p>
            <a:pPr indent="0" marL="0">
              <a:buNone/>
            </a:pPr>
            <a:r>
              <a:rPr lang="en-US" sz="1400" b="1" dirty="0">
                <a:solidFill>
                  <a:srgbClr val="D97706"/>
                </a:solidFill>
                <a:latin typeface="Consolas" pitchFamily="34" charset="0"/>
                <a:ea typeface="Consolas" pitchFamily="34" charset="-122"/>
                <a:cs typeface="Consolas" pitchFamily="34" charset="-120"/>
              </a:rPr>
              <a:t>telemetry</a:t>
            </a:r>
            <a:endParaRPr lang="en-US" sz="1400" dirty="0"/>
          </a:p>
        </p:txBody>
      </p:sp>
      <p:sp>
        <p:nvSpPr>
          <p:cNvPr id="49" name="Text 47"/>
          <p:cNvSpPr/>
          <p:nvPr/>
        </p:nvSpPr>
        <p:spPr>
          <a:xfrm>
            <a:off x="685800" y="5852160"/>
            <a:ext cx="1828800" cy="548640"/>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Sensor readings / device state</a:t>
            </a:r>
            <a:endParaRPr lang="en-US" sz="1050" dirty="0"/>
          </a:p>
        </p:txBody>
      </p:sp>
      <p:sp>
        <p:nvSpPr>
          <p:cNvPr id="50" name="Shape 48"/>
          <p:cNvSpPr/>
          <p:nvPr/>
        </p:nvSpPr>
        <p:spPr>
          <a:xfrm>
            <a:off x="2761488" y="5440680"/>
            <a:ext cx="2121408" cy="1005840"/>
          </a:xfrm>
          <a:prstGeom prst="rect">
            <a:avLst/>
          </a:prstGeom>
          <a:solidFill>
            <a:srgbClr val="FFFFFF"/>
          </a:solidFill>
          <a:ln w="12700">
            <a:solidFill>
              <a:srgbClr val="E2E8F0"/>
            </a:solidFill>
            <a:prstDash val="solid"/>
          </a:ln>
        </p:spPr>
      </p:sp>
      <p:sp>
        <p:nvSpPr>
          <p:cNvPr id="51" name="Text 49"/>
          <p:cNvSpPr/>
          <p:nvPr/>
        </p:nvSpPr>
        <p:spPr>
          <a:xfrm>
            <a:off x="2898648" y="5532120"/>
            <a:ext cx="1828800" cy="365760"/>
          </a:xfrm>
          <a:prstGeom prst="rect">
            <a:avLst/>
          </a:prstGeom>
          <a:noFill/>
          <a:ln/>
        </p:spPr>
        <p:txBody>
          <a:bodyPr wrap="square" lIns="0" tIns="0" rIns="0" bIns="0" rtlCol="0" anchor="ctr"/>
          <a:lstStyle/>
          <a:p>
            <a:pPr indent="0" marL="0">
              <a:buNone/>
            </a:pPr>
            <a:r>
              <a:rPr lang="en-US" sz="1400" b="1" dirty="0">
                <a:solidFill>
                  <a:srgbClr val="D97706"/>
                </a:solidFill>
                <a:latin typeface="Consolas" pitchFamily="34" charset="0"/>
                <a:ea typeface="Consolas" pitchFamily="34" charset="-122"/>
                <a:cs typeface="Consolas" pitchFamily="34" charset="-120"/>
              </a:rPr>
              <a:t>cmd</a:t>
            </a:r>
            <a:endParaRPr lang="en-US" sz="1400" dirty="0"/>
          </a:p>
        </p:txBody>
      </p:sp>
      <p:sp>
        <p:nvSpPr>
          <p:cNvPr id="52" name="Text 50"/>
          <p:cNvSpPr/>
          <p:nvPr/>
        </p:nvSpPr>
        <p:spPr>
          <a:xfrm>
            <a:off x="2898648" y="5852160"/>
            <a:ext cx="1828800" cy="548640"/>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Commands issued by adapter</a:t>
            </a:r>
            <a:endParaRPr lang="en-US" sz="1050" dirty="0"/>
          </a:p>
        </p:txBody>
      </p:sp>
      <p:sp>
        <p:nvSpPr>
          <p:cNvPr id="53" name="Shape 51"/>
          <p:cNvSpPr/>
          <p:nvPr/>
        </p:nvSpPr>
        <p:spPr>
          <a:xfrm>
            <a:off x="4974336" y="5440680"/>
            <a:ext cx="2121408" cy="1005840"/>
          </a:xfrm>
          <a:prstGeom prst="rect">
            <a:avLst/>
          </a:prstGeom>
          <a:solidFill>
            <a:srgbClr val="FFFFFF"/>
          </a:solidFill>
          <a:ln w="12700">
            <a:solidFill>
              <a:srgbClr val="E2E8F0"/>
            </a:solidFill>
            <a:prstDash val="solid"/>
          </a:ln>
        </p:spPr>
      </p:sp>
      <p:sp>
        <p:nvSpPr>
          <p:cNvPr id="54" name="Text 52"/>
          <p:cNvSpPr/>
          <p:nvPr/>
        </p:nvSpPr>
        <p:spPr>
          <a:xfrm>
            <a:off x="5111496" y="5532120"/>
            <a:ext cx="1828800" cy="365760"/>
          </a:xfrm>
          <a:prstGeom prst="rect">
            <a:avLst/>
          </a:prstGeom>
          <a:noFill/>
          <a:ln/>
        </p:spPr>
        <p:txBody>
          <a:bodyPr wrap="square" lIns="0" tIns="0" rIns="0" bIns="0" rtlCol="0" anchor="ctr"/>
          <a:lstStyle/>
          <a:p>
            <a:pPr indent="0" marL="0">
              <a:buNone/>
            </a:pPr>
            <a:r>
              <a:rPr lang="en-US" sz="1400" b="1" dirty="0">
                <a:solidFill>
                  <a:srgbClr val="D97706"/>
                </a:solidFill>
                <a:latin typeface="Consolas" pitchFamily="34" charset="0"/>
                <a:ea typeface="Consolas" pitchFamily="34" charset="-122"/>
                <a:cs typeface="Consolas" pitchFamily="34" charset="-120"/>
              </a:rPr>
              <a:t>ack</a:t>
            </a:r>
            <a:endParaRPr lang="en-US" sz="1400" dirty="0"/>
          </a:p>
        </p:txBody>
      </p:sp>
      <p:sp>
        <p:nvSpPr>
          <p:cNvPr id="55" name="Text 53"/>
          <p:cNvSpPr/>
          <p:nvPr/>
        </p:nvSpPr>
        <p:spPr>
          <a:xfrm>
            <a:off x="5111496" y="5852160"/>
            <a:ext cx="1828800" cy="548640"/>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Device acknowledgment</a:t>
            </a:r>
            <a:endParaRPr lang="en-US" sz="1050" dirty="0"/>
          </a:p>
        </p:txBody>
      </p:sp>
      <p:sp>
        <p:nvSpPr>
          <p:cNvPr id="56" name="Shape 54"/>
          <p:cNvSpPr/>
          <p:nvPr/>
        </p:nvSpPr>
        <p:spPr>
          <a:xfrm>
            <a:off x="7187184" y="5440680"/>
            <a:ext cx="2121408" cy="1005840"/>
          </a:xfrm>
          <a:prstGeom prst="rect">
            <a:avLst/>
          </a:prstGeom>
          <a:solidFill>
            <a:srgbClr val="FFFFFF"/>
          </a:solidFill>
          <a:ln w="12700">
            <a:solidFill>
              <a:srgbClr val="E2E8F0"/>
            </a:solidFill>
            <a:prstDash val="solid"/>
          </a:ln>
        </p:spPr>
      </p:sp>
      <p:sp>
        <p:nvSpPr>
          <p:cNvPr id="57" name="Text 55"/>
          <p:cNvSpPr/>
          <p:nvPr/>
        </p:nvSpPr>
        <p:spPr>
          <a:xfrm>
            <a:off x="7324344" y="5532120"/>
            <a:ext cx="1828800" cy="365760"/>
          </a:xfrm>
          <a:prstGeom prst="rect">
            <a:avLst/>
          </a:prstGeom>
          <a:noFill/>
          <a:ln/>
        </p:spPr>
        <p:txBody>
          <a:bodyPr wrap="square" lIns="0" tIns="0" rIns="0" bIns="0" rtlCol="0" anchor="ctr"/>
          <a:lstStyle/>
          <a:p>
            <a:pPr indent="0" marL="0">
              <a:buNone/>
            </a:pPr>
            <a:r>
              <a:rPr lang="en-US" sz="1400" b="1" dirty="0">
                <a:solidFill>
                  <a:srgbClr val="D97706"/>
                </a:solidFill>
                <a:latin typeface="Consolas" pitchFamily="34" charset="0"/>
                <a:ea typeface="Consolas" pitchFamily="34" charset="-122"/>
                <a:cs typeface="Consolas" pitchFamily="34" charset="-120"/>
              </a:rPr>
              <a:t>state</a:t>
            </a:r>
            <a:endParaRPr lang="en-US" sz="1400" dirty="0"/>
          </a:p>
        </p:txBody>
      </p:sp>
      <p:sp>
        <p:nvSpPr>
          <p:cNvPr id="58" name="Text 56"/>
          <p:cNvSpPr/>
          <p:nvPr/>
        </p:nvSpPr>
        <p:spPr>
          <a:xfrm>
            <a:off x="7324344" y="5852160"/>
            <a:ext cx="1828800" cy="548640"/>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Device state updates</a:t>
            </a:r>
            <a:endParaRPr lang="en-US" sz="1050" dirty="0"/>
          </a:p>
        </p:txBody>
      </p:sp>
      <p:sp>
        <p:nvSpPr>
          <p:cNvPr id="59" name="Shape 57"/>
          <p:cNvSpPr/>
          <p:nvPr/>
        </p:nvSpPr>
        <p:spPr>
          <a:xfrm>
            <a:off x="9400032" y="5440680"/>
            <a:ext cx="2121408" cy="1005840"/>
          </a:xfrm>
          <a:prstGeom prst="rect">
            <a:avLst/>
          </a:prstGeom>
          <a:solidFill>
            <a:srgbClr val="FFFFFF"/>
          </a:solidFill>
          <a:ln w="12700">
            <a:solidFill>
              <a:srgbClr val="E2E8F0"/>
            </a:solidFill>
            <a:prstDash val="solid"/>
          </a:ln>
        </p:spPr>
      </p:sp>
      <p:sp>
        <p:nvSpPr>
          <p:cNvPr id="60" name="Text 58"/>
          <p:cNvSpPr/>
          <p:nvPr/>
        </p:nvSpPr>
        <p:spPr>
          <a:xfrm>
            <a:off x="9537192" y="5532120"/>
            <a:ext cx="1828800" cy="365760"/>
          </a:xfrm>
          <a:prstGeom prst="rect">
            <a:avLst/>
          </a:prstGeom>
          <a:noFill/>
          <a:ln/>
        </p:spPr>
        <p:txBody>
          <a:bodyPr wrap="square" lIns="0" tIns="0" rIns="0" bIns="0" rtlCol="0" anchor="ctr"/>
          <a:lstStyle/>
          <a:p>
            <a:pPr indent="0" marL="0">
              <a:buNone/>
            </a:pPr>
            <a:r>
              <a:rPr lang="en-US" sz="1400" b="1" dirty="0">
                <a:solidFill>
                  <a:srgbClr val="D97706"/>
                </a:solidFill>
                <a:latin typeface="Consolas" pitchFamily="34" charset="0"/>
                <a:ea typeface="Consolas" pitchFamily="34" charset="-122"/>
                <a:cs typeface="Consolas" pitchFamily="34" charset="-120"/>
              </a:rPr>
              <a:t>event</a:t>
            </a:r>
            <a:endParaRPr lang="en-US" sz="1400" dirty="0"/>
          </a:p>
        </p:txBody>
      </p:sp>
      <p:sp>
        <p:nvSpPr>
          <p:cNvPr id="61" name="Text 59"/>
          <p:cNvSpPr/>
          <p:nvPr/>
        </p:nvSpPr>
        <p:spPr>
          <a:xfrm>
            <a:off x="9537192" y="5852160"/>
            <a:ext cx="1828800" cy="548640"/>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Platform events (cmd_authorized, errors)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lIns="0" tIns="0" rIns="0" bIns="0" rtlCol="0" anchor="ctr"/>
          <a:lstStyle/>
          <a:p>
            <a:pPr indent="0" marL="0">
              <a:buNone/>
            </a:pPr>
            <a:r>
              <a:rPr lang="en-US" sz="1100" b="1" spc="400" kern="0" dirty="0">
                <a:solidFill>
                  <a:srgbClr val="22D3EE"/>
                </a:solidFill>
                <a:latin typeface="Calibri" pitchFamily="34" charset="0"/>
                <a:ea typeface="Calibri" pitchFamily="34" charset="-122"/>
                <a:cs typeface="Calibri" pitchFamily="34" charset="-120"/>
              </a:rPr>
              <a:t>05 · CONTRACT</a:t>
            </a:r>
            <a:endParaRPr lang="en-US" sz="1100" dirty="0"/>
          </a:p>
        </p:txBody>
      </p:sp>
      <p:sp>
        <p:nvSpPr>
          <p:cNvPr id="3" name="Text 1"/>
          <p:cNvSpPr/>
          <p:nvPr/>
        </p:nvSpPr>
        <p:spPr>
          <a:xfrm>
            <a:off x="548640" y="548640"/>
            <a:ext cx="10058400" cy="640080"/>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MQTT payload schema</a:t>
            </a:r>
            <a:endParaRPr lang="en-US" sz="3000" dirty="0"/>
          </a:p>
        </p:txBody>
      </p:sp>
      <p:sp>
        <p:nvSpPr>
          <p:cNvPr id="4" name="Text 2"/>
          <p:cNvSpPr/>
          <p:nvPr/>
        </p:nvSpPr>
        <p:spPr>
          <a:xfrm>
            <a:off x="11094415"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 / 14</a:t>
            </a:r>
            <a:endParaRPr lang="en-US" sz="900" dirty="0"/>
          </a:p>
        </p:txBody>
      </p:sp>
      <p:sp>
        <p:nvSpPr>
          <p:cNvPr id="5" name="Text 3"/>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CAPTIA Technology · Partner Integration Guide</a:t>
            </a:r>
            <a:endParaRPr lang="en-US" sz="900" dirty="0"/>
          </a:p>
        </p:txBody>
      </p:sp>
      <p:sp>
        <p:nvSpPr>
          <p:cNvPr id="6" name="Shape 4"/>
          <p:cNvSpPr/>
          <p:nvPr/>
        </p:nvSpPr>
        <p:spPr>
          <a:xfrm>
            <a:off x="11688775" y="320040"/>
            <a:ext cx="164592" cy="164592"/>
          </a:xfrm>
          <a:prstGeom prst="rect">
            <a:avLst/>
          </a:prstGeom>
          <a:solidFill>
            <a:srgbClr val="22D3EE"/>
          </a:solidFill>
          <a:ln w="12700">
            <a:solidFill>
              <a:srgbClr val="22D3EE"/>
            </a:solidFill>
            <a:prstDash val="solid"/>
          </a:ln>
        </p:spPr>
      </p:sp>
      <p:sp>
        <p:nvSpPr>
          <p:cNvPr id="7" name="Shape 5"/>
          <p:cNvSpPr/>
          <p:nvPr/>
        </p:nvSpPr>
        <p:spPr>
          <a:xfrm>
            <a:off x="11917375" y="320040"/>
            <a:ext cx="164592" cy="164592"/>
          </a:xfrm>
          <a:prstGeom prst="rect">
            <a:avLst/>
          </a:prstGeom>
          <a:solidFill>
            <a:srgbClr val="D97706"/>
          </a:solidFill>
          <a:ln w="12700">
            <a:solidFill>
              <a:srgbClr val="D97706"/>
            </a:solidFill>
            <a:prstDash val="solid"/>
          </a:ln>
        </p:spPr>
      </p:sp>
      <p:sp>
        <p:nvSpPr>
          <p:cNvPr id="8" name="Text 6"/>
          <p:cNvSpPr/>
          <p:nvPr/>
        </p:nvSpPr>
        <p:spPr>
          <a:xfrm>
            <a:off x="548640" y="1417320"/>
            <a:ext cx="10972800" cy="640080"/>
          </a:xfrm>
          <a:prstGeom prst="rect">
            <a:avLst/>
          </a:prstGeom>
          <a:noFill/>
          <a:ln/>
        </p:spPr>
        <p:txBody>
          <a:bodyPr wrap="square" lIns="0" tIns="0" rIns="0" bIns="0" rtlCol="0" anchor="ctr"/>
          <a:lstStyle/>
          <a:p>
            <a:pPr indent="0" marL="0">
              <a:buNone/>
            </a:pPr>
            <a:r>
              <a:rPr lang="en-US" sz="1300" i="1" dirty="0">
                <a:solidFill>
                  <a:srgbClr val="0F172A"/>
                </a:solidFill>
                <a:latin typeface="Calibri" pitchFamily="34" charset="0"/>
                <a:ea typeface="Calibri" pitchFamily="34" charset="-122"/>
                <a:cs typeface="Calibri" pitchFamily="34" charset="-120"/>
              </a:rPr>
              <a:t>The payload is JSON. Telegraf forces fieldpass=["value"] — anything else is silently dropped. Multi-channel sensors must emit one MQTT message per channel with its own scalar value.</a:t>
            </a:r>
            <a:endParaRPr lang="en-US" sz="1300" dirty="0"/>
          </a:p>
        </p:txBody>
      </p:sp>
      <p:sp>
        <p:nvSpPr>
          <p:cNvPr id="9" name="Shape 7"/>
          <p:cNvSpPr/>
          <p:nvPr/>
        </p:nvSpPr>
        <p:spPr>
          <a:xfrm>
            <a:off x="548640" y="2286000"/>
            <a:ext cx="5669280" cy="3657600"/>
          </a:xfrm>
          <a:prstGeom prst="rect">
            <a:avLst/>
          </a:prstGeom>
          <a:solidFill>
            <a:srgbClr val="0A1929"/>
          </a:solidFill>
          <a:ln w="12700">
            <a:solidFill>
              <a:srgbClr val="0A1929"/>
            </a:solidFill>
            <a:prstDash val="solid"/>
          </a:ln>
        </p:spPr>
      </p:sp>
      <p:sp>
        <p:nvSpPr>
          <p:cNvPr id="10" name="Shape 8"/>
          <p:cNvSpPr/>
          <p:nvPr/>
        </p:nvSpPr>
        <p:spPr>
          <a:xfrm>
            <a:off x="548640" y="2286000"/>
            <a:ext cx="5669280" cy="365760"/>
          </a:xfrm>
          <a:prstGeom prst="rect">
            <a:avLst/>
          </a:prstGeom>
          <a:solidFill>
            <a:srgbClr val="1E293B"/>
          </a:solidFill>
          <a:ln w="12700">
            <a:solidFill>
              <a:srgbClr val="1E293B"/>
            </a:solidFill>
            <a:prstDash val="solid"/>
          </a:ln>
        </p:spPr>
      </p:sp>
      <p:sp>
        <p:nvSpPr>
          <p:cNvPr id="11" name="Text 9"/>
          <p:cNvSpPr/>
          <p:nvPr/>
        </p:nvSpPr>
        <p:spPr>
          <a:xfrm>
            <a:off x="731520" y="2286000"/>
            <a:ext cx="5303520" cy="365760"/>
          </a:xfrm>
          <a:prstGeom prst="rect">
            <a:avLst/>
          </a:prstGeom>
          <a:noFill/>
          <a:ln/>
        </p:spPr>
        <p:txBody>
          <a:bodyPr wrap="square" lIns="0" tIns="0" rIns="0" bIns="0" rtlCol="0" anchor="ctr"/>
          <a:lstStyle/>
          <a:p>
            <a:pPr indent="0" marL="0">
              <a:buNone/>
            </a:pPr>
            <a:r>
              <a:rPr lang="en-US" sz="1100" dirty="0">
                <a:solidFill>
                  <a:srgbClr val="94A3B8"/>
                </a:solidFill>
                <a:latin typeface="Consolas" pitchFamily="34" charset="0"/>
                <a:ea typeface="Consolas" pitchFamily="34" charset="-122"/>
                <a:cs typeface="Consolas" pitchFamily="34" charset="-120"/>
              </a:rPr>
              <a:t>payload.json — telemetry stream</a:t>
            </a:r>
            <a:endParaRPr lang="en-US" sz="1100" dirty="0"/>
          </a:p>
        </p:txBody>
      </p:sp>
      <p:sp>
        <p:nvSpPr>
          <p:cNvPr id="12" name="Shape 10"/>
          <p:cNvSpPr/>
          <p:nvPr/>
        </p:nvSpPr>
        <p:spPr>
          <a:xfrm>
            <a:off x="5349240" y="2404872"/>
            <a:ext cx="128016" cy="128016"/>
          </a:xfrm>
          <a:prstGeom prst="ellipse">
            <a:avLst/>
          </a:prstGeom>
          <a:solidFill>
            <a:srgbClr val="EF4444"/>
          </a:solidFill>
          <a:ln w="12700">
            <a:solidFill>
              <a:srgbClr val="EF4444"/>
            </a:solidFill>
            <a:prstDash val="solid"/>
          </a:ln>
        </p:spPr>
      </p:sp>
      <p:sp>
        <p:nvSpPr>
          <p:cNvPr id="13" name="Shape 11"/>
          <p:cNvSpPr/>
          <p:nvPr/>
        </p:nvSpPr>
        <p:spPr>
          <a:xfrm>
            <a:off x="5577840" y="2404872"/>
            <a:ext cx="128016" cy="128016"/>
          </a:xfrm>
          <a:prstGeom prst="ellipse">
            <a:avLst/>
          </a:prstGeom>
          <a:solidFill>
            <a:srgbClr val="F59E0B"/>
          </a:solidFill>
          <a:ln w="12700">
            <a:solidFill>
              <a:srgbClr val="F59E0B"/>
            </a:solidFill>
            <a:prstDash val="solid"/>
          </a:ln>
        </p:spPr>
      </p:sp>
      <p:sp>
        <p:nvSpPr>
          <p:cNvPr id="14" name="Shape 12"/>
          <p:cNvSpPr/>
          <p:nvPr/>
        </p:nvSpPr>
        <p:spPr>
          <a:xfrm>
            <a:off x="5806440" y="2404872"/>
            <a:ext cx="128016" cy="128016"/>
          </a:xfrm>
          <a:prstGeom prst="ellipse">
            <a:avLst/>
          </a:prstGeom>
          <a:solidFill>
            <a:srgbClr val="10B981"/>
          </a:solidFill>
          <a:ln w="12700">
            <a:solidFill>
              <a:srgbClr val="10B981"/>
            </a:solidFill>
            <a:prstDash val="solid"/>
          </a:ln>
        </p:spPr>
      </p:sp>
      <p:sp>
        <p:nvSpPr>
          <p:cNvPr id="15" name="Text 13"/>
          <p:cNvSpPr/>
          <p:nvPr/>
        </p:nvSpPr>
        <p:spPr>
          <a:xfrm>
            <a:off x="777240" y="2788920"/>
            <a:ext cx="5303520" cy="3063240"/>
          </a:xfrm>
          <a:prstGeom prst="rect">
            <a:avLst/>
          </a:prstGeom>
          <a:noFill/>
          <a:ln/>
        </p:spPr>
        <p:txBody>
          <a:bodyPr wrap="square" lIns="0" tIns="0" rIns="0" bIns="0" rtlCol="0" anchor="t"/>
          <a:lstStyle/>
          <a:p>
            <a:pPr indent="0" marL="0">
              <a:buNone/>
            </a:pPr>
            <a:r>
              <a:rPr lang="en-US" sz="1400" dirty="0">
                <a:solidFill>
                  <a:srgbClr val="F1F5F9"/>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rgbClr val="94A3B8"/>
                </a:solidFill>
                <a:latin typeface="Consolas" pitchFamily="34" charset="0"/>
                <a:ea typeface="Consolas" pitchFamily="34" charset="-122"/>
                <a:cs typeface="Consolas" pitchFamily="34" charset="-120"/>
              </a:rPr>
              <a:t>  "value": </a:t>
            </a:r>
            <a:pPr indent="0" marL="0">
              <a:buNone/>
            </a:pPr>
            <a:r>
              <a:rPr lang="en-US" sz="1400" dirty="0">
                <a:solidFill>
                  <a:srgbClr val="22D3EE"/>
                </a:solidFill>
                <a:latin typeface="Consolas" pitchFamily="34" charset="0"/>
                <a:ea typeface="Consolas" pitchFamily="34" charset="-122"/>
                <a:cs typeface="Consolas" pitchFamily="34" charset="-120"/>
              </a:rPr>
              <a:t>23.5,</a:t>
            </a:r>
            <a:endParaRPr lang="en-US" sz="1400" dirty="0"/>
          </a:p>
          <a:p>
            <a:pPr indent="0" marL="0">
              <a:buNone/>
            </a:pPr>
            <a:r>
              <a:rPr lang="en-US" sz="1400" dirty="0">
                <a:solidFill>
                  <a:srgbClr val="94A3B8"/>
                </a:solidFill>
                <a:latin typeface="Consolas" pitchFamily="34" charset="0"/>
                <a:ea typeface="Consolas" pitchFamily="34" charset="-122"/>
                <a:cs typeface="Consolas" pitchFamily="34" charset="-120"/>
              </a:rPr>
              <a:t>  "ts_ns": </a:t>
            </a:r>
            <a:pPr indent="0" marL="0">
              <a:buNone/>
            </a:pPr>
            <a:r>
              <a:rPr lang="en-US" sz="1400" dirty="0">
                <a:solidFill>
                  <a:srgbClr val="D97706"/>
                </a:solidFill>
                <a:latin typeface="Consolas" pitchFamily="34" charset="0"/>
                <a:ea typeface="Consolas" pitchFamily="34" charset="-122"/>
                <a:cs typeface="Consolas" pitchFamily="34" charset="-120"/>
              </a:rPr>
              <a:t>1738749600000000000</a:t>
            </a:r>
            <a:endParaRPr lang="en-US" sz="1400" dirty="0"/>
          </a:p>
          <a:p>
            <a:pPr indent="0" marL="0">
              <a:buNone/>
            </a:pPr>
            <a:r>
              <a:rPr lang="en-US" sz="1400" dirty="0">
                <a:solidFill>
                  <a:srgbClr val="F1F5F9"/>
                </a:solidFill>
                <a:latin typeface="Consolas" pitchFamily="34" charset="0"/>
                <a:ea typeface="Consolas" pitchFamily="34" charset="-122"/>
                <a:cs typeface="Consolas" pitchFamily="34" charset="-120"/>
              </a:rPr>
              <a:t>}</a:t>
            </a:r>
            <a:endParaRPr lang="en-US" sz="1400" dirty="0"/>
          </a:p>
          <a:p>
            <a:pPr indent="0" marL="0">
              <a:buNone/>
            </a:pPr>
            <a:endParaRPr lang="en-US" sz="1400" dirty="0"/>
          </a:p>
          <a:p>
            <a:pPr indent="0" marL="0">
              <a:buNone/>
            </a:pPr>
            <a:r>
              <a:rPr lang="en-US" sz="1400" i="1" dirty="0">
                <a:solidFill>
                  <a:srgbClr val="64748B"/>
                </a:solidFill>
                <a:latin typeface="Consolas" pitchFamily="34" charset="0"/>
                <a:ea typeface="Consolas" pitchFamily="34" charset="-122"/>
                <a:cs typeface="Consolas" pitchFamily="34" charset="-120"/>
              </a:rPr>
              <a:t>// Optional fields — any other key is dropped:</a:t>
            </a:r>
            <a:endParaRPr lang="en-US" sz="1400" dirty="0"/>
          </a:p>
          <a:p>
            <a:pPr indent="0" marL="0">
              <a:buNone/>
            </a:pPr>
            <a:r>
              <a:rPr lang="en-US" sz="1400" i="1" dirty="0">
                <a:solidFill>
                  <a:srgbClr val="64748B"/>
                </a:solidFill>
                <a:latin typeface="Consolas" pitchFamily="34" charset="0"/>
                <a:ea typeface="Consolas" pitchFamily="34" charset="-122"/>
                <a:cs typeface="Consolas" pitchFamily="34" charset="-120"/>
              </a:rPr>
              <a:t>//   value     → numeric (float)  REQUIRED</a:t>
            </a:r>
            <a:endParaRPr lang="en-US" sz="1400" dirty="0"/>
          </a:p>
          <a:p>
            <a:pPr indent="0" marL="0">
              <a:buNone/>
            </a:pPr>
            <a:r>
              <a:rPr lang="en-US" sz="1400" i="1" dirty="0">
                <a:solidFill>
                  <a:srgbClr val="64748B"/>
                </a:solidFill>
                <a:latin typeface="Consolas" pitchFamily="34" charset="0"/>
                <a:ea typeface="Consolas" pitchFamily="34" charset="-122"/>
                <a:cs typeface="Consolas" pitchFamily="34" charset="-120"/>
              </a:rPr>
              <a:t>//   ts_ns     → epoch nanoseconds RECOMMENDED</a:t>
            </a:r>
            <a:endParaRPr lang="en-US" sz="1400" dirty="0"/>
          </a:p>
          <a:p>
            <a:pPr indent="0" marL="0">
              <a:buNone/>
            </a:pPr>
            <a:r>
              <a:rPr lang="en-US" sz="1400" i="1" dirty="0">
                <a:solidFill>
                  <a:srgbClr val="64748B"/>
                </a:solidFill>
                <a:latin typeface="Consolas" pitchFamily="34" charset="0"/>
                <a:ea typeface="Consolas" pitchFamily="34" charset="-122"/>
                <a:cs typeface="Consolas" pitchFamily="34" charset="-120"/>
              </a:rPr>
              <a:t>//   (omit ts_ns → Telegraf uses its own clock)</a:t>
            </a:r>
            <a:endParaRPr lang="en-US" sz="1400" dirty="0"/>
          </a:p>
        </p:txBody>
      </p:sp>
      <p:sp>
        <p:nvSpPr>
          <p:cNvPr id="16" name="Shape 14"/>
          <p:cNvSpPr/>
          <p:nvPr/>
        </p:nvSpPr>
        <p:spPr>
          <a:xfrm>
            <a:off x="6400800" y="2286000"/>
            <a:ext cx="5212080" cy="3657600"/>
          </a:xfrm>
          <a:prstGeom prst="rect">
            <a:avLst/>
          </a:prstGeom>
          <a:solidFill>
            <a:srgbClr val="FFFFFF"/>
          </a:solidFill>
          <a:ln w="12700">
            <a:solidFill>
              <a:srgbClr val="E2E8F0"/>
            </a:solidFill>
            <a:prstDash val="solid"/>
          </a:ln>
          <a:effectLst>
            <a:outerShdw sx="100000" sy="100000" kx="0" ky="0" algn="bl" rotWithShape="0" blurRad="152400" dist="38100" dir="5400000">
              <a:srgbClr val="0F172A">
                <a:alpha val="10000"/>
              </a:srgbClr>
            </a:outerShdw>
          </a:effectLst>
        </p:spPr>
      </p:sp>
      <p:sp>
        <p:nvSpPr>
          <p:cNvPr id="17" name="Text 15"/>
          <p:cNvSpPr/>
          <p:nvPr/>
        </p:nvSpPr>
        <p:spPr>
          <a:xfrm>
            <a:off x="6766560" y="2514600"/>
            <a:ext cx="4663440" cy="365760"/>
          </a:xfrm>
          <a:prstGeom prst="rect">
            <a:avLst/>
          </a:prstGeom>
          <a:noFill/>
          <a:ln/>
        </p:spPr>
        <p:txBody>
          <a:bodyPr wrap="square" lIns="0" tIns="0" rIns="0" bIns="0" rtlCol="0" anchor="ctr"/>
          <a:lstStyle/>
          <a:p>
            <a:pPr indent="0" marL="0">
              <a:buNone/>
            </a:pPr>
            <a:r>
              <a:rPr lang="en-US" sz="1800" b="1" dirty="0">
                <a:solidFill>
                  <a:srgbClr val="0E4F88"/>
                </a:solidFill>
                <a:latin typeface="Cambria" pitchFamily="34" charset="0"/>
                <a:ea typeface="Cambria" pitchFamily="34" charset="-122"/>
                <a:cs typeface="Cambria" pitchFamily="34" charset="-120"/>
              </a:rPr>
              <a:t>Hard contract</a:t>
            </a:r>
            <a:endParaRPr lang="en-US" sz="1800" dirty="0"/>
          </a:p>
        </p:txBody>
      </p:sp>
      <p:sp>
        <p:nvSpPr>
          <p:cNvPr id="18" name="Shape 16"/>
          <p:cNvSpPr/>
          <p:nvPr/>
        </p:nvSpPr>
        <p:spPr>
          <a:xfrm>
            <a:off x="6766560" y="2926080"/>
            <a:ext cx="365760" cy="45720"/>
          </a:xfrm>
          <a:prstGeom prst="rect">
            <a:avLst/>
          </a:prstGeom>
          <a:solidFill>
            <a:srgbClr val="22D3EE"/>
          </a:solidFill>
          <a:ln w="12700">
            <a:solidFill>
              <a:srgbClr val="22D3EE"/>
            </a:solidFill>
            <a:prstDash val="solid"/>
          </a:ln>
        </p:spPr>
      </p:sp>
      <p:pic>
        <p:nvPicPr>
          <p:cNvPr id="19" name="Image 0" descr="preencoded.png">    </p:cNvPr>
          <p:cNvPicPr>
            <a:picLocks noChangeAspect="1"/>
          </p:cNvPicPr>
          <p:nvPr/>
        </p:nvPicPr>
        <p:blipFill>
          <a:blip r:embed="rId1"/>
          <a:stretch>
            <a:fillRect/>
          </a:stretch>
        </p:blipFill>
        <p:spPr>
          <a:xfrm>
            <a:off x="6766560" y="3200400"/>
            <a:ext cx="228600" cy="228600"/>
          </a:xfrm>
          <a:prstGeom prst="rect">
            <a:avLst/>
          </a:prstGeom>
        </p:spPr>
      </p:pic>
      <p:sp>
        <p:nvSpPr>
          <p:cNvPr id="20" name="Text 17"/>
          <p:cNvSpPr/>
          <p:nvPr/>
        </p:nvSpPr>
        <p:spPr>
          <a:xfrm>
            <a:off x="7086600" y="3154680"/>
            <a:ext cx="4343400" cy="22860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Single field 'value' (float)</a:t>
            </a:r>
            <a:endParaRPr lang="en-US" sz="1200" dirty="0"/>
          </a:p>
        </p:txBody>
      </p:sp>
      <p:sp>
        <p:nvSpPr>
          <p:cNvPr id="21" name="Text 18"/>
          <p:cNvSpPr/>
          <p:nvPr/>
        </p:nvSpPr>
        <p:spPr>
          <a:xfrm>
            <a:off x="7086600" y="3355848"/>
            <a:ext cx="4343400" cy="201168"/>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fieldpass = ["value"] in Telegraf</a:t>
            </a:r>
            <a:endParaRPr lang="en-US" sz="1000" dirty="0"/>
          </a:p>
        </p:txBody>
      </p:sp>
      <p:pic>
        <p:nvPicPr>
          <p:cNvPr id="22" name="Image 1" descr="preencoded.png">    </p:cNvPr>
          <p:cNvPicPr>
            <a:picLocks noChangeAspect="1"/>
          </p:cNvPicPr>
          <p:nvPr/>
        </p:nvPicPr>
        <p:blipFill>
          <a:blip r:embed="rId2"/>
          <a:stretch>
            <a:fillRect/>
          </a:stretch>
        </p:blipFill>
        <p:spPr>
          <a:xfrm>
            <a:off x="6766560" y="3621024"/>
            <a:ext cx="228600" cy="228600"/>
          </a:xfrm>
          <a:prstGeom prst="rect">
            <a:avLst/>
          </a:prstGeom>
        </p:spPr>
      </p:pic>
      <p:sp>
        <p:nvSpPr>
          <p:cNvPr id="23" name="Text 19"/>
          <p:cNvSpPr/>
          <p:nvPr/>
        </p:nvSpPr>
        <p:spPr>
          <a:xfrm>
            <a:off x="7086600" y="3575304"/>
            <a:ext cx="4343400" cy="22860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Optional 'ts_ns' for back-fill</a:t>
            </a:r>
            <a:endParaRPr lang="en-US" sz="1200" dirty="0"/>
          </a:p>
        </p:txBody>
      </p:sp>
      <p:sp>
        <p:nvSpPr>
          <p:cNvPr id="24" name="Text 20"/>
          <p:cNvSpPr/>
          <p:nvPr/>
        </p:nvSpPr>
        <p:spPr>
          <a:xfrm>
            <a:off x="7086600" y="3776472"/>
            <a:ext cx="4343400" cy="201168"/>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Nanosecond epoch — preserves order</a:t>
            </a:r>
            <a:endParaRPr lang="en-US" sz="1000" dirty="0"/>
          </a:p>
        </p:txBody>
      </p:sp>
      <p:pic>
        <p:nvPicPr>
          <p:cNvPr id="25" name="Image 2" descr="preencoded.png">    </p:cNvPr>
          <p:cNvPicPr>
            <a:picLocks noChangeAspect="1"/>
          </p:cNvPicPr>
          <p:nvPr/>
        </p:nvPicPr>
        <p:blipFill>
          <a:blip r:embed="rId3"/>
          <a:stretch>
            <a:fillRect/>
          </a:stretch>
        </p:blipFill>
        <p:spPr>
          <a:xfrm>
            <a:off x="6766560" y="4041648"/>
            <a:ext cx="228600" cy="228600"/>
          </a:xfrm>
          <a:prstGeom prst="rect">
            <a:avLst/>
          </a:prstGeom>
        </p:spPr>
      </p:pic>
      <p:sp>
        <p:nvSpPr>
          <p:cNvPr id="26" name="Text 21"/>
          <p:cNvSpPr/>
          <p:nvPr/>
        </p:nvSpPr>
        <p:spPr>
          <a:xfrm>
            <a:off x="7086600" y="3995928"/>
            <a:ext cx="4343400" cy="22860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QoS 1 recommended</a:t>
            </a:r>
            <a:endParaRPr lang="en-US" sz="1200" dirty="0"/>
          </a:p>
        </p:txBody>
      </p:sp>
      <p:sp>
        <p:nvSpPr>
          <p:cNvPr id="27" name="Text 22"/>
          <p:cNvSpPr/>
          <p:nvPr/>
        </p:nvSpPr>
        <p:spPr>
          <a:xfrm>
            <a:off x="7086600" y="4197096"/>
            <a:ext cx="4343400" cy="201168"/>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QoS 0 only for low-stakes signals</a:t>
            </a:r>
            <a:endParaRPr lang="en-US" sz="1000" dirty="0"/>
          </a:p>
        </p:txBody>
      </p:sp>
      <p:pic>
        <p:nvPicPr>
          <p:cNvPr id="28" name="Image 3" descr="preencoded.png">    </p:cNvPr>
          <p:cNvPicPr>
            <a:picLocks noChangeAspect="1"/>
          </p:cNvPicPr>
          <p:nvPr/>
        </p:nvPicPr>
        <p:blipFill>
          <a:blip r:embed="rId4"/>
          <a:stretch>
            <a:fillRect/>
          </a:stretch>
        </p:blipFill>
        <p:spPr>
          <a:xfrm>
            <a:off x="6766560" y="4462272"/>
            <a:ext cx="228600" cy="228600"/>
          </a:xfrm>
          <a:prstGeom prst="rect">
            <a:avLst/>
          </a:prstGeom>
        </p:spPr>
      </p:pic>
      <p:sp>
        <p:nvSpPr>
          <p:cNvPr id="29" name="Text 23"/>
          <p:cNvSpPr/>
          <p:nvPr/>
        </p:nvSpPr>
        <p:spPr>
          <a:xfrm>
            <a:off x="7086600" y="4416552"/>
            <a:ext cx="4343400" cy="22860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No multi-channel arrays</a:t>
            </a:r>
            <a:endParaRPr lang="en-US" sz="1200" dirty="0"/>
          </a:p>
        </p:txBody>
      </p:sp>
      <p:sp>
        <p:nvSpPr>
          <p:cNvPr id="30" name="Text 24"/>
          <p:cNvSpPr/>
          <p:nvPr/>
        </p:nvSpPr>
        <p:spPr>
          <a:xfrm>
            <a:off x="7086600" y="4617720"/>
            <a:ext cx="4343400" cy="201168"/>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value_0_0…value_N_M are dropped</a:t>
            </a:r>
            <a:endParaRPr lang="en-US" sz="1000" dirty="0"/>
          </a:p>
        </p:txBody>
      </p:sp>
      <p:pic>
        <p:nvPicPr>
          <p:cNvPr id="31" name="Image 4" descr="preencoded.png">    </p:cNvPr>
          <p:cNvPicPr>
            <a:picLocks noChangeAspect="1"/>
          </p:cNvPicPr>
          <p:nvPr/>
        </p:nvPicPr>
        <p:blipFill>
          <a:blip r:embed="rId5"/>
          <a:stretch>
            <a:fillRect/>
          </a:stretch>
        </p:blipFill>
        <p:spPr>
          <a:xfrm>
            <a:off x="6766560" y="4882896"/>
            <a:ext cx="228600" cy="228600"/>
          </a:xfrm>
          <a:prstGeom prst="rect">
            <a:avLst/>
          </a:prstGeom>
        </p:spPr>
      </p:pic>
      <p:sp>
        <p:nvSpPr>
          <p:cNvPr id="32" name="Text 25"/>
          <p:cNvSpPr/>
          <p:nvPr/>
        </p:nvSpPr>
        <p:spPr>
          <a:xfrm>
            <a:off x="7086600" y="4837176"/>
            <a:ext cx="4343400" cy="22860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No nested objects</a:t>
            </a:r>
            <a:endParaRPr lang="en-US" sz="1200" dirty="0"/>
          </a:p>
        </p:txBody>
      </p:sp>
      <p:sp>
        <p:nvSpPr>
          <p:cNvPr id="33" name="Text 26"/>
          <p:cNvSpPr/>
          <p:nvPr/>
        </p:nvSpPr>
        <p:spPr>
          <a:xfrm>
            <a:off x="7086600" y="5038344"/>
            <a:ext cx="4343400" cy="201168"/>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Flatten on device or via normalizer</a:t>
            </a:r>
            <a:endParaRPr lang="en-US" sz="1000" dirty="0"/>
          </a:p>
        </p:txBody>
      </p:sp>
      <p:pic>
        <p:nvPicPr>
          <p:cNvPr id="34" name="Image 5" descr="preencoded.png">    </p:cNvPr>
          <p:cNvPicPr>
            <a:picLocks noChangeAspect="1"/>
          </p:cNvPicPr>
          <p:nvPr/>
        </p:nvPicPr>
        <p:blipFill>
          <a:blip r:embed="rId6"/>
          <a:stretch>
            <a:fillRect/>
          </a:stretch>
        </p:blipFill>
        <p:spPr>
          <a:xfrm>
            <a:off x="6766560" y="5303520"/>
            <a:ext cx="228600" cy="228600"/>
          </a:xfrm>
          <a:prstGeom prst="rect">
            <a:avLst/>
          </a:prstGeom>
        </p:spPr>
      </p:pic>
      <p:sp>
        <p:nvSpPr>
          <p:cNvPr id="35" name="Text 27"/>
          <p:cNvSpPr/>
          <p:nvPr/>
        </p:nvSpPr>
        <p:spPr>
          <a:xfrm>
            <a:off x="7086600" y="5257800"/>
            <a:ext cx="4343400" cy="22860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No string values in 'value'</a:t>
            </a:r>
            <a:endParaRPr lang="en-US" sz="1200" dirty="0"/>
          </a:p>
        </p:txBody>
      </p:sp>
      <p:sp>
        <p:nvSpPr>
          <p:cNvPr id="36" name="Text 28"/>
          <p:cNvSpPr/>
          <p:nvPr/>
        </p:nvSpPr>
        <p:spPr>
          <a:xfrm>
            <a:off x="7086600" y="5458968"/>
            <a:ext cx="4343400" cy="201168"/>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Use enum codes — declare in metadata</a:t>
            </a:r>
            <a:endParaRPr lang="en-US" sz="1000" dirty="0"/>
          </a:p>
        </p:txBody>
      </p:sp>
      <p:sp>
        <p:nvSpPr>
          <p:cNvPr id="37" name="Text 29"/>
          <p:cNvSpPr/>
          <p:nvPr/>
        </p:nvSpPr>
        <p:spPr>
          <a:xfrm>
            <a:off x="548640" y="6126480"/>
            <a:ext cx="4114800" cy="274320"/>
          </a:xfrm>
          <a:prstGeom prst="rect">
            <a:avLst/>
          </a:prstGeom>
          <a:noFill/>
          <a:ln/>
        </p:spPr>
        <p:txBody>
          <a:bodyPr wrap="square" lIns="0" tIns="0" rIns="0" bIns="0" rtlCol="0" anchor="ctr"/>
          <a:lstStyle/>
          <a:p>
            <a:pPr indent="0" marL="0">
              <a:buNone/>
            </a:pPr>
            <a:r>
              <a:rPr lang="en-US" sz="1000" b="1" spc="200" kern="0" dirty="0">
                <a:solidFill>
                  <a:srgbClr val="64748B"/>
                </a:solidFill>
                <a:latin typeface="Calibri" pitchFamily="34" charset="0"/>
                <a:ea typeface="Calibri" pitchFamily="34" charset="-122"/>
                <a:cs typeface="Calibri" pitchFamily="34" charset="-120"/>
              </a:rPr>
              <a:t>OTHER STREAMS — payload differs:  </a:t>
            </a:r>
            <a:endParaRPr lang="en-US" sz="1000" dirty="0"/>
          </a:p>
        </p:txBody>
      </p:sp>
      <p:sp>
        <p:nvSpPr>
          <p:cNvPr id="38" name="Text 30"/>
          <p:cNvSpPr/>
          <p:nvPr/>
        </p:nvSpPr>
        <p:spPr>
          <a:xfrm>
            <a:off x="4297680" y="6126480"/>
            <a:ext cx="7680960" cy="274320"/>
          </a:xfrm>
          <a:prstGeom prst="rect">
            <a:avLst/>
          </a:prstGeom>
          <a:noFill/>
          <a:ln/>
        </p:spPr>
        <p:txBody>
          <a:bodyPr wrap="square" lIns="0" tIns="0" rIns="0" bIns="0" rtlCol="0" anchor="ctr"/>
          <a:lstStyle/>
          <a:p>
            <a:pPr indent="0" marL="0">
              <a:buNone/>
            </a:pPr>
            <a:r>
              <a:rPr lang="en-US" sz="1000" dirty="0">
                <a:solidFill>
                  <a:srgbClr val="0F172A"/>
                </a:solidFill>
                <a:latin typeface="Consolas" pitchFamily="34" charset="0"/>
                <a:ea typeface="Consolas" pitchFamily="34" charset="-122"/>
                <a:cs typeface="Consolas" pitchFamily="34" charset="-120"/>
              </a:rPr>
              <a:t>event → { ts, type, cmd_id, reason, error, ... }   ·   cmd / ack → defined per device family</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lIns="0" tIns="0" rIns="0" bIns="0" rtlCol="0" anchor="ctr"/>
          <a:lstStyle/>
          <a:p>
            <a:pPr indent="0" marL="0">
              <a:buNone/>
            </a:pPr>
            <a:r>
              <a:rPr lang="en-US" sz="1100" b="1" spc="400" kern="0" dirty="0">
                <a:solidFill>
                  <a:srgbClr val="22D3EE"/>
                </a:solidFill>
                <a:latin typeface="Calibri" pitchFamily="34" charset="0"/>
                <a:ea typeface="Calibri" pitchFamily="34" charset="-122"/>
                <a:cs typeface="Calibri" pitchFamily="34" charset="-120"/>
              </a:rPr>
              <a:t>06 · ROUTING</a:t>
            </a:r>
            <a:endParaRPr lang="en-US" sz="1100" dirty="0"/>
          </a:p>
        </p:txBody>
      </p:sp>
      <p:sp>
        <p:nvSpPr>
          <p:cNvPr id="3" name="Text 1"/>
          <p:cNvSpPr/>
          <p:nvPr/>
        </p:nvSpPr>
        <p:spPr>
          <a:xfrm>
            <a:off x="548640" y="548640"/>
            <a:ext cx="10058400" cy="640080"/>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Continuous vs on-change signals</a:t>
            </a:r>
            <a:endParaRPr lang="en-US" sz="3000" dirty="0"/>
          </a:p>
        </p:txBody>
      </p:sp>
      <p:sp>
        <p:nvSpPr>
          <p:cNvPr id="4" name="Text 2"/>
          <p:cNvSpPr/>
          <p:nvPr/>
        </p:nvSpPr>
        <p:spPr>
          <a:xfrm>
            <a:off x="11094415"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 / 14</a:t>
            </a:r>
            <a:endParaRPr lang="en-US" sz="900" dirty="0"/>
          </a:p>
        </p:txBody>
      </p:sp>
      <p:sp>
        <p:nvSpPr>
          <p:cNvPr id="5" name="Text 3"/>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CAPTIA Technology · Partner Integration Guide</a:t>
            </a:r>
            <a:endParaRPr lang="en-US" sz="900" dirty="0"/>
          </a:p>
        </p:txBody>
      </p:sp>
      <p:sp>
        <p:nvSpPr>
          <p:cNvPr id="6" name="Shape 4"/>
          <p:cNvSpPr/>
          <p:nvPr/>
        </p:nvSpPr>
        <p:spPr>
          <a:xfrm>
            <a:off x="11688775" y="320040"/>
            <a:ext cx="164592" cy="164592"/>
          </a:xfrm>
          <a:prstGeom prst="rect">
            <a:avLst/>
          </a:prstGeom>
          <a:solidFill>
            <a:srgbClr val="22D3EE"/>
          </a:solidFill>
          <a:ln w="12700">
            <a:solidFill>
              <a:srgbClr val="22D3EE"/>
            </a:solidFill>
            <a:prstDash val="solid"/>
          </a:ln>
        </p:spPr>
      </p:sp>
      <p:sp>
        <p:nvSpPr>
          <p:cNvPr id="7" name="Shape 5"/>
          <p:cNvSpPr/>
          <p:nvPr/>
        </p:nvSpPr>
        <p:spPr>
          <a:xfrm>
            <a:off x="11917375" y="320040"/>
            <a:ext cx="164592" cy="164592"/>
          </a:xfrm>
          <a:prstGeom prst="rect">
            <a:avLst/>
          </a:prstGeom>
          <a:solidFill>
            <a:srgbClr val="D97706"/>
          </a:solidFill>
          <a:ln w="12700">
            <a:solidFill>
              <a:srgbClr val="D97706"/>
            </a:solidFill>
            <a:prstDash val="solid"/>
          </a:ln>
        </p:spPr>
      </p:sp>
      <p:sp>
        <p:nvSpPr>
          <p:cNvPr id="8" name="Text 6"/>
          <p:cNvSpPr/>
          <p:nvPr/>
        </p:nvSpPr>
        <p:spPr>
          <a:xfrm>
            <a:off x="548640" y="1417320"/>
            <a:ext cx="10972800" cy="822960"/>
          </a:xfrm>
          <a:prstGeom prst="rect">
            <a:avLst/>
          </a:prstGeom>
          <a:noFill/>
          <a:ln/>
        </p:spPr>
        <p:txBody>
          <a:bodyPr wrap="square" lIns="0" tIns="0" rIns="0" bIns="0" rtlCol="0" anchor="ctr"/>
          <a:lstStyle/>
          <a:p>
            <a:pPr indent="0" marL="0">
              <a:buNone/>
            </a:pPr>
            <a:r>
              <a:rPr lang="en-US" sz="1300" i="1" dirty="0">
                <a:solidFill>
                  <a:srgbClr val="0F172A"/>
                </a:solidFill>
                <a:latin typeface="Calibri" pitchFamily="34" charset="0"/>
                <a:ea typeface="Calibri" pitchFamily="34" charset="-122"/>
                <a:cs typeface="Calibri" pitchFamily="34" charset="-120"/>
              </a:rPr>
              <a:t>Telegraf classifies signals by the variable name (segment 7 of the topic). Continuous signals go to telemetry; on-change signals are deduped (heartbeat 168h) and routed to state_events. The naming convention IS the contract.</a:t>
            </a:r>
            <a:endParaRPr lang="en-US" sz="1300" dirty="0"/>
          </a:p>
        </p:txBody>
      </p:sp>
      <p:sp>
        <p:nvSpPr>
          <p:cNvPr id="9" name="Shape 7"/>
          <p:cNvSpPr/>
          <p:nvPr/>
        </p:nvSpPr>
        <p:spPr>
          <a:xfrm>
            <a:off x="548640" y="2423160"/>
            <a:ext cx="5532120" cy="3383280"/>
          </a:xfrm>
          <a:prstGeom prst="rect">
            <a:avLst/>
          </a:prstGeom>
          <a:solidFill>
            <a:srgbClr val="FFFFFF"/>
          </a:solidFill>
          <a:ln w="12700">
            <a:solidFill>
              <a:srgbClr val="E2E8F0"/>
            </a:solidFill>
            <a:prstDash val="solid"/>
          </a:ln>
          <a:effectLst>
            <a:outerShdw sx="100000" sy="100000" kx="0" ky="0" algn="bl" rotWithShape="0" blurRad="152400" dist="38100" dir="5400000">
              <a:srgbClr val="0F172A">
                <a:alpha val="10000"/>
              </a:srgbClr>
            </a:outerShdw>
          </a:effectLst>
        </p:spPr>
      </p:sp>
      <p:sp>
        <p:nvSpPr>
          <p:cNvPr id="10" name="Shape 8"/>
          <p:cNvSpPr/>
          <p:nvPr/>
        </p:nvSpPr>
        <p:spPr>
          <a:xfrm>
            <a:off x="548640" y="2423160"/>
            <a:ext cx="5532120" cy="109728"/>
          </a:xfrm>
          <a:prstGeom prst="rect">
            <a:avLst/>
          </a:prstGeom>
          <a:solidFill>
            <a:srgbClr val="0D9488"/>
          </a:solidFill>
          <a:ln w="12700">
            <a:solidFill>
              <a:srgbClr val="0D9488"/>
            </a:solidFill>
            <a:prstDash val="solid"/>
          </a:ln>
        </p:spPr>
      </p:sp>
      <p:sp>
        <p:nvSpPr>
          <p:cNvPr id="11" name="Text 9"/>
          <p:cNvSpPr/>
          <p:nvPr/>
        </p:nvSpPr>
        <p:spPr>
          <a:xfrm>
            <a:off x="914400" y="2697480"/>
            <a:ext cx="4983480" cy="274320"/>
          </a:xfrm>
          <a:prstGeom prst="rect">
            <a:avLst/>
          </a:prstGeom>
          <a:noFill/>
          <a:ln/>
        </p:spPr>
        <p:txBody>
          <a:bodyPr wrap="square" lIns="0" tIns="0" rIns="0" bIns="0" rtlCol="0" anchor="ctr"/>
          <a:lstStyle/>
          <a:p>
            <a:pPr indent="0" marL="0">
              <a:buNone/>
            </a:pPr>
            <a:r>
              <a:rPr lang="en-US" sz="1100" b="1" spc="300" kern="0" dirty="0">
                <a:solidFill>
                  <a:srgbClr val="115E59"/>
                </a:solidFill>
                <a:latin typeface="Calibri" pitchFamily="34" charset="0"/>
                <a:ea typeface="Calibri" pitchFamily="34" charset="-122"/>
                <a:cs typeface="Calibri" pitchFamily="34" charset="-120"/>
              </a:rPr>
              <a:t>CONTINUOUS</a:t>
            </a:r>
            <a:endParaRPr lang="en-US" sz="1100" dirty="0"/>
          </a:p>
        </p:txBody>
      </p:sp>
      <p:sp>
        <p:nvSpPr>
          <p:cNvPr id="12" name="Text 10"/>
          <p:cNvSpPr/>
          <p:nvPr/>
        </p:nvSpPr>
        <p:spPr>
          <a:xfrm>
            <a:off x="914400" y="2971800"/>
            <a:ext cx="4983480" cy="457200"/>
          </a:xfrm>
          <a:prstGeom prst="rect">
            <a:avLst/>
          </a:prstGeom>
          <a:noFill/>
          <a:ln/>
        </p:spPr>
        <p:txBody>
          <a:bodyPr wrap="square" lIns="0" tIns="0" rIns="0" bIns="0" rtlCol="0" anchor="ctr"/>
          <a:lstStyle/>
          <a:p>
            <a:pPr indent="0" marL="0">
              <a:buNone/>
            </a:pPr>
            <a:r>
              <a:rPr lang="en-US" sz="2200" b="1" dirty="0">
                <a:solidFill>
                  <a:srgbClr val="0F172A"/>
                </a:solidFill>
                <a:latin typeface="Cambria" pitchFamily="34" charset="0"/>
                <a:ea typeface="Cambria" pitchFamily="34" charset="-122"/>
                <a:cs typeface="Cambria" pitchFamily="34" charset="-120"/>
              </a:rPr>
              <a:t>Stored at every sample (5s)</a:t>
            </a:r>
            <a:endParaRPr lang="en-US" sz="2200" dirty="0"/>
          </a:p>
        </p:txBody>
      </p:sp>
      <p:sp>
        <p:nvSpPr>
          <p:cNvPr id="13" name="Text 11"/>
          <p:cNvSpPr/>
          <p:nvPr/>
        </p:nvSpPr>
        <p:spPr>
          <a:xfrm>
            <a:off x="914400" y="3474720"/>
            <a:ext cx="4983480" cy="640080"/>
          </a:xfrm>
          <a:prstGeom prst="rect">
            <a:avLst/>
          </a:prstGeom>
          <a:noFill/>
          <a:ln/>
        </p:spPr>
        <p:txBody>
          <a:bodyPr wrap="square" lIns="0" tIns="0" rIns="0" bIns="0" rtlCol="0" anchor="ctr"/>
          <a:lstStyle/>
          <a:p>
            <a:pPr indent="0" marL="0">
              <a:buNone/>
            </a:pPr>
            <a:r>
              <a:rPr lang="en-US" sz="1200" i="1" dirty="0">
                <a:solidFill>
                  <a:srgbClr val="0F172A"/>
                </a:solidFill>
                <a:latin typeface="Calibri" pitchFamily="34" charset="0"/>
                <a:ea typeface="Calibri" pitchFamily="34" charset="-122"/>
                <a:cs typeface="Calibri" pitchFamily="34" charset="-120"/>
              </a:rPr>
              <a:t>Sensor readings: temperature, humidity, CO2, illuminance, occupancy ratio, sound level, IAQ, energy counters.</a:t>
            </a:r>
            <a:endParaRPr lang="en-US" sz="1200" dirty="0"/>
          </a:p>
        </p:txBody>
      </p:sp>
      <p:sp>
        <p:nvSpPr>
          <p:cNvPr id="14" name="Text 12"/>
          <p:cNvSpPr/>
          <p:nvPr/>
        </p:nvSpPr>
        <p:spPr>
          <a:xfrm>
            <a:off x="914400" y="4206240"/>
            <a:ext cx="4983480" cy="274320"/>
          </a:xfrm>
          <a:prstGeom prst="rect">
            <a:avLst/>
          </a:prstGeom>
          <a:noFill/>
          <a:ln/>
        </p:spPr>
        <p:txBody>
          <a:bodyPr wrap="square" lIns="0" tIns="0" rIns="0" bIns="0" rtlCol="0" anchor="ctr"/>
          <a:lstStyle/>
          <a:p>
            <a:pPr indent="0" marL="0">
              <a:buNone/>
            </a:pPr>
            <a:r>
              <a:rPr lang="en-US" sz="1000" b="1" spc="200" kern="0" dirty="0">
                <a:solidFill>
                  <a:srgbClr val="64748B"/>
                </a:solidFill>
                <a:latin typeface="Calibri" pitchFamily="34" charset="0"/>
                <a:ea typeface="Calibri" pitchFamily="34" charset="-122"/>
                <a:cs typeface="Calibri" pitchFamily="34" charset="-120"/>
              </a:rPr>
              <a:t>Goes to:</a:t>
            </a:r>
            <a:endParaRPr lang="en-US" sz="1000" dirty="0"/>
          </a:p>
        </p:txBody>
      </p:sp>
      <p:sp>
        <p:nvSpPr>
          <p:cNvPr id="15" name="Text 13"/>
          <p:cNvSpPr/>
          <p:nvPr/>
        </p:nvSpPr>
        <p:spPr>
          <a:xfrm>
            <a:off x="914400" y="4480560"/>
            <a:ext cx="4983480" cy="365760"/>
          </a:xfrm>
          <a:prstGeom prst="rect">
            <a:avLst/>
          </a:prstGeom>
          <a:noFill/>
          <a:ln/>
        </p:spPr>
        <p:txBody>
          <a:bodyPr wrap="square" lIns="0" tIns="0" rIns="0" bIns="0" rtlCol="0" anchor="ctr"/>
          <a:lstStyle/>
          <a:p>
            <a:pPr indent="0" marL="0">
              <a:buNone/>
            </a:pPr>
            <a:r>
              <a:rPr lang="en-US" sz="1400" b="1" dirty="0">
                <a:solidFill>
                  <a:srgbClr val="115E59"/>
                </a:solidFill>
                <a:latin typeface="Consolas" pitchFamily="34" charset="0"/>
                <a:ea typeface="Consolas" pitchFamily="34" charset="-122"/>
                <a:cs typeface="Consolas" pitchFamily="34" charset="-120"/>
              </a:rPr>
              <a:t>telemetry  →  rollups (1m / 15m / 1h)</a:t>
            </a:r>
            <a:endParaRPr lang="en-US" sz="1400" dirty="0"/>
          </a:p>
        </p:txBody>
      </p:sp>
      <p:sp>
        <p:nvSpPr>
          <p:cNvPr id="16" name="Text 14"/>
          <p:cNvSpPr/>
          <p:nvPr/>
        </p:nvSpPr>
        <p:spPr>
          <a:xfrm>
            <a:off x="914400" y="5029200"/>
            <a:ext cx="4983480" cy="274320"/>
          </a:xfrm>
          <a:prstGeom prst="rect">
            <a:avLst/>
          </a:prstGeom>
          <a:noFill/>
          <a:ln/>
        </p:spPr>
        <p:txBody>
          <a:bodyPr wrap="square" lIns="0" tIns="0" rIns="0" bIns="0" rtlCol="0" anchor="ctr"/>
          <a:lstStyle/>
          <a:p>
            <a:pPr indent="0" marL="0">
              <a:buNone/>
            </a:pPr>
            <a:r>
              <a:rPr lang="en-US" sz="1000" b="1" spc="200" kern="0" dirty="0">
                <a:solidFill>
                  <a:srgbClr val="64748B"/>
                </a:solidFill>
                <a:latin typeface="Calibri" pitchFamily="34" charset="0"/>
                <a:ea typeface="Calibri" pitchFamily="34" charset="-122"/>
                <a:cs typeface="Calibri" pitchFamily="34" charset="-120"/>
              </a:rPr>
              <a:t>metric_kind values:</a:t>
            </a:r>
            <a:endParaRPr lang="en-US" sz="1000" dirty="0"/>
          </a:p>
        </p:txBody>
      </p:sp>
      <p:sp>
        <p:nvSpPr>
          <p:cNvPr id="17" name="Text 15"/>
          <p:cNvSpPr/>
          <p:nvPr/>
        </p:nvSpPr>
        <p:spPr>
          <a:xfrm>
            <a:off x="914400" y="5303520"/>
            <a:ext cx="4983480" cy="365760"/>
          </a:xfrm>
          <a:prstGeom prst="rect">
            <a:avLst/>
          </a:prstGeom>
          <a:noFill/>
          <a:ln/>
        </p:spPr>
        <p:txBody>
          <a:bodyPr wrap="square" lIns="0" tIns="0" rIns="0" bIns="0" rtlCol="0" anchor="ctr"/>
          <a:lstStyle/>
          <a:p>
            <a:pPr indent="0" marL="0">
              <a:buNone/>
            </a:pPr>
            <a:r>
              <a:rPr lang="en-US" sz="1300" dirty="0">
                <a:solidFill>
                  <a:srgbClr val="0F172A"/>
                </a:solidFill>
                <a:latin typeface="Consolas" pitchFamily="34" charset="0"/>
                <a:ea typeface="Consolas" pitchFamily="34" charset="-122"/>
                <a:cs typeface="Consolas" pitchFamily="34" charset="-120"/>
              </a:rPr>
              <a:t>analog_gauge   ·   bool_presence   ·   counter</a:t>
            </a:r>
            <a:endParaRPr lang="en-US" sz="1300" dirty="0"/>
          </a:p>
        </p:txBody>
      </p:sp>
      <p:sp>
        <p:nvSpPr>
          <p:cNvPr id="18" name="Shape 16"/>
          <p:cNvSpPr/>
          <p:nvPr/>
        </p:nvSpPr>
        <p:spPr>
          <a:xfrm>
            <a:off x="6263640" y="2423160"/>
            <a:ext cx="5532120" cy="3383280"/>
          </a:xfrm>
          <a:prstGeom prst="rect">
            <a:avLst/>
          </a:prstGeom>
          <a:solidFill>
            <a:srgbClr val="FFFFFF"/>
          </a:solidFill>
          <a:ln w="12700">
            <a:solidFill>
              <a:srgbClr val="E2E8F0"/>
            </a:solidFill>
            <a:prstDash val="solid"/>
          </a:ln>
          <a:effectLst>
            <a:outerShdw sx="100000" sy="100000" kx="0" ky="0" algn="bl" rotWithShape="0" blurRad="152400" dist="38100" dir="5400000">
              <a:srgbClr val="0F172A">
                <a:alpha val="10000"/>
              </a:srgbClr>
            </a:outerShdw>
          </a:effectLst>
        </p:spPr>
      </p:sp>
      <p:sp>
        <p:nvSpPr>
          <p:cNvPr id="19" name="Shape 17"/>
          <p:cNvSpPr/>
          <p:nvPr/>
        </p:nvSpPr>
        <p:spPr>
          <a:xfrm>
            <a:off x="6263640" y="2423160"/>
            <a:ext cx="5532120" cy="109728"/>
          </a:xfrm>
          <a:prstGeom prst="rect">
            <a:avLst/>
          </a:prstGeom>
          <a:solidFill>
            <a:srgbClr val="D97706"/>
          </a:solidFill>
          <a:ln w="12700">
            <a:solidFill>
              <a:srgbClr val="D97706"/>
            </a:solidFill>
            <a:prstDash val="solid"/>
          </a:ln>
        </p:spPr>
      </p:sp>
      <p:sp>
        <p:nvSpPr>
          <p:cNvPr id="20" name="Text 18"/>
          <p:cNvSpPr/>
          <p:nvPr/>
        </p:nvSpPr>
        <p:spPr>
          <a:xfrm>
            <a:off x="6629400" y="2697480"/>
            <a:ext cx="4983480" cy="274320"/>
          </a:xfrm>
          <a:prstGeom prst="rect">
            <a:avLst/>
          </a:prstGeom>
          <a:noFill/>
          <a:ln/>
        </p:spPr>
        <p:txBody>
          <a:bodyPr wrap="square" lIns="0" tIns="0" rIns="0" bIns="0" rtlCol="0" anchor="ctr"/>
          <a:lstStyle/>
          <a:p>
            <a:pPr indent="0" marL="0">
              <a:buNone/>
            </a:pPr>
            <a:r>
              <a:rPr lang="en-US" sz="1100" b="1" spc="300" kern="0" dirty="0">
                <a:solidFill>
                  <a:srgbClr val="D97706"/>
                </a:solidFill>
                <a:latin typeface="Calibri" pitchFamily="34" charset="0"/>
                <a:ea typeface="Calibri" pitchFamily="34" charset="-122"/>
                <a:cs typeface="Calibri" pitchFamily="34" charset="-120"/>
              </a:rPr>
              <a:t>ON-CHANGE</a:t>
            </a:r>
            <a:endParaRPr lang="en-US" sz="1100" dirty="0"/>
          </a:p>
        </p:txBody>
      </p:sp>
      <p:sp>
        <p:nvSpPr>
          <p:cNvPr id="21" name="Text 19"/>
          <p:cNvSpPr/>
          <p:nvPr/>
        </p:nvSpPr>
        <p:spPr>
          <a:xfrm>
            <a:off x="6629400" y="2971800"/>
            <a:ext cx="4983480" cy="457200"/>
          </a:xfrm>
          <a:prstGeom prst="rect">
            <a:avLst/>
          </a:prstGeom>
          <a:noFill/>
          <a:ln/>
        </p:spPr>
        <p:txBody>
          <a:bodyPr wrap="square" lIns="0" tIns="0" rIns="0" bIns="0" rtlCol="0" anchor="ctr"/>
          <a:lstStyle/>
          <a:p>
            <a:pPr indent="0" marL="0">
              <a:buNone/>
            </a:pPr>
            <a:r>
              <a:rPr lang="en-US" sz="2200" b="1" dirty="0">
                <a:solidFill>
                  <a:srgbClr val="0F172A"/>
                </a:solidFill>
                <a:latin typeface="Cambria" pitchFamily="34" charset="0"/>
                <a:ea typeface="Cambria" pitchFamily="34" charset="-122"/>
                <a:cs typeface="Cambria" pitchFamily="34" charset="-120"/>
              </a:rPr>
              <a:t>Stored only on transitions</a:t>
            </a:r>
            <a:endParaRPr lang="en-US" sz="2200" dirty="0"/>
          </a:p>
        </p:txBody>
      </p:sp>
      <p:sp>
        <p:nvSpPr>
          <p:cNvPr id="22" name="Text 20"/>
          <p:cNvSpPr/>
          <p:nvPr/>
        </p:nvSpPr>
        <p:spPr>
          <a:xfrm>
            <a:off x="6629400" y="3474720"/>
            <a:ext cx="4983480" cy="640080"/>
          </a:xfrm>
          <a:prstGeom prst="rect">
            <a:avLst/>
          </a:prstGeom>
          <a:noFill/>
          <a:ln/>
        </p:spPr>
        <p:txBody>
          <a:bodyPr wrap="square" lIns="0" tIns="0" rIns="0" bIns="0" rtlCol="0" anchor="ctr"/>
          <a:lstStyle/>
          <a:p>
            <a:pPr indent="0" marL="0">
              <a:buNone/>
            </a:pPr>
            <a:r>
              <a:rPr lang="en-US" sz="1200" i="1" dirty="0">
                <a:solidFill>
                  <a:srgbClr val="0F172A"/>
                </a:solidFill>
                <a:latin typeface="Calibri" pitchFamily="34" charset="0"/>
                <a:ea typeface="Calibri" pitchFamily="34" charset="-122"/>
                <a:cs typeface="Calibri" pitchFamily="34" charset="-120"/>
              </a:rPr>
              <a:t>Discrete signals: commands, acks, on/off states, setpoints, mode selectors, relay outputs, fault flags.</a:t>
            </a:r>
            <a:endParaRPr lang="en-US" sz="1200" dirty="0"/>
          </a:p>
        </p:txBody>
      </p:sp>
      <p:sp>
        <p:nvSpPr>
          <p:cNvPr id="23" name="Text 21"/>
          <p:cNvSpPr/>
          <p:nvPr/>
        </p:nvSpPr>
        <p:spPr>
          <a:xfrm>
            <a:off x="6629400" y="4206240"/>
            <a:ext cx="4983480" cy="274320"/>
          </a:xfrm>
          <a:prstGeom prst="rect">
            <a:avLst/>
          </a:prstGeom>
          <a:noFill/>
          <a:ln/>
        </p:spPr>
        <p:txBody>
          <a:bodyPr wrap="square" lIns="0" tIns="0" rIns="0" bIns="0" rtlCol="0" anchor="ctr"/>
          <a:lstStyle/>
          <a:p>
            <a:pPr indent="0" marL="0">
              <a:buNone/>
            </a:pPr>
            <a:r>
              <a:rPr lang="en-US" sz="1000" b="1" spc="200" kern="0" dirty="0">
                <a:solidFill>
                  <a:srgbClr val="64748B"/>
                </a:solidFill>
                <a:latin typeface="Calibri" pitchFamily="34" charset="0"/>
                <a:ea typeface="Calibri" pitchFamily="34" charset="-122"/>
                <a:cs typeface="Calibri" pitchFamily="34" charset="-120"/>
              </a:rPr>
              <a:t>Goes to:</a:t>
            </a:r>
            <a:endParaRPr lang="en-US" sz="1000" dirty="0"/>
          </a:p>
        </p:txBody>
      </p:sp>
      <p:sp>
        <p:nvSpPr>
          <p:cNvPr id="24" name="Text 22"/>
          <p:cNvSpPr/>
          <p:nvPr/>
        </p:nvSpPr>
        <p:spPr>
          <a:xfrm>
            <a:off x="6629400" y="4480560"/>
            <a:ext cx="4983480" cy="365760"/>
          </a:xfrm>
          <a:prstGeom prst="rect">
            <a:avLst/>
          </a:prstGeom>
          <a:noFill/>
          <a:ln/>
        </p:spPr>
        <p:txBody>
          <a:bodyPr wrap="square" lIns="0" tIns="0" rIns="0" bIns="0" rtlCol="0" anchor="ctr"/>
          <a:lstStyle/>
          <a:p>
            <a:pPr indent="0" marL="0">
              <a:buNone/>
            </a:pPr>
            <a:r>
              <a:rPr lang="en-US" sz="1400" b="1" dirty="0">
                <a:solidFill>
                  <a:srgbClr val="D97706"/>
                </a:solidFill>
                <a:latin typeface="Consolas" pitchFamily="34" charset="0"/>
                <a:ea typeface="Consolas" pitchFamily="34" charset="-122"/>
                <a:cs typeface="Consolas" pitchFamily="34" charset="-120"/>
              </a:rPr>
              <a:t>state_events  (90d)  +  rollups</a:t>
            </a:r>
            <a:endParaRPr lang="en-US" sz="1400" dirty="0"/>
          </a:p>
        </p:txBody>
      </p:sp>
      <p:sp>
        <p:nvSpPr>
          <p:cNvPr id="25" name="Text 23"/>
          <p:cNvSpPr/>
          <p:nvPr/>
        </p:nvSpPr>
        <p:spPr>
          <a:xfrm>
            <a:off x="6629400" y="5029200"/>
            <a:ext cx="4983480" cy="274320"/>
          </a:xfrm>
          <a:prstGeom prst="rect">
            <a:avLst/>
          </a:prstGeom>
          <a:noFill/>
          <a:ln/>
        </p:spPr>
        <p:txBody>
          <a:bodyPr wrap="square" lIns="0" tIns="0" rIns="0" bIns="0" rtlCol="0" anchor="ctr"/>
          <a:lstStyle/>
          <a:p>
            <a:pPr indent="0" marL="0">
              <a:buNone/>
            </a:pPr>
            <a:r>
              <a:rPr lang="en-US" sz="1000" b="1" spc="200" kern="0" dirty="0">
                <a:solidFill>
                  <a:srgbClr val="64748B"/>
                </a:solidFill>
                <a:latin typeface="Calibri" pitchFamily="34" charset="0"/>
                <a:ea typeface="Calibri" pitchFamily="34" charset="-122"/>
                <a:cs typeface="Calibri" pitchFamily="34" charset="-120"/>
              </a:rPr>
              <a:t>Variable suffix globs (auto-routed):</a:t>
            </a:r>
            <a:endParaRPr lang="en-US" sz="1000" dirty="0"/>
          </a:p>
        </p:txBody>
      </p:sp>
      <p:sp>
        <p:nvSpPr>
          <p:cNvPr id="26" name="Text 24"/>
          <p:cNvSpPr/>
          <p:nvPr/>
        </p:nvSpPr>
        <p:spPr>
          <a:xfrm>
            <a:off x="6629400" y="5303520"/>
            <a:ext cx="4983480" cy="640080"/>
          </a:xfrm>
          <a:prstGeom prst="rect">
            <a:avLst/>
          </a:prstGeom>
          <a:noFill/>
          <a:ln/>
        </p:spPr>
        <p:txBody>
          <a:bodyPr wrap="square" lIns="0" tIns="0" rIns="0" bIns="0" rtlCol="0" anchor="ctr"/>
          <a:lstStyle/>
          <a:p>
            <a:pPr indent="0" marL="0">
              <a:buNone/>
            </a:pPr>
            <a:r>
              <a:rPr lang="en-US" sz="1100" dirty="0">
                <a:solidFill>
                  <a:srgbClr val="0F172A"/>
                </a:solidFill>
                <a:latin typeface="Consolas" pitchFamily="34" charset="0"/>
                <a:ea typeface="Consolas" pitchFamily="34" charset="-122"/>
                <a:cs typeface="Consolas" pitchFamily="34" charset="-120"/>
              </a:rPr>
              <a:t>*_cmd  *_ack  *_status  *_state  *_st  *_active</a:t>
            </a:r>
            <a:endParaRPr lang="en-US" sz="1100" dirty="0"/>
          </a:p>
          <a:p>
            <a:pPr indent="0" marL="0">
              <a:buNone/>
            </a:pPr>
            <a:r>
              <a:rPr lang="en-US" sz="1100" dirty="0">
                <a:solidFill>
                  <a:srgbClr val="0F172A"/>
                </a:solidFill>
                <a:latin typeface="Consolas" pitchFamily="34" charset="0"/>
                <a:ea typeface="Consolas" pitchFamily="34" charset="-122"/>
                <a:cs typeface="Consolas" pitchFamily="34" charset="-120"/>
              </a:rPr>
              <a:t>*_enable  *_in_progress  relay_*  *_setpoint  *_sp  *_mode</a:t>
            </a:r>
            <a:endParaRPr lang="en-US" sz="1100" dirty="0"/>
          </a:p>
        </p:txBody>
      </p:sp>
      <p:sp>
        <p:nvSpPr>
          <p:cNvPr id="27" name="Shape 25"/>
          <p:cNvSpPr/>
          <p:nvPr/>
        </p:nvSpPr>
        <p:spPr>
          <a:xfrm>
            <a:off x="548640" y="5989320"/>
            <a:ext cx="11064240" cy="411480"/>
          </a:xfrm>
          <a:prstGeom prst="rect">
            <a:avLst/>
          </a:prstGeom>
          <a:solidFill>
            <a:srgbClr val="FEF3C7"/>
          </a:solidFill>
          <a:ln w="12700">
            <a:solidFill>
              <a:srgbClr val="D97706"/>
            </a:solidFill>
            <a:prstDash val="solid"/>
          </a:ln>
        </p:spPr>
      </p:sp>
      <p:sp>
        <p:nvSpPr>
          <p:cNvPr id="28" name="Text 26"/>
          <p:cNvSpPr/>
          <p:nvPr/>
        </p:nvSpPr>
        <p:spPr>
          <a:xfrm>
            <a:off x="685800" y="5989320"/>
            <a:ext cx="10881360" cy="411480"/>
          </a:xfrm>
          <a:prstGeom prst="rect">
            <a:avLst/>
          </a:prstGeom>
          <a:noFill/>
          <a:ln/>
        </p:spPr>
        <p:txBody>
          <a:bodyPr wrap="square" lIns="0" tIns="0" rIns="0" bIns="0" rtlCol="0" anchor="ctr"/>
          <a:lstStyle/>
          <a:p>
            <a:pPr indent="0" marL="0">
              <a:buNone/>
            </a:pPr>
            <a:r>
              <a:rPr lang="en-US" sz="1100" i="1" dirty="0">
                <a:solidFill>
                  <a:srgbClr val="78350F"/>
                </a:solidFill>
                <a:latin typeface="Calibri" pitchFamily="34" charset="0"/>
                <a:ea typeface="Calibri" pitchFamily="34" charset="-122"/>
                <a:cs typeface="Calibri" pitchFamily="34" charset="-120"/>
              </a:rPr>
              <a:t>Important: choose your variable names carefully — 'door_state' auto-routes on-change, 'door_position' does not. Mismatches cause data quality issues that are tedious to fix.</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lIns="0" tIns="0" rIns="0" bIns="0" rtlCol="0" anchor="ctr"/>
          <a:lstStyle/>
          <a:p>
            <a:pPr indent="0" marL="0">
              <a:buNone/>
            </a:pPr>
            <a:r>
              <a:rPr lang="en-US" sz="1100" b="1" spc="400" kern="0" dirty="0">
                <a:solidFill>
                  <a:srgbClr val="22D3EE"/>
                </a:solidFill>
                <a:latin typeface="Calibri" pitchFamily="34" charset="0"/>
                <a:ea typeface="Calibri" pitchFamily="34" charset="-122"/>
                <a:cs typeface="Calibri" pitchFamily="34" charset="-120"/>
              </a:rPr>
              <a:t>07 · METADATA</a:t>
            </a:r>
            <a:endParaRPr lang="en-US" sz="1100" dirty="0"/>
          </a:p>
        </p:txBody>
      </p:sp>
      <p:sp>
        <p:nvSpPr>
          <p:cNvPr id="3" name="Text 1"/>
          <p:cNvSpPr/>
          <p:nvPr/>
        </p:nvSpPr>
        <p:spPr>
          <a:xfrm>
            <a:off x="548640" y="548640"/>
            <a:ext cx="10058400" cy="640080"/>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Declare your variables in the catalog</a:t>
            </a:r>
            <a:endParaRPr lang="en-US" sz="3000" dirty="0"/>
          </a:p>
        </p:txBody>
      </p:sp>
      <p:sp>
        <p:nvSpPr>
          <p:cNvPr id="4" name="Text 2"/>
          <p:cNvSpPr/>
          <p:nvPr/>
        </p:nvSpPr>
        <p:spPr>
          <a:xfrm>
            <a:off x="11094415"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 / 14</a:t>
            </a:r>
            <a:endParaRPr lang="en-US" sz="900" dirty="0"/>
          </a:p>
        </p:txBody>
      </p:sp>
      <p:sp>
        <p:nvSpPr>
          <p:cNvPr id="5" name="Text 3"/>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CAPTIA Technology · Partner Integration Guide</a:t>
            </a:r>
            <a:endParaRPr lang="en-US" sz="900" dirty="0"/>
          </a:p>
        </p:txBody>
      </p:sp>
      <p:sp>
        <p:nvSpPr>
          <p:cNvPr id="6" name="Shape 4"/>
          <p:cNvSpPr/>
          <p:nvPr/>
        </p:nvSpPr>
        <p:spPr>
          <a:xfrm>
            <a:off x="11688775" y="320040"/>
            <a:ext cx="164592" cy="164592"/>
          </a:xfrm>
          <a:prstGeom prst="rect">
            <a:avLst/>
          </a:prstGeom>
          <a:solidFill>
            <a:srgbClr val="22D3EE"/>
          </a:solidFill>
          <a:ln w="12700">
            <a:solidFill>
              <a:srgbClr val="22D3EE"/>
            </a:solidFill>
            <a:prstDash val="solid"/>
          </a:ln>
        </p:spPr>
      </p:sp>
      <p:sp>
        <p:nvSpPr>
          <p:cNvPr id="7" name="Shape 5"/>
          <p:cNvSpPr/>
          <p:nvPr/>
        </p:nvSpPr>
        <p:spPr>
          <a:xfrm>
            <a:off x="11917375" y="320040"/>
            <a:ext cx="164592" cy="164592"/>
          </a:xfrm>
          <a:prstGeom prst="rect">
            <a:avLst/>
          </a:prstGeom>
          <a:solidFill>
            <a:srgbClr val="D97706"/>
          </a:solidFill>
          <a:ln w="12700">
            <a:solidFill>
              <a:srgbClr val="D97706"/>
            </a:solidFill>
            <a:prstDash val="solid"/>
          </a:ln>
        </p:spPr>
      </p:sp>
      <p:sp>
        <p:nvSpPr>
          <p:cNvPr id="8" name="Text 6"/>
          <p:cNvSpPr/>
          <p:nvPr/>
        </p:nvSpPr>
        <p:spPr>
          <a:xfrm>
            <a:off x="548640" y="1417320"/>
            <a:ext cx="10972800" cy="822960"/>
          </a:xfrm>
          <a:prstGeom prst="rect">
            <a:avLst/>
          </a:prstGeom>
          <a:noFill/>
          <a:ln/>
        </p:spPr>
        <p:txBody>
          <a:bodyPr wrap="square" lIns="0" tIns="0" rIns="0" bIns="0" rtlCol="0" anchor="ctr"/>
          <a:lstStyle/>
          <a:p>
            <a:pPr indent="0" marL="0">
              <a:buNone/>
            </a:pPr>
            <a:r>
              <a:rPr lang="en-US" sz="1300" i="1" dirty="0">
                <a:solidFill>
                  <a:srgbClr val="0F172A"/>
                </a:solidFill>
                <a:latin typeface="Calibri" pitchFamily="34" charset="0"/>
                <a:ea typeface="Calibri" pitchFamily="34" charset="-122"/>
                <a:cs typeface="Calibri" pitchFamily="34" charset="-120"/>
              </a:rPr>
              <a:t>Telegraf doesn't care about metadata, but the rest of the platform does. The InfluxDB bucket captia_metadata holds variable definitions that drive downsampling, dashboards, units and ranges. You declare each variable once, the platform routes the rest.</a:t>
            </a:r>
            <a:endParaRPr lang="en-US" sz="1300" dirty="0"/>
          </a:p>
        </p:txBody>
      </p:sp>
      <p:sp>
        <p:nvSpPr>
          <p:cNvPr id="9" name="Shape 7"/>
          <p:cNvSpPr/>
          <p:nvPr/>
        </p:nvSpPr>
        <p:spPr>
          <a:xfrm>
            <a:off x="548640" y="2377440"/>
            <a:ext cx="5029200" cy="3749040"/>
          </a:xfrm>
          <a:prstGeom prst="rect">
            <a:avLst/>
          </a:prstGeom>
          <a:solidFill>
            <a:srgbClr val="FFFFFF"/>
          </a:solidFill>
          <a:ln w="12700">
            <a:solidFill>
              <a:srgbClr val="E2E8F0"/>
            </a:solidFill>
            <a:prstDash val="solid"/>
          </a:ln>
          <a:effectLst>
            <a:outerShdw sx="100000" sy="100000" kx="0" ky="0" algn="bl" rotWithShape="0" blurRad="152400" dist="38100" dir="5400000">
              <a:srgbClr val="0F172A">
                <a:alpha val="10000"/>
              </a:srgbClr>
            </a:outerShdw>
          </a:effectLst>
        </p:spPr>
      </p:sp>
      <p:sp>
        <p:nvSpPr>
          <p:cNvPr id="10" name="Text 8"/>
          <p:cNvSpPr/>
          <p:nvPr/>
        </p:nvSpPr>
        <p:spPr>
          <a:xfrm>
            <a:off x="868680" y="2606040"/>
            <a:ext cx="4480560" cy="365760"/>
          </a:xfrm>
          <a:prstGeom prst="rect">
            <a:avLst/>
          </a:prstGeom>
          <a:noFill/>
          <a:ln/>
        </p:spPr>
        <p:txBody>
          <a:bodyPr wrap="square" lIns="0" tIns="0" rIns="0" bIns="0" rtlCol="0" anchor="ctr"/>
          <a:lstStyle/>
          <a:p>
            <a:pPr indent="0" marL="0">
              <a:buNone/>
            </a:pPr>
            <a:r>
              <a:rPr lang="en-US" sz="1800" b="1" dirty="0">
                <a:solidFill>
                  <a:srgbClr val="0E4F88"/>
                </a:solidFill>
                <a:latin typeface="Cambria" pitchFamily="34" charset="0"/>
                <a:ea typeface="Cambria" pitchFamily="34" charset="-122"/>
                <a:cs typeface="Cambria" pitchFamily="34" charset="-120"/>
              </a:rPr>
              <a:t>Required fields per variable</a:t>
            </a:r>
            <a:endParaRPr lang="en-US" sz="1800" dirty="0"/>
          </a:p>
        </p:txBody>
      </p:sp>
      <p:sp>
        <p:nvSpPr>
          <p:cNvPr id="11" name="Shape 9"/>
          <p:cNvSpPr/>
          <p:nvPr/>
        </p:nvSpPr>
        <p:spPr>
          <a:xfrm>
            <a:off x="868680" y="3017520"/>
            <a:ext cx="365760" cy="45720"/>
          </a:xfrm>
          <a:prstGeom prst="rect">
            <a:avLst/>
          </a:prstGeom>
          <a:solidFill>
            <a:srgbClr val="22D3EE"/>
          </a:solidFill>
          <a:ln w="12700">
            <a:solidFill>
              <a:srgbClr val="22D3EE"/>
            </a:solidFill>
            <a:prstDash val="solid"/>
          </a:ln>
        </p:spPr>
      </p:sp>
      <p:sp>
        <p:nvSpPr>
          <p:cNvPr id="12" name="Shape 10"/>
          <p:cNvSpPr/>
          <p:nvPr/>
        </p:nvSpPr>
        <p:spPr>
          <a:xfrm>
            <a:off x="868680" y="3300984"/>
            <a:ext cx="54864" cy="146304"/>
          </a:xfrm>
          <a:prstGeom prst="rect">
            <a:avLst/>
          </a:prstGeom>
          <a:solidFill>
            <a:srgbClr val="22D3EE"/>
          </a:solidFill>
          <a:ln w="12700">
            <a:solidFill>
              <a:srgbClr val="22D3EE"/>
            </a:solidFill>
            <a:prstDash val="solid"/>
          </a:ln>
        </p:spPr>
      </p:sp>
      <p:sp>
        <p:nvSpPr>
          <p:cNvPr id="13" name="Text 11"/>
          <p:cNvSpPr/>
          <p:nvPr/>
        </p:nvSpPr>
        <p:spPr>
          <a:xfrm>
            <a:off x="1051560" y="3246120"/>
            <a:ext cx="1554480" cy="274320"/>
          </a:xfrm>
          <a:prstGeom prst="rect">
            <a:avLst/>
          </a:prstGeom>
          <a:noFill/>
          <a:ln/>
        </p:spPr>
        <p:txBody>
          <a:bodyPr wrap="square" lIns="0" tIns="0" rIns="0" bIns="0" rtlCol="0" anchor="ctr"/>
          <a:lstStyle/>
          <a:p>
            <a:pPr indent="0" marL="0">
              <a:buNone/>
            </a:pPr>
            <a:r>
              <a:rPr lang="en-US" sz="1200" b="1" dirty="0">
                <a:solidFill>
                  <a:srgbClr val="0F172A"/>
                </a:solidFill>
                <a:latin typeface="Consolas" pitchFamily="34" charset="0"/>
                <a:ea typeface="Consolas" pitchFamily="34" charset="-122"/>
                <a:cs typeface="Consolas" pitchFamily="34" charset="-120"/>
              </a:rPr>
              <a:t>metric_kind</a:t>
            </a:r>
            <a:endParaRPr lang="en-US" sz="1200" dirty="0"/>
          </a:p>
        </p:txBody>
      </p:sp>
      <p:sp>
        <p:nvSpPr>
          <p:cNvPr id="14" name="Text 12"/>
          <p:cNvSpPr/>
          <p:nvPr/>
        </p:nvSpPr>
        <p:spPr>
          <a:xfrm>
            <a:off x="2651760" y="3246120"/>
            <a:ext cx="274320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Drives downsampling</a:t>
            </a:r>
            <a:endParaRPr lang="en-US" sz="1100" dirty="0"/>
          </a:p>
        </p:txBody>
      </p:sp>
      <p:sp>
        <p:nvSpPr>
          <p:cNvPr id="15" name="Shape 13"/>
          <p:cNvSpPr/>
          <p:nvPr/>
        </p:nvSpPr>
        <p:spPr>
          <a:xfrm>
            <a:off x="868680" y="3666744"/>
            <a:ext cx="54864" cy="146304"/>
          </a:xfrm>
          <a:prstGeom prst="rect">
            <a:avLst/>
          </a:prstGeom>
          <a:solidFill>
            <a:srgbClr val="22D3EE"/>
          </a:solidFill>
          <a:ln w="12700">
            <a:solidFill>
              <a:srgbClr val="22D3EE"/>
            </a:solidFill>
            <a:prstDash val="solid"/>
          </a:ln>
        </p:spPr>
      </p:sp>
      <p:sp>
        <p:nvSpPr>
          <p:cNvPr id="16" name="Text 14"/>
          <p:cNvSpPr/>
          <p:nvPr/>
        </p:nvSpPr>
        <p:spPr>
          <a:xfrm>
            <a:off x="1051560" y="3611880"/>
            <a:ext cx="1554480" cy="274320"/>
          </a:xfrm>
          <a:prstGeom prst="rect">
            <a:avLst/>
          </a:prstGeom>
          <a:noFill/>
          <a:ln/>
        </p:spPr>
        <p:txBody>
          <a:bodyPr wrap="square" lIns="0" tIns="0" rIns="0" bIns="0" rtlCol="0" anchor="ctr"/>
          <a:lstStyle/>
          <a:p>
            <a:pPr indent="0" marL="0">
              <a:buNone/>
            </a:pPr>
            <a:r>
              <a:rPr lang="en-US" sz="1200" b="1" dirty="0">
                <a:solidFill>
                  <a:srgbClr val="0F172A"/>
                </a:solidFill>
                <a:latin typeface="Consolas" pitchFamily="34" charset="0"/>
                <a:ea typeface="Consolas" pitchFamily="34" charset="-122"/>
                <a:cs typeface="Consolas" pitchFamily="34" charset="-120"/>
              </a:rPr>
              <a:t>data_type</a:t>
            </a:r>
            <a:endParaRPr lang="en-US" sz="1200" dirty="0"/>
          </a:p>
        </p:txBody>
      </p:sp>
      <p:sp>
        <p:nvSpPr>
          <p:cNvPr id="17" name="Text 15"/>
          <p:cNvSpPr/>
          <p:nvPr/>
        </p:nvSpPr>
        <p:spPr>
          <a:xfrm>
            <a:off x="2651760" y="3611880"/>
            <a:ext cx="274320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boolean / float / int / enum</a:t>
            </a:r>
            <a:endParaRPr lang="en-US" sz="1100" dirty="0"/>
          </a:p>
        </p:txBody>
      </p:sp>
      <p:sp>
        <p:nvSpPr>
          <p:cNvPr id="18" name="Shape 16"/>
          <p:cNvSpPr/>
          <p:nvPr/>
        </p:nvSpPr>
        <p:spPr>
          <a:xfrm>
            <a:off x="868680" y="4032504"/>
            <a:ext cx="54864" cy="146304"/>
          </a:xfrm>
          <a:prstGeom prst="rect">
            <a:avLst/>
          </a:prstGeom>
          <a:solidFill>
            <a:srgbClr val="22D3EE"/>
          </a:solidFill>
          <a:ln w="12700">
            <a:solidFill>
              <a:srgbClr val="22D3EE"/>
            </a:solidFill>
            <a:prstDash val="solid"/>
          </a:ln>
        </p:spPr>
      </p:sp>
      <p:sp>
        <p:nvSpPr>
          <p:cNvPr id="19" name="Text 17"/>
          <p:cNvSpPr/>
          <p:nvPr/>
        </p:nvSpPr>
        <p:spPr>
          <a:xfrm>
            <a:off x="1051560" y="3977640"/>
            <a:ext cx="1554480" cy="274320"/>
          </a:xfrm>
          <a:prstGeom prst="rect">
            <a:avLst/>
          </a:prstGeom>
          <a:noFill/>
          <a:ln/>
        </p:spPr>
        <p:txBody>
          <a:bodyPr wrap="square" lIns="0" tIns="0" rIns="0" bIns="0" rtlCol="0" anchor="ctr"/>
          <a:lstStyle/>
          <a:p>
            <a:pPr indent="0" marL="0">
              <a:buNone/>
            </a:pPr>
            <a:r>
              <a:rPr lang="en-US" sz="1200" b="1" dirty="0">
                <a:solidFill>
                  <a:srgbClr val="0F172A"/>
                </a:solidFill>
                <a:latin typeface="Consolas" pitchFamily="34" charset="0"/>
                <a:ea typeface="Consolas" pitchFamily="34" charset="-122"/>
                <a:cs typeface="Consolas" pitchFamily="34" charset="-120"/>
              </a:rPr>
              <a:t>unit</a:t>
            </a:r>
            <a:endParaRPr lang="en-US" sz="1200" dirty="0"/>
          </a:p>
        </p:txBody>
      </p:sp>
      <p:sp>
        <p:nvSpPr>
          <p:cNvPr id="20" name="Text 18"/>
          <p:cNvSpPr/>
          <p:nvPr/>
        </p:nvSpPr>
        <p:spPr>
          <a:xfrm>
            <a:off x="2651760" y="3977640"/>
            <a:ext cx="274320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SI or textual (°C, %, ppm, lux…)</a:t>
            </a:r>
            <a:endParaRPr lang="en-US" sz="1100" dirty="0"/>
          </a:p>
        </p:txBody>
      </p:sp>
      <p:sp>
        <p:nvSpPr>
          <p:cNvPr id="21" name="Shape 19"/>
          <p:cNvSpPr/>
          <p:nvPr/>
        </p:nvSpPr>
        <p:spPr>
          <a:xfrm>
            <a:off x="868680" y="4398264"/>
            <a:ext cx="54864" cy="146304"/>
          </a:xfrm>
          <a:prstGeom prst="rect">
            <a:avLst/>
          </a:prstGeom>
          <a:solidFill>
            <a:srgbClr val="22D3EE"/>
          </a:solidFill>
          <a:ln w="12700">
            <a:solidFill>
              <a:srgbClr val="22D3EE"/>
            </a:solidFill>
            <a:prstDash val="solid"/>
          </a:ln>
        </p:spPr>
      </p:sp>
      <p:sp>
        <p:nvSpPr>
          <p:cNvPr id="22" name="Text 20"/>
          <p:cNvSpPr/>
          <p:nvPr/>
        </p:nvSpPr>
        <p:spPr>
          <a:xfrm>
            <a:off x="1051560" y="4343400"/>
            <a:ext cx="1554480" cy="274320"/>
          </a:xfrm>
          <a:prstGeom prst="rect">
            <a:avLst/>
          </a:prstGeom>
          <a:noFill/>
          <a:ln/>
        </p:spPr>
        <p:txBody>
          <a:bodyPr wrap="square" lIns="0" tIns="0" rIns="0" bIns="0" rtlCol="0" anchor="ctr"/>
          <a:lstStyle/>
          <a:p>
            <a:pPr indent="0" marL="0">
              <a:buNone/>
            </a:pPr>
            <a:r>
              <a:rPr lang="en-US" sz="1200" b="1" dirty="0">
                <a:solidFill>
                  <a:srgbClr val="0F172A"/>
                </a:solidFill>
                <a:latin typeface="Consolas" pitchFamily="34" charset="0"/>
                <a:ea typeface="Consolas" pitchFamily="34" charset="-122"/>
                <a:cs typeface="Consolas" pitchFamily="34" charset="-120"/>
              </a:rPr>
              <a:t>display_name</a:t>
            </a:r>
            <a:endParaRPr lang="en-US" sz="1200" dirty="0"/>
          </a:p>
        </p:txBody>
      </p:sp>
      <p:sp>
        <p:nvSpPr>
          <p:cNvPr id="23" name="Text 21"/>
          <p:cNvSpPr/>
          <p:nvPr/>
        </p:nvSpPr>
        <p:spPr>
          <a:xfrm>
            <a:off x="2651760" y="4343400"/>
            <a:ext cx="274320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Localized label for dashboards</a:t>
            </a:r>
            <a:endParaRPr lang="en-US" sz="1100" dirty="0"/>
          </a:p>
        </p:txBody>
      </p:sp>
      <p:sp>
        <p:nvSpPr>
          <p:cNvPr id="24" name="Shape 22"/>
          <p:cNvSpPr/>
          <p:nvPr/>
        </p:nvSpPr>
        <p:spPr>
          <a:xfrm>
            <a:off x="868680" y="4764024"/>
            <a:ext cx="54864" cy="146304"/>
          </a:xfrm>
          <a:prstGeom prst="rect">
            <a:avLst/>
          </a:prstGeom>
          <a:solidFill>
            <a:srgbClr val="22D3EE"/>
          </a:solidFill>
          <a:ln w="12700">
            <a:solidFill>
              <a:srgbClr val="22D3EE"/>
            </a:solidFill>
            <a:prstDash val="solid"/>
          </a:ln>
        </p:spPr>
      </p:sp>
      <p:sp>
        <p:nvSpPr>
          <p:cNvPr id="25" name="Text 23"/>
          <p:cNvSpPr/>
          <p:nvPr/>
        </p:nvSpPr>
        <p:spPr>
          <a:xfrm>
            <a:off x="1051560" y="4709160"/>
            <a:ext cx="1554480" cy="274320"/>
          </a:xfrm>
          <a:prstGeom prst="rect">
            <a:avLst/>
          </a:prstGeom>
          <a:noFill/>
          <a:ln/>
        </p:spPr>
        <p:txBody>
          <a:bodyPr wrap="square" lIns="0" tIns="0" rIns="0" bIns="0" rtlCol="0" anchor="ctr"/>
          <a:lstStyle/>
          <a:p>
            <a:pPr indent="0" marL="0">
              <a:buNone/>
            </a:pPr>
            <a:r>
              <a:rPr lang="en-US" sz="1200" b="1" dirty="0">
                <a:solidFill>
                  <a:srgbClr val="0F172A"/>
                </a:solidFill>
                <a:latin typeface="Consolas" pitchFamily="34" charset="0"/>
                <a:ea typeface="Consolas" pitchFamily="34" charset="-122"/>
                <a:cs typeface="Consolas" pitchFamily="34" charset="-120"/>
              </a:rPr>
              <a:t>range_min/max</a:t>
            </a:r>
            <a:endParaRPr lang="en-US" sz="1200" dirty="0"/>
          </a:p>
        </p:txBody>
      </p:sp>
      <p:sp>
        <p:nvSpPr>
          <p:cNvPr id="26" name="Text 24"/>
          <p:cNvSpPr/>
          <p:nvPr/>
        </p:nvSpPr>
        <p:spPr>
          <a:xfrm>
            <a:off x="2651760" y="4709160"/>
            <a:ext cx="274320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Validation + dashboard scaling</a:t>
            </a:r>
            <a:endParaRPr lang="en-US" sz="1100" dirty="0"/>
          </a:p>
        </p:txBody>
      </p:sp>
      <p:sp>
        <p:nvSpPr>
          <p:cNvPr id="27" name="Shape 25"/>
          <p:cNvSpPr/>
          <p:nvPr/>
        </p:nvSpPr>
        <p:spPr>
          <a:xfrm>
            <a:off x="868680" y="5129784"/>
            <a:ext cx="54864" cy="146304"/>
          </a:xfrm>
          <a:prstGeom prst="rect">
            <a:avLst/>
          </a:prstGeom>
          <a:solidFill>
            <a:srgbClr val="22D3EE"/>
          </a:solidFill>
          <a:ln w="12700">
            <a:solidFill>
              <a:srgbClr val="22D3EE"/>
            </a:solidFill>
            <a:prstDash val="solid"/>
          </a:ln>
        </p:spPr>
      </p:sp>
      <p:sp>
        <p:nvSpPr>
          <p:cNvPr id="28" name="Text 26"/>
          <p:cNvSpPr/>
          <p:nvPr/>
        </p:nvSpPr>
        <p:spPr>
          <a:xfrm>
            <a:off x="1051560" y="5074920"/>
            <a:ext cx="1554480" cy="274320"/>
          </a:xfrm>
          <a:prstGeom prst="rect">
            <a:avLst/>
          </a:prstGeom>
          <a:noFill/>
          <a:ln/>
        </p:spPr>
        <p:txBody>
          <a:bodyPr wrap="square" lIns="0" tIns="0" rIns="0" bIns="0" rtlCol="0" anchor="ctr"/>
          <a:lstStyle/>
          <a:p>
            <a:pPr indent="0" marL="0">
              <a:buNone/>
            </a:pPr>
            <a:r>
              <a:rPr lang="en-US" sz="1200" b="1" dirty="0">
                <a:solidFill>
                  <a:srgbClr val="0F172A"/>
                </a:solidFill>
                <a:latin typeface="Consolas" pitchFamily="34" charset="0"/>
                <a:ea typeface="Consolas" pitchFamily="34" charset="-122"/>
                <a:cs typeface="Consolas" pitchFamily="34" charset="-120"/>
              </a:rPr>
              <a:t>is_actuator</a:t>
            </a:r>
            <a:endParaRPr lang="en-US" sz="1200" dirty="0"/>
          </a:p>
        </p:txBody>
      </p:sp>
      <p:sp>
        <p:nvSpPr>
          <p:cNvPr id="29" name="Text 27"/>
          <p:cNvSpPr/>
          <p:nvPr/>
        </p:nvSpPr>
        <p:spPr>
          <a:xfrm>
            <a:off x="2651760" y="5074920"/>
            <a:ext cx="274320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True if accepts /cmd/{name} writes</a:t>
            </a:r>
            <a:endParaRPr lang="en-US" sz="1100" dirty="0"/>
          </a:p>
        </p:txBody>
      </p:sp>
      <p:sp>
        <p:nvSpPr>
          <p:cNvPr id="30" name="Shape 28"/>
          <p:cNvSpPr/>
          <p:nvPr/>
        </p:nvSpPr>
        <p:spPr>
          <a:xfrm>
            <a:off x="868680" y="5495544"/>
            <a:ext cx="54864" cy="146304"/>
          </a:xfrm>
          <a:prstGeom prst="rect">
            <a:avLst/>
          </a:prstGeom>
          <a:solidFill>
            <a:srgbClr val="22D3EE"/>
          </a:solidFill>
          <a:ln w="12700">
            <a:solidFill>
              <a:srgbClr val="22D3EE"/>
            </a:solidFill>
            <a:prstDash val="solid"/>
          </a:ln>
        </p:spPr>
      </p:sp>
      <p:sp>
        <p:nvSpPr>
          <p:cNvPr id="31" name="Text 29"/>
          <p:cNvSpPr/>
          <p:nvPr/>
        </p:nvSpPr>
        <p:spPr>
          <a:xfrm>
            <a:off x="1051560" y="5440680"/>
            <a:ext cx="1554480" cy="274320"/>
          </a:xfrm>
          <a:prstGeom prst="rect">
            <a:avLst/>
          </a:prstGeom>
          <a:noFill/>
          <a:ln/>
        </p:spPr>
        <p:txBody>
          <a:bodyPr wrap="square" lIns="0" tIns="0" rIns="0" bIns="0" rtlCol="0" anchor="ctr"/>
          <a:lstStyle/>
          <a:p>
            <a:pPr indent="0" marL="0">
              <a:buNone/>
            </a:pPr>
            <a:r>
              <a:rPr lang="en-US" sz="1200" b="1" dirty="0">
                <a:solidFill>
                  <a:srgbClr val="0F172A"/>
                </a:solidFill>
                <a:latin typeface="Consolas" pitchFamily="34" charset="0"/>
                <a:ea typeface="Consolas" pitchFamily="34" charset="-122"/>
                <a:cs typeface="Consolas" pitchFamily="34" charset="-120"/>
              </a:rPr>
              <a:t>storage_mode</a:t>
            </a:r>
            <a:endParaRPr lang="en-US" sz="1200" dirty="0"/>
          </a:p>
        </p:txBody>
      </p:sp>
      <p:sp>
        <p:nvSpPr>
          <p:cNvPr id="32" name="Text 30"/>
          <p:cNvSpPr/>
          <p:nvPr/>
        </p:nvSpPr>
        <p:spPr>
          <a:xfrm>
            <a:off x="2651760" y="5440680"/>
            <a:ext cx="274320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Derived from metric_kind</a:t>
            </a:r>
            <a:endParaRPr lang="en-US" sz="1100" dirty="0"/>
          </a:p>
        </p:txBody>
      </p:sp>
      <p:sp>
        <p:nvSpPr>
          <p:cNvPr id="33" name="Shape 31"/>
          <p:cNvSpPr/>
          <p:nvPr/>
        </p:nvSpPr>
        <p:spPr>
          <a:xfrm>
            <a:off x="868680" y="5861304"/>
            <a:ext cx="54864" cy="146304"/>
          </a:xfrm>
          <a:prstGeom prst="rect">
            <a:avLst/>
          </a:prstGeom>
          <a:solidFill>
            <a:srgbClr val="22D3EE"/>
          </a:solidFill>
          <a:ln w="12700">
            <a:solidFill>
              <a:srgbClr val="22D3EE"/>
            </a:solidFill>
            <a:prstDash val="solid"/>
          </a:ln>
        </p:spPr>
      </p:sp>
      <p:sp>
        <p:nvSpPr>
          <p:cNvPr id="34" name="Text 32"/>
          <p:cNvSpPr/>
          <p:nvPr/>
        </p:nvSpPr>
        <p:spPr>
          <a:xfrm>
            <a:off x="1051560" y="5806440"/>
            <a:ext cx="1554480" cy="274320"/>
          </a:xfrm>
          <a:prstGeom prst="rect">
            <a:avLst/>
          </a:prstGeom>
          <a:noFill/>
          <a:ln/>
        </p:spPr>
        <p:txBody>
          <a:bodyPr wrap="square" lIns="0" tIns="0" rIns="0" bIns="0" rtlCol="0" anchor="ctr"/>
          <a:lstStyle/>
          <a:p>
            <a:pPr indent="0" marL="0">
              <a:buNone/>
            </a:pPr>
            <a:r>
              <a:rPr lang="en-US" sz="1200" b="1" dirty="0">
                <a:solidFill>
                  <a:srgbClr val="0F172A"/>
                </a:solidFill>
                <a:latin typeface="Consolas" pitchFamily="34" charset="0"/>
                <a:ea typeface="Consolas" pitchFamily="34" charset="-122"/>
                <a:cs typeface="Consolas" pitchFamily="34" charset="-120"/>
              </a:rPr>
              <a:t>device_id</a:t>
            </a:r>
            <a:endParaRPr lang="en-US" sz="1200" dirty="0"/>
          </a:p>
        </p:txBody>
      </p:sp>
      <p:sp>
        <p:nvSpPr>
          <p:cNvPr id="35" name="Text 33"/>
          <p:cNvSpPr/>
          <p:nvPr/>
        </p:nvSpPr>
        <p:spPr>
          <a:xfrm>
            <a:off x="2651760" y="5806440"/>
            <a:ext cx="274320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Maps to physical device record</a:t>
            </a:r>
            <a:endParaRPr lang="en-US" sz="1100" dirty="0"/>
          </a:p>
        </p:txBody>
      </p:sp>
      <p:sp>
        <p:nvSpPr>
          <p:cNvPr id="36" name="Shape 34"/>
          <p:cNvSpPr/>
          <p:nvPr/>
        </p:nvSpPr>
        <p:spPr>
          <a:xfrm>
            <a:off x="5760720" y="2377440"/>
            <a:ext cx="5852160" cy="3749040"/>
          </a:xfrm>
          <a:prstGeom prst="rect">
            <a:avLst/>
          </a:prstGeom>
          <a:solidFill>
            <a:srgbClr val="FFFFFF"/>
          </a:solidFill>
          <a:ln w="12700">
            <a:solidFill>
              <a:srgbClr val="E2E8F0"/>
            </a:solidFill>
            <a:prstDash val="solid"/>
          </a:ln>
          <a:effectLst>
            <a:outerShdw sx="100000" sy="100000" kx="0" ky="0" algn="bl" rotWithShape="0" blurRad="152400" dist="38100" dir="5400000">
              <a:srgbClr val="0F172A">
                <a:alpha val="10000"/>
              </a:srgbClr>
            </a:outerShdw>
          </a:effectLst>
        </p:spPr>
      </p:sp>
      <p:sp>
        <p:nvSpPr>
          <p:cNvPr id="37" name="Text 35"/>
          <p:cNvSpPr/>
          <p:nvPr/>
        </p:nvSpPr>
        <p:spPr>
          <a:xfrm>
            <a:off x="6080760" y="2606040"/>
            <a:ext cx="5303520" cy="365760"/>
          </a:xfrm>
          <a:prstGeom prst="rect">
            <a:avLst/>
          </a:prstGeom>
          <a:noFill/>
          <a:ln/>
        </p:spPr>
        <p:txBody>
          <a:bodyPr wrap="square" lIns="0" tIns="0" rIns="0" bIns="0" rtlCol="0" anchor="ctr"/>
          <a:lstStyle/>
          <a:p>
            <a:pPr indent="0" marL="0">
              <a:buNone/>
            </a:pPr>
            <a:r>
              <a:rPr lang="en-US" sz="1800" b="1" dirty="0">
                <a:solidFill>
                  <a:srgbClr val="0E4F88"/>
                </a:solidFill>
                <a:latin typeface="Cambria" pitchFamily="34" charset="0"/>
                <a:ea typeface="Cambria" pitchFamily="34" charset="-122"/>
                <a:cs typeface="Cambria" pitchFamily="34" charset="-120"/>
              </a:rPr>
              <a:t>metric_kind  →  storage  →  rollup stats</a:t>
            </a:r>
            <a:endParaRPr lang="en-US" sz="1800" dirty="0"/>
          </a:p>
        </p:txBody>
      </p:sp>
      <p:sp>
        <p:nvSpPr>
          <p:cNvPr id="38" name="Shape 36"/>
          <p:cNvSpPr/>
          <p:nvPr/>
        </p:nvSpPr>
        <p:spPr>
          <a:xfrm>
            <a:off x="6080760" y="3017520"/>
            <a:ext cx="365760" cy="45720"/>
          </a:xfrm>
          <a:prstGeom prst="rect">
            <a:avLst/>
          </a:prstGeom>
          <a:solidFill>
            <a:srgbClr val="22D3EE"/>
          </a:solidFill>
          <a:ln w="12700">
            <a:solidFill>
              <a:srgbClr val="22D3EE"/>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080760" y="3246120"/>
          <a:ext cx="5212080" cy="914400"/>
        </p:xfrm>
        <a:graphic>
          <a:graphicData uri="http://schemas.openxmlformats.org/drawingml/2006/table">
            <a:tbl>
              <a:tblPr/>
              <a:tblGrid>
                <a:gridCol w="1691640"/>
                <a:gridCol w="1463040"/>
                <a:gridCol w="2057400"/>
              </a:tblGrid>
              <a:tr h="347472">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metric_kind</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929"/>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Storage</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929"/>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Stats produced</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929"/>
                    </a:solidFill>
                  </a:tcPr>
                </a:tc>
              </a:tr>
              <a:tr h="347472">
                <a:tc>
                  <a:txBody>
                    <a:bodyPr/>
                    <a:lstStyle/>
                    <a:p>
                      <a:pPr indent="0" marL="0">
                        <a:buNone/>
                      </a:pPr>
                      <a:r>
                        <a:rPr lang="en-US" sz="1050" dirty="0">
                          <a:solidFill>
                            <a:srgbClr val="0F172A"/>
                          </a:solidFill>
                          <a:latin typeface="Consolas" pitchFamily="34" charset="0"/>
                          <a:ea typeface="Consolas" pitchFamily="34" charset="-122"/>
                          <a:cs typeface="Consolas" pitchFamily="34" charset="-120"/>
                        </a:rPr>
                        <a:t>analog_gauge</a:t>
                      </a:r>
                      <a:endParaRPr lang="en-US" sz="105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continuous</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F172A"/>
                          </a:solidFill>
                          <a:latin typeface="Consolas" pitchFamily="34" charset="0"/>
                          <a:ea typeface="Consolas" pitchFamily="34" charset="-122"/>
                          <a:cs typeface="Consolas" pitchFamily="34" charset="-120"/>
                        </a:rPr>
                        <a:t>mean / min / max</a:t>
                      </a:r>
                      <a:endParaRPr lang="en-US" sz="105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47472">
                <a:tc>
                  <a:txBody>
                    <a:bodyPr/>
                    <a:lstStyle/>
                    <a:p>
                      <a:pPr indent="0" marL="0">
                        <a:buNone/>
                      </a:pPr>
                      <a:r>
                        <a:rPr lang="en-US" sz="1050" dirty="0">
                          <a:solidFill>
                            <a:srgbClr val="0F172A"/>
                          </a:solidFill>
                          <a:latin typeface="Consolas" pitchFamily="34" charset="0"/>
                          <a:ea typeface="Consolas" pitchFamily="34" charset="-122"/>
                          <a:cs typeface="Consolas" pitchFamily="34" charset="-120"/>
                        </a:rPr>
                        <a:t>bool_presence</a:t>
                      </a:r>
                      <a:endParaRPr lang="en-US" sz="105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continuous</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F172A"/>
                          </a:solidFill>
                          <a:latin typeface="Consolas" pitchFamily="34" charset="0"/>
                          <a:ea typeface="Consolas" pitchFamily="34" charset="-122"/>
                          <a:cs typeface="Consolas" pitchFamily="34" charset="-120"/>
                        </a:rPr>
                        <a:t>duty / count_rise / last</a:t>
                      </a:r>
                      <a:endParaRPr lang="en-US" sz="105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47472">
                <a:tc>
                  <a:txBody>
                    <a:bodyPr/>
                    <a:lstStyle/>
                    <a:p>
                      <a:pPr indent="0" marL="0">
                        <a:buNone/>
                      </a:pPr>
                      <a:r>
                        <a:rPr lang="en-US" sz="1050" dirty="0">
                          <a:solidFill>
                            <a:srgbClr val="0F172A"/>
                          </a:solidFill>
                          <a:latin typeface="Consolas" pitchFamily="34" charset="0"/>
                          <a:ea typeface="Consolas" pitchFamily="34" charset="-122"/>
                          <a:cs typeface="Consolas" pitchFamily="34" charset="-120"/>
                        </a:rPr>
                        <a:t>bool_state</a:t>
                      </a:r>
                      <a:endParaRPr lang="en-US" sz="105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b="1" dirty="0">
                          <a:solidFill>
                            <a:srgbClr val="D97706"/>
                          </a:solidFill>
                          <a:latin typeface="Calibri" pitchFamily="34" charset="0"/>
                          <a:ea typeface="Calibri" pitchFamily="34" charset="-122"/>
                          <a:cs typeface="Calibri" pitchFamily="34" charset="-120"/>
                        </a:rPr>
                        <a:t>on_change</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F172A"/>
                          </a:solidFill>
                          <a:latin typeface="Consolas" pitchFamily="34" charset="0"/>
                          <a:ea typeface="Consolas" pitchFamily="34" charset="-122"/>
                          <a:cs typeface="Consolas" pitchFamily="34" charset="-120"/>
                        </a:rPr>
                        <a:t>last / count_rise</a:t>
                      </a:r>
                      <a:endParaRPr lang="en-US" sz="105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47472">
                <a:tc>
                  <a:txBody>
                    <a:bodyPr/>
                    <a:lstStyle/>
                    <a:p>
                      <a:pPr indent="0" marL="0">
                        <a:buNone/>
                      </a:pPr>
                      <a:r>
                        <a:rPr lang="en-US" sz="1050" dirty="0">
                          <a:solidFill>
                            <a:srgbClr val="0F172A"/>
                          </a:solidFill>
                          <a:latin typeface="Consolas" pitchFamily="34" charset="0"/>
                          <a:ea typeface="Consolas" pitchFamily="34" charset="-122"/>
                          <a:cs typeface="Consolas" pitchFamily="34" charset="-120"/>
                        </a:rPr>
                        <a:t>setpoint_step</a:t>
                      </a:r>
                      <a:endParaRPr lang="en-US" sz="105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b="1" dirty="0">
                          <a:solidFill>
                            <a:srgbClr val="D97706"/>
                          </a:solidFill>
                          <a:latin typeface="Calibri" pitchFamily="34" charset="0"/>
                          <a:ea typeface="Calibri" pitchFamily="34" charset="-122"/>
                          <a:cs typeface="Calibri" pitchFamily="34" charset="-120"/>
                        </a:rPr>
                        <a:t>on_change</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F172A"/>
                          </a:solidFill>
                          <a:latin typeface="Consolas" pitchFamily="34" charset="0"/>
                          <a:ea typeface="Consolas" pitchFamily="34" charset="-122"/>
                          <a:cs typeface="Consolas" pitchFamily="34" charset="-120"/>
                        </a:rPr>
                        <a:t>last</a:t>
                      </a:r>
                      <a:endParaRPr lang="en-US" sz="105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47472">
                <a:tc>
                  <a:txBody>
                    <a:bodyPr/>
                    <a:lstStyle/>
                    <a:p>
                      <a:pPr indent="0" marL="0">
                        <a:buNone/>
                      </a:pPr>
                      <a:r>
                        <a:rPr lang="en-US" sz="1050" dirty="0">
                          <a:solidFill>
                            <a:srgbClr val="0F172A"/>
                          </a:solidFill>
                          <a:latin typeface="Consolas" pitchFamily="34" charset="0"/>
                          <a:ea typeface="Consolas" pitchFamily="34" charset="-122"/>
                          <a:cs typeface="Consolas" pitchFamily="34" charset="-120"/>
                        </a:rPr>
                        <a:t>counter</a:t>
                      </a:r>
                      <a:endParaRPr lang="en-US" sz="105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continuous</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F172A"/>
                          </a:solidFill>
                          <a:latin typeface="Consolas" pitchFamily="34" charset="0"/>
                          <a:ea typeface="Consolas" pitchFamily="34" charset="-122"/>
                          <a:cs typeface="Consolas" pitchFamily="34" charset="-120"/>
                        </a:rPr>
                        <a:t>sum (delta)</a:t>
                      </a:r>
                      <a:endParaRPr lang="en-US" sz="105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47472">
                <a:tc>
                  <a:txBody>
                    <a:bodyPr/>
                    <a:lstStyle/>
                    <a:p>
                      <a:pPr indent="0" marL="0">
                        <a:buNone/>
                      </a:pPr>
                      <a:r>
                        <a:rPr lang="en-US" sz="1050" dirty="0">
                          <a:solidFill>
                            <a:srgbClr val="0F172A"/>
                          </a:solidFill>
                          <a:latin typeface="Consolas" pitchFamily="34" charset="0"/>
                          <a:ea typeface="Consolas" pitchFamily="34" charset="-122"/>
                          <a:cs typeface="Consolas" pitchFamily="34" charset="-120"/>
                        </a:rPr>
                        <a:t>skip</a:t>
                      </a:r>
                      <a:endParaRPr lang="en-US" sz="105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continuous</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(no rollup)</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40" name="Text 37"/>
          <p:cNvSpPr/>
          <p:nvPr/>
        </p:nvSpPr>
        <p:spPr>
          <a:xfrm>
            <a:off x="6080760" y="5669280"/>
            <a:ext cx="5212080" cy="36576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Catalog is loaded by metadata-bootstrap on stack start, then editable via the Variable Config UI or our /v1/metadata/* API.</a:t>
            </a:r>
            <a:endParaRPr lang="en-US" sz="1050" dirty="0"/>
          </a:p>
        </p:txBody>
      </p:sp>
      <p:sp>
        <p:nvSpPr>
          <p:cNvPr id="41" name="Shape 38"/>
          <p:cNvSpPr/>
          <p:nvPr/>
        </p:nvSpPr>
        <p:spPr>
          <a:xfrm>
            <a:off x="548640" y="6144768"/>
            <a:ext cx="11064240" cy="274320"/>
          </a:xfrm>
          <a:prstGeom prst="rect">
            <a:avLst/>
          </a:prstGeom>
          <a:solidFill>
            <a:srgbClr val="ECFEFF"/>
          </a:solidFill>
          <a:ln w="12700">
            <a:solidFill>
              <a:srgbClr val="0E7490"/>
            </a:solidFill>
            <a:prstDash val="solid"/>
          </a:ln>
        </p:spPr>
      </p:sp>
      <p:sp>
        <p:nvSpPr>
          <p:cNvPr id="42" name="Text 39"/>
          <p:cNvSpPr/>
          <p:nvPr/>
        </p:nvSpPr>
        <p:spPr>
          <a:xfrm>
            <a:off x="685800" y="6144768"/>
            <a:ext cx="10881360" cy="274320"/>
          </a:xfrm>
          <a:prstGeom prst="rect">
            <a:avLst/>
          </a:prstGeom>
          <a:noFill/>
          <a:ln/>
        </p:spPr>
        <p:txBody>
          <a:bodyPr wrap="square" lIns="0" tIns="0" rIns="0" bIns="0" rtlCol="0" anchor="ctr"/>
          <a:lstStyle/>
          <a:p>
            <a:pPr indent="0" marL="0">
              <a:buNone/>
            </a:pPr>
            <a:r>
              <a:rPr lang="en-US" sz="1050" i="1" dirty="0">
                <a:solidFill>
                  <a:srgbClr val="0E7490"/>
                </a:solidFill>
                <a:latin typeface="Calibri" pitchFamily="34" charset="0"/>
                <a:ea typeface="Calibri" pitchFamily="34" charset="-122"/>
                <a:cs typeface="Calibri" pitchFamily="34" charset="-120"/>
              </a:rPr>
              <a:t>During onboarding we co-author the variables.yaml with you. You don't write JSON by hand.</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lIns="0" tIns="0" rIns="0" bIns="0" rtlCol="0" anchor="ctr"/>
          <a:lstStyle/>
          <a:p>
            <a:pPr indent="0" marL="0">
              <a:buNone/>
            </a:pPr>
            <a:r>
              <a:rPr lang="en-US" sz="1100" b="1" spc="400" kern="0" dirty="0">
                <a:solidFill>
                  <a:srgbClr val="22D3EE"/>
                </a:solidFill>
                <a:latin typeface="Calibri" pitchFamily="34" charset="0"/>
                <a:ea typeface="Calibri" pitchFamily="34" charset="-122"/>
                <a:cs typeface="Calibri" pitchFamily="34" charset="-120"/>
              </a:rPr>
              <a:t>08 · NETWORK</a:t>
            </a:r>
            <a:endParaRPr lang="en-US" sz="1100" dirty="0"/>
          </a:p>
        </p:txBody>
      </p:sp>
      <p:sp>
        <p:nvSpPr>
          <p:cNvPr id="3" name="Text 1"/>
          <p:cNvSpPr/>
          <p:nvPr/>
        </p:nvSpPr>
        <p:spPr>
          <a:xfrm>
            <a:off x="548640" y="548640"/>
            <a:ext cx="10058400" cy="640080"/>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How your devices reach the broker</a:t>
            </a:r>
            <a:endParaRPr lang="en-US" sz="3000" dirty="0"/>
          </a:p>
        </p:txBody>
      </p:sp>
      <p:sp>
        <p:nvSpPr>
          <p:cNvPr id="4" name="Text 2"/>
          <p:cNvSpPr/>
          <p:nvPr/>
        </p:nvSpPr>
        <p:spPr>
          <a:xfrm>
            <a:off x="11094415"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 / 14</a:t>
            </a:r>
            <a:endParaRPr lang="en-US" sz="900" dirty="0"/>
          </a:p>
        </p:txBody>
      </p:sp>
      <p:sp>
        <p:nvSpPr>
          <p:cNvPr id="5" name="Text 3"/>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CAPTIA Technology · Partner Integration Guide</a:t>
            </a:r>
            <a:endParaRPr lang="en-US" sz="900" dirty="0"/>
          </a:p>
        </p:txBody>
      </p:sp>
      <p:sp>
        <p:nvSpPr>
          <p:cNvPr id="6" name="Shape 4"/>
          <p:cNvSpPr/>
          <p:nvPr/>
        </p:nvSpPr>
        <p:spPr>
          <a:xfrm>
            <a:off x="11688775" y="320040"/>
            <a:ext cx="164592" cy="164592"/>
          </a:xfrm>
          <a:prstGeom prst="rect">
            <a:avLst/>
          </a:prstGeom>
          <a:solidFill>
            <a:srgbClr val="22D3EE"/>
          </a:solidFill>
          <a:ln w="12700">
            <a:solidFill>
              <a:srgbClr val="22D3EE"/>
            </a:solidFill>
            <a:prstDash val="solid"/>
          </a:ln>
        </p:spPr>
      </p:sp>
      <p:sp>
        <p:nvSpPr>
          <p:cNvPr id="7" name="Shape 5"/>
          <p:cNvSpPr/>
          <p:nvPr/>
        </p:nvSpPr>
        <p:spPr>
          <a:xfrm>
            <a:off x="11917375" y="320040"/>
            <a:ext cx="164592" cy="164592"/>
          </a:xfrm>
          <a:prstGeom prst="rect">
            <a:avLst/>
          </a:prstGeom>
          <a:solidFill>
            <a:srgbClr val="D97706"/>
          </a:solidFill>
          <a:ln w="12700">
            <a:solidFill>
              <a:srgbClr val="D97706"/>
            </a:solidFill>
            <a:prstDash val="solid"/>
          </a:ln>
        </p:spPr>
      </p:sp>
      <p:sp>
        <p:nvSpPr>
          <p:cNvPr id="8" name="Text 6"/>
          <p:cNvSpPr/>
          <p:nvPr/>
        </p:nvSpPr>
        <p:spPr>
          <a:xfrm>
            <a:off x="548640" y="1417320"/>
            <a:ext cx="10972800" cy="822960"/>
          </a:xfrm>
          <a:prstGeom prst="rect">
            <a:avLst/>
          </a:prstGeom>
          <a:noFill/>
          <a:ln/>
        </p:spPr>
        <p:txBody>
          <a:bodyPr wrap="square" lIns="0" tIns="0" rIns="0" bIns="0" rtlCol="0" anchor="ctr"/>
          <a:lstStyle/>
          <a:p>
            <a:pPr indent="0" marL="0">
              <a:buNone/>
            </a:pPr>
            <a:r>
              <a:rPr lang="en-US" sz="1300" i="1" dirty="0">
                <a:solidFill>
                  <a:srgbClr val="0F172A"/>
                </a:solidFill>
                <a:latin typeface="Calibri" pitchFamily="34" charset="0"/>
                <a:ea typeface="Calibri" pitchFamily="34" charset="-122"/>
                <a:cs typeface="Calibri" pitchFamily="34" charset="-120"/>
              </a:rPr>
              <a:t>Each CAPTIA edge server lives on the customer's OT LAN. Your devices reach the local Mosquitto broker over TCP. Anonymous access is enforced by network topology — there are no broker passwords by default.</a:t>
            </a:r>
            <a:endParaRPr lang="en-US" sz="1300" dirty="0"/>
          </a:p>
        </p:txBody>
      </p:sp>
      <p:sp>
        <p:nvSpPr>
          <p:cNvPr id="9" name="Shape 7"/>
          <p:cNvSpPr/>
          <p:nvPr/>
        </p:nvSpPr>
        <p:spPr>
          <a:xfrm>
            <a:off x="548640" y="2468880"/>
            <a:ext cx="11064240" cy="2286000"/>
          </a:xfrm>
          <a:prstGeom prst="rect">
            <a:avLst/>
          </a:prstGeom>
          <a:solidFill>
            <a:srgbClr val="FFFFFF"/>
          </a:solidFill>
          <a:ln w="12700">
            <a:solidFill>
              <a:srgbClr val="E2E8F0"/>
            </a:solidFill>
            <a:prstDash val="solid"/>
          </a:ln>
          <a:effectLst>
            <a:outerShdw sx="100000" sy="100000" kx="0" ky="0" algn="bl" rotWithShape="0" blurRad="152400" dist="38100" dir="5400000">
              <a:srgbClr val="0F172A">
                <a:alpha val="10000"/>
              </a:srgbClr>
            </a:outerShdw>
          </a:effectLst>
        </p:spPr>
      </p:sp>
      <p:sp>
        <p:nvSpPr>
          <p:cNvPr id="10" name="Text 8"/>
          <p:cNvSpPr/>
          <p:nvPr/>
        </p:nvSpPr>
        <p:spPr>
          <a:xfrm>
            <a:off x="777240" y="2606040"/>
            <a:ext cx="4572000" cy="274320"/>
          </a:xfrm>
          <a:prstGeom prst="rect">
            <a:avLst/>
          </a:prstGeom>
          <a:noFill/>
          <a:ln/>
        </p:spPr>
        <p:txBody>
          <a:bodyPr wrap="square" lIns="0" tIns="0" rIns="0" bIns="0" rtlCol="0" anchor="ctr"/>
          <a:lstStyle/>
          <a:p>
            <a:pPr indent="0" marL="0">
              <a:buNone/>
            </a:pPr>
            <a:r>
              <a:rPr lang="en-US" sz="1000" b="1" spc="200" kern="0" dirty="0">
                <a:solidFill>
                  <a:srgbClr val="64748B"/>
                </a:solidFill>
                <a:latin typeface="Calibri" pitchFamily="34" charset="0"/>
                <a:ea typeface="Calibri" pitchFamily="34" charset="-122"/>
                <a:cs typeface="Calibri" pitchFamily="34" charset="-120"/>
              </a:rPr>
              <a:t>Edge server — OT side</a:t>
            </a:r>
            <a:endParaRPr lang="en-US" sz="1000" dirty="0"/>
          </a:p>
        </p:txBody>
      </p:sp>
      <p:sp>
        <p:nvSpPr>
          <p:cNvPr id="11" name="Shape 9"/>
          <p:cNvSpPr/>
          <p:nvPr/>
        </p:nvSpPr>
        <p:spPr>
          <a:xfrm>
            <a:off x="1005840" y="3017520"/>
            <a:ext cx="1828800" cy="502920"/>
          </a:xfrm>
          <a:prstGeom prst="roundRect">
            <a:avLst>
              <a:gd name="adj" fmla="val 10909"/>
            </a:avLst>
          </a:prstGeom>
          <a:solidFill>
            <a:srgbClr val="D97706"/>
          </a:solidFill>
          <a:ln w="12700">
            <a:solidFill>
              <a:srgbClr val="D97706"/>
            </a:solidFill>
            <a:prstDash val="solid"/>
          </a:ln>
        </p:spPr>
      </p:sp>
      <p:sp>
        <p:nvSpPr>
          <p:cNvPr id="12" name="Text 10"/>
          <p:cNvSpPr/>
          <p:nvPr/>
        </p:nvSpPr>
        <p:spPr>
          <a:xfrm>
            <a:off x="1005840" y="3017520"/>
            <a:ext cx="182880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Sensor</a:t>
            </a:r>
            <a:endParaRPr lang="en-US" sz="1200" dirty="0"/>
          </a:p>
        </p:txBody>
      </p:sp>
      <p:sp>
        <p:nvSpPr>
          <p:cNvPr id="13" name="Shape 11"/>
          <p:cNvSpPr/>
          <p:nvPr/>
        </p:nvSpPr>
        <p:spPr>
          <a:xfrm>
            <a:off x="2880360" y="3268980"/>
            <a:ext cx="1371600" cy="0"/>
          </a:xfrm>
          <a:prstGeom prst="line">
            <a:avLst/>
          </a:prstGeom>
          <a:noFill/>
          <a:ln w="25400">
            <a:solidFill>
              <a:srgbClr val="0E4F88"/>
            </a:solidFill>
            <a:prstDash val="solid"/>
            <a:tailEnd type="triangle"/>
          </a:ln>
        </p:spPr>
      </p:sp>
      <p:sp>
        <p:nvSpPr>
          <p:cNvPr id="14" name="Shape 12"/>
          <p:cNvSpPr/>
          <p:nvPr/>
        </p:nvSpPr>
        <p:spPr>
          <a:xfrm>
            <a:off x="1005840" y="3611880"/>
            <a:ext cx="1828800" cy="502920"/>
          </a:xfrm>
          <a:prstGeom prst="roundRect">
            <a:avLst>
              <a:gd name="adj" fmla="val 10909"/>
            </a:avLst>
          </a:prstGeom>
          <a:solidFill>
            <a:srgbClr val="D97706"/>
          </a:solidFill>
          <a:ln w="12700">
            <a:solidFill>
              <a:srgbClr val="D97706"/>
            </a:solidFill>
            <a:prstDash val="solid"/>
          </a:ln>
        </p:spPr>
      </p:sp>
      <p:sp>
        <p:nvSpPr>
          <p:cNvPr id="15" name="Text 13"/>
          <p:cNvSpPr/>
          <p:nvPr/>
        </p:nvSpPr>
        <p:spPr>
          <a:xfrm>
            <a:off x="1005840" y="3611880"/>
            <a:ext cx="182880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Gateway</a:t>
            </a:r>
            <a:endParaRPr lang="en-US" sz="1200" dirty="0"/>
          </a:p>
        </p:txBody>
      </p:sp>
      <p:sp>
        <p:nvSpPr>
          <p:cNvPr id="16" name="Shape 14"/>
          <p:cNvSpPr/>
          <p:nvPr/>
        </p:nvSpPr>
        <p:spPr>
          <a:xfrm>
            <a:off x="2880360" y="3863340"/>
            <a:ext cx="1371600" cy="0"/>
          </a:xfrm>
          <a:prstGeom prst="line">
            <a:avLst/>
          </a:prstGeom>
          <a:noFill/>
          <a:ln w="25400">
            <a:solidFill>
              <a:srgbClr val="0E4F88"/>
            </a:solidFill>
            <a:prstDash val="solid"/>
            <a:tailEnd type="triangle"/>
          </a:ln>
        </p:spPr>
      </p:sp>
      <p:sp>
        <p:nvSpPr>
          <p:cNvPr id="17" name="Shape 15"/>
          <p:cNvSpPr/>
          <p:nvPr/>
        </p:nvSpPr>
        <p:spPr>
          <a:xfrm>
            <a:off x="1005840" y="4206240"/>
            <a:ext cx="1828800" cy="502920"/>
          </a:xfrm>
          <a:prstGeom prst="roundRect">
            <a:avLst>
              <a:gd name="adj" fmla="val 10909"/>
            </a:avLst>
          </a:prstGeom>
          <a:solidFill>
            <a:srgbClr val="D97706"/>
          </a:solidFill>
          <a:ln w="12700">
            <a:solidFill>
              <a:srgbClr val="D97706"/>
            </a:solidFill>
            <a:prstDash val="solid"/>
          </a:ln>
        </p:spPr>
      </p:sp>
      <p:sp>
        <p:nvSpPr>
          <p:cNvPr id="18" name="Text 16"/>
          <p:cNvSpPr/>
          <p:nvPr/>
        </p:nvSpPr>
        <p:spPr>
          <a:xfrm>
            <a:off x="1005840" y="4206240"/>
            <a:ext cx="182880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PLC / OPC-UA</a:t>
            </a:r>
            <a:endParaRPr lang="en-US" sz="1200" dirty="0"/>
          </a:p>
        </p:txBody>
      </p:sp>
      <p:sp>
        <p:nvSpPr>
          <p:cNvPr id="19" name="Shape 17"/>
          <p:cNvSpPr/>
          <p:nvPr/>
        </p:nvSpPr>
        <p:spPr>
          <a:xfrm>
            <a:off x="2880360" y="4457700"/>
            <a:ext cx="1371600" cy="0"/>
          </a:xfrm>
          <a:prstGeom prst="line">
            <a:avLst/>
          </a:prstGeom>
          <a:noFill/>
          <a:ln w="25400">
            <a:solidFill>
              <a:srgbClr val="0E4F88"/>
            </a:solidFill>
            <a:prstDash val="solid"/>
            <a:tailEnd type="triangle"/>
          </a:ln>
        </p:spPr>
      </p:sp>
      <p:sp>
        <p:nvSpPr>
          <p:cNvPr id="20" name="Shape 18"/>
          <p:cNvSpPr/>
          <p:nvPr/>
        </p:nvSpPr>
        <p:spPr>
          <a:xfrm>
            <a:off x="4389120" y="3108960"/>
            <a:ext cx="2286000" cy="1463040"/>
          </a:xfrm>
          <a:prstGeom prst="rect">
            <a:avLst/>
          </a:prstGeom>
          <a:solidFill>
            <a:srgbClr val="EFF6FF"/>
          </a:solidFill>
          <a:ln w="25400">
            <a:solidFill>
              <a:srgbClr val="0E4F88"/>
            </a:solidFill>
            <a:prstDash val="solid"/>
          </a:ln>
        </p:spPr>
      </p:sp>
      <p:pic>
        <p:nvPicPr>
          <p:cNvPr id="21" name="Image 0" descr="preencoded.png">    </p:cNvPr>
          <p:cNvPicPr>
            <a:picLocks noChangeAspect="1"/>
          </p:cNvPicPr>
          <p:nvPr/>
        </p:nvPicPr>
        <p:blipFill>
          <a:blip r:embed="rId1"/>
          <a:stretch>
            <a:fillRect/>
          </a:stretch>
        </p:blipFill>
        <p:spPr>
          <a:xfrm>
            <a:off x="5349240" y="3246120"/>
            <a:ext cx="365760" cy="365760"/>
          </a:xfrm>
          <a:prstGeom prst="rect">
            <a:avLst/>
          </a:prstGeom>
        </p:spPr>
      </p:pic>
      <p:sp>
        <p:nvSpPr>
          <p:cNvPr id="22" name="Text 19"/>
          <p:cNvSpPr/>
          <p:nvPr/>
        </p:nvSpPr>
        <p:spPr>
          <a:xfrm>
            <a:off x="4389120" y="3657600"/>
            <a:ext cx="2286000" cy="320040"/>
          </a:xfrm>
          <a:prstGeom prst="rect">
            <a:avLst/>
          </a:prstGeom>
          <a:noFill/>
          <a:ln/>
        </p:spPr>
        <p:txBody>
          <a:bodyPr wrap="square" lIns="0" tIns="0" rIns="0" bIns="0" rtlCol="0" anchor="ctr"/>
          <a:lstStyle/>
          <a:p>
            <a:pPr algn="ctr" indent="0" marL="0">
              <a:buNone/>
            </a:pPr>
            <a:r>
              <a:rPr lang="en-US" sz="1600" b="1" dirty="0">
                <a:solidFill>
                  <a:srgbClr val="0E4F88"/>
                </a:solidFill>
                <a:latin typeface="Cambria" pitchFamily="34" charset="0"/>
                <a:ea typeface="Cambria" pitchFamily="34" charset="-122"/>
                <a:cs typeface="Cambria" pitchFamily="34" charset="-120"/>
              </a:rPr>
              <a:t>Mosquitto</a:t>
            </a:r>
            <a:endParaRPr lang="en-US" sz="1600" dirty="0"/>
          </a:p>
        </p:txBody>
      </p:sp>
      <p:sp>
        <p:nvSpPr>
          <p:cNvPr id="23" name="Text 20"/>
          <p:cNvSpPr/>
          <p:nvPr/>
        </p:nvSpPr>
        <p:spPr>
          <a:xfrm>
            <a:off x="4389120" y="3977640"/>
            <a:ext cx="2286000" cy="228600"/>
          </a:xfrm>
          <a:prstGeom prst="rect">
            <a:avLst/>
          </a:prstGeom>
          <a:noFill/>
          <a:ln/>
        </p:spPr>
        <p:txBody>
          <a:bodyPr wrap="square" lIns="0" tIns="0" rIns="0" bIns="0" rtlCol="0" anchor="ctr"/>
          <a:lstStyle/>
          <a:p>
            <a:pPr algn="ctr" indent="0" marL="0">
              <a:buNone/>
            </a:pPr>
            <a:r>
              <a:rPr lang="en-US" sz="1000" dirty="0">
                <a:solidFill>
                  <a:srgbClr val="64748B"/>
                </a:solidFill>
                <a:latin typeface="Consolas" pitchFamily="34" charset="0"/>
                <a:ea typeface="Consolas" pitchFamily="34" charset="-122"/>
                <a:cs typeface="Consolas" pitchFamily="34" charset="-120"/>
              </a:rPr>
              <a:t>captia-mosquitto</a:t>
            </a:r>
            <a:endParaRPr lang="en-US" sz="1000" dirty="0"/>
          </a:p>
        </p:txBody>
      </p:sp>
      <p:sp>
        <p:nvSpPr>
          <p:cNvPr id="24" name="Text 21"/>
          <p:cNvSpPr/>
          <p:nvPr/>
        </p:nvSpPr>
        <p:spPr>
          <a:xfrm>
            <a:off x="4389120" y="4206240"/>
            <a:ext cx="2286000" cy="228600"/>
          </a:xfrm>
          <a:prstGeom prst="rect">
            <a:avLst/>
          </a:prstGeom>
          <a:noFill/>
          <a:ln/>
        </p:spPr>
        <p:txBody>
          <a:bodyPr wrap="square" lIns="0" tIns="0" rIns="0" bIns="0" rtlCol="0" anchor="ctr"/>
          <a:lstStyle/>
          <a:p>
            <a:pPr algn="ctr" indent="0" marL="0">
              <a:buNone/>
            </a:pPr>
            <a:r>
              <a:rPr lang="en-US" sz="1100" b="1" dirty="0">
                <a:solidFill>
                  <a:srgbClr val="0F172A"/>
                </a:solidFill>
                <a:latin typeface="Consolas" pitchFamily="34" charset="0"/>
                <a:ea typeface="Consolas" pitchFamily="34" charset="-122"/>
                <a:cs typeface="Consolas" pitchFamily="34" charset="-120"/>
              </a:rPr>
              <a:t>:1883  /  :8883 (TLS)</a:t>
            </a:r>
            <a:endParaRPr lang="en-US" sz="1100" dirty="0"/>
          </a:p>
        </p:txBody>
      </p:sp>
      <p:sp>
        <p:nvSpPr>
          <p:cNvPr id="25" name="Shape 22"/>
          <p:cNvSpPr/>
          <p:nvPr/>
        </p:nvSpPr>
        <p:spPr>
          <a:xfrm>
            <a:off x="6720840" y="3840480"/>
            <a:ext cx="1280160" cy="0"/>
          </a:xfrm>
          <a:prstGeom prst="line">
            <a:avLst/>
          </a:prstGeom>
          <a:noFill/>
          <a:ln w="25400">
            <a:solidFill>
              <a:srgbClr val="0D9488"/>
            </a:solidFill>
            <a:prstDash val="solid"/>
            <a:tailEnd type="triangle"/>
          </a:ln>
        </p:spPr>
      </p:sp>
      <p:sp>
        <p:nvSpPr>
          <p:cNvPr id="26" name="Shape 23"/>
          <p:cNvSpPr/>
          <p:nvPr/>
        </p:nvSpPr>
        <p:spPr>
          <a:xfrm>
            <a:off x="8092440" y="3108960"/>
            <a:ext cx="3200400" cy="1463040"/>
          </a:xfrm>
          <a:prstGeom prst="rect">
            <a:avLst/>
          </a:prstGeom>
          <a:solidFill>
            <a:srgbClr val="F0FDFA"/>
          </a:solidFill>
          <a:ln w="25400">
            <a:solidFill>
              <a:srgbClr val="0D9488"/>
            </a:solidFill>
            <a:prstDash val="solid"/>
          </a:ln>
        </p:spPr>
      </p:sp>
      <p:pic>
        <p:nvPicPr>
          <p:cNvPr id="27" name="Image 1" descr="preencoded.png">    </p:cNvPr>
          <p:cNvPicPr>
            <a:picLocks noChangeAspect="1"/>
          </p:cNvPicPr>
          <p:nvPr/>
        </p:nvPicPr>
        <p:blipFill>
          <a:blip r:embed="rId2"/>
          <a:stretch>
            <a:fillRect/>
          </a:stretch>
        </p:blipFill>
        <p:spPr>
          <a:xfrm>
            <a:off x="9509760" y="3246120"/>
            <a:ext cx="365760" cy="365760"/>
          </a:xfrm>
          <a:prstGeom prst="rect">
            <a:avLst/>
          </a:prstGeom>
        </p:spPr>
      </p:pic>
      <p:sp>
        <p:nvSpPr>
          <p:cNvPr id="28" name="Text 24"/>
          <p:cNvSpPr/>
          <p:nvPr/>
        </p:nvSpPr>
        <p:spPr>
          <a:xfrm>
            <a:off x="8092440" y="3657600"/>
            <a:ext cx="3200400" cy="320040"/>
          </a:xfrm>
          <a:prstGeom prst="rect">
            <a:avLst/>
          </a:prstGeom>
          <a:noFill/>
          <a:ln/>
        </p:spPr>
        <p:txBody>
          <a:bodyPr wrap="square" lIns="0" tIns="0" rIns="0" bIns="0" rtlCol="0" anchor="ctr"/>
          <a:lstStyle/>
          <a:p>
            <a:pPr algn="ctr" indent="0" marL="0">
              <a:buNone/>
            </a:pPr>
            <a:r>
              <a:rPr lang="en-US" sz="1600" b="1" dirty="0">
                <a:solidFill>
                  <a:srgbClr val="115E59"/>
                </a:solidFill>
                <a:latin typeface="Cambria" pitchFamily="34" charset="0"/>
                <a:ea typeface="Cambria" pitchFamily="34" charset="-122"/>
                <a:cs typeface="Cambria" pitchFamily="34" charset="-120"/>
              </a:rPr>
              <a:t>CAPTIA Pipeline</a:t>
            </a:r>
            <a:endParaRPr lang="en-US" sz="1600" dirty="0"/>
          </a:p>
        </p:txBody>
      </p:sp>
      <p:sp>
        <p:nvSpPr>
          <p:cNvPr id="29" name="Text 25"/>
          <p:cNvSpPr/>
          <p:nvPr/>
        </p:nvSpPr>
        <p:spPr>
          <a:xfrm>
            <a:off x="8092440" y="3977640"/>
            <a:ext cx="3200400" cy="22860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Telegraf · Normalizer · InfluxDB</a:t>
            </a:r>
            <a:endParaRPr lang="en-US" sz="1000" dirty="0"/>
          </a:p>
        </p:txBody>
      </p:sp>
      <p:sp>
        <p:nvSpPr>
          <p:cNvPr id="30" name="Text 26"/>
          <p:cNvSpPr/>
          <p:nvPr/>
        </p:nvSpPr>
        <p:spPr>
          <a:xfrm>
            <a:off x="8092440" y="4206240"/>
            <a:ext cx="3200400" cy="22860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Adapter API · Events Engine</a:t>
            </a:r>
            <a:endParaRPr lang="en-US" sz="1000" dirty="0"/>
          </a:p>
        </p:txBody>
      </p:sp>
      <p:sp>
        <p:nvSpPr>
          <p:cNvPr id="31" name="Shape 27"/>
          <p:cNvSpPr/>
          <p:nvPr/>
        </p:nvSpPr>
        <p:spPr>
          <a:xfrm>
            <a:off x="548640" y="4983480"/>
            <a:ext cx="3611880" cy="1371600"/>
          </a:xfrm>
          <a:prstGeom prst="rect">
            <a:avLst/>
          </a:prstGeom>
          <a:solidFill>
            <a:srgbClr val="FFFFFF"/>
          </a:solidFill>
          <a:ln w="12700">
            <a:solidFill>
              <a:srgbClr val="E2E8F0"/>
            </a:solidFill>
            <a:prstDash val="solid"/>
          </a:ln>
          <a:effectLst>
            <a:outerShdw sx="100000" sy="100000" kx="0" ky="0" algn="bl" rotWithShape="0" blurRad="152400" dist="38100" dir="5400000">
              <a:srgbClr val="0F172A">
                <a:alpha val="10000"/>
              </a:srgbClr>
            </a:outerShdw>
          </a:effectLst>
        </p:spPr>
      </p:sp>
      <p:pic>
        <p:nvPicPr>
          <p:cNvPr id="32" name="Image 2" descr="preencoded.png">    </p:cNvPr>
          <p:cNvPicPr>
            <a:picLocks noChangeAspect="1"/>
          </p:cNvPicPr>
          <p:nvPr/>
        </p:nvPicPr>
        <p:blipFill>
          <a:blip r:embed="rId3"/>
          <a:stretch>
            <a:fillRect/>
          </a:stretch>
        </p:blipFill>
        <p:spPr>
          <a:xfrm>
            <a:off x="822960" y="5257800"/>
            <a:ext cx="411480" cy="411480"/>
          </a:xfrm>
          <a:prstGeom prst="rect">
            <a:avLst/>
          </a:prstGeom>
        </p:spPr>
      </p:pic>
      <p:sp>
        <p:nvSpPr>
          <p:cNvPr id="33" name="Text 28"/>
          <p:cNvSpPr/>
          <p:nvPr/>
        </p:nvSpPr>
        <p:spPr>
          <a:xfrm>
            <a:off x="1417320" y="5257800"/>
            <a:ext cx="2468880" cy="365760"/>
          </a:xfrm>
          <a:prstGeom prst="rect">
            <a:avLst/>
          </a:prstGeom>
          <a:noFill/>
          <a:ln/>
        </p:spPr>
        <p:txBody>
          <a:bodyPr wrap="square" lIns="0" tIns="0" rIns="0" bIns="0" rtlCol="0" anchor="ctr"/>
          <a:lstStyle/>
          <a:p>
            <a:pPr indent="0" marL="0">
              <a:buNone/>
            </a:pPr>
            <a:r>
              <a:rPr lang="en-US" sz="1800" b="1" dirty="0">
                <a:solidFill>
                  <a:srgbClr val="0E4F88"/>
                </a:solidFill>
                <a:latin typeface="Cambria" pitchFamily="34" charset="0"/>
                <a:ea typeface="Cambria" pitchFamily="34" charset="-122"/>
                <a:cs typeface="Cambria" pitchFamily="34" charset="-120"/>
              </a:rPr>
              <a:t>Auth</a:t>
            </a:r>
            <a:endParaRPr lang="en-US" sz="1800" dirty="0"/>
          </a:p>
        </p:txBody>
      </p:sp>
      <p:sp>
        <p:nvSpPr>
          <p:cNvPr id="34" name="Text 29"/>
          <p:cNvSpPr/>
          <p:nvPr/>
        </p:nvSpPr>
        <p:spPr>
          <a:xfrm>
            <a:off x="822960" y="5806440"/>
            <a:ext cx="3108960" cy="50292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Anonymous on the broker, segmented by network. mTLS available on :8883 if the partner requires it.</a:t>
            </a:r>
            <a:endParaRPr lang="en-US" sz="1100" dirty="0"/>
          </a:p>
        </p:txBody>
      </p:sp>
      <p:sp>
        <p:nvSpPr>
          <p:cNvPr id="35" name="Shape 30"/>
          <p:cNvSpPr/>
          <p:nvPr/>
        </p:nvSpPr>
        <p:spPr>
          <a:xfrm>
            <a:off x="4325112" y="4983480"/>
            <a:ext cx="3611880" cy="1371600"/>
          </a:xfrm>
          <a:prstGeom prst="rect">
            <a:avLst/>
          </a:prstGeom>
          <a:solidFill>
            <a:srgbClr val="FFFFFF"/>
          </a:solidFill>
          <a:ln w="12700">
            <a:solidFill>
              <a:srgbClr val="E2E8F0"/>
            </a:solidFill>
            <a:prstDash val="solid"/>
          </a:ln>
          <a:effectLst>
            <a:outerShdw sx="100000" sy="100000" kx="0" ky="0" algn="bl" rotWithShape="0" blurRad="152400" dist="38100" dir="5400000">
              <a:srgbClr val="0F172A">
                <a:alpha val="10000"/>
              </a:srgbClr>
            </a:outerShdw>
          </a:effectLst>
        </p:spPr>
      </p:sp>
      <p:pic>
        <p:nvPicPr>
          <p:cNvPr id="36" name="Image 3" descr="preencoded.png">    </p:cNvPr>
          <p:cNvPicPr>
            <a:picLocks noChangeAspect="1"/>
          </p:cNvPicPr>
          <p:nvPr/>
        </p:nvPicPr>
        <p:blipFill>
          <a:blip r:embed="rId4"/>
          <a:stretch>
            <a:fillRect/>
          </a:stretch>
        </p:blipFill>
        <p:spPr>
          <a:xfrm>
            <a:off x="4599432" y="5257800"/>
            <a:ext cx="411480" cy="411480"/>
          </a:xfrm>
          <a:prstGeom prst="rect">
            <a:avLst/>
          </a:prstGeom>
        </p:spPr>
      </p:pic>
      <p:sp>
        <p:nvSpPr>
          <p:cNvPr id="37" name="Text 31"/>
          <p:cNvSpPr/>
          <p:nvPr/>
        </p:nvSpPr>
        <p:spPr>
          <a:xfrm>
            <a:off x="5193792" y="5257800"/>
            <a:ext cx="2468880" cy="365760"/>
          </a:xfrm>
          <a:prstGeom prst="rect">
            <a:avLst/>
          </a:prstGeom>
          <a:noFill/>
          <a:ln/>
        </p:spPr>
        <p:txBody>
          <a:bodyPr wrap="square" lIns="0" tIns="0" rIns="0" bIns="0" rtlCol="0" anchor="ctr"/>
          <a:lstStyle/>
          <a:p>
            <a:pPr indent="0" marL="0">
              <a:buNone/>
            </a:pPr>
            <a:r>
              <a:rPr lang="en-US" sz="1800" b="1" dirty="0">
                <a:solidFill>
                  <a:srgbClr val="0E4F88"/>
                </a:solidFill>
                <a:latin typeface="Cambria" pitchFamily="34" charset="0"/>
                <a:ea typeface="Cambria" pitchFamily="34" charset="-122"/>
                <a:cs typeface="Cambria" pitchFamily="34" charset="-120"/>
              </a:rPr>
              <a:t>ACL</a:t>
            </a:r>
            <a:endParaRPr lang="en-US" sz="1800" dirty="0"/>
          </a:p>
        </p:txBody>
      </p:sp>
      <p:sp>
        <p:nvSpPr>
          <p:cNvPr id="38" name="Text 32"/>
          <p:cNvSpPr/>
          <p:nvPr/>
        </p:nvSpPr>
        <p:spPr>
          <a:xfrm>
            <a:off x="4599432" y="5806440"/>
            <a:ext cx="3108960" cy="50292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Per-tenant ACL is provisioned on the broker. We share device-specific topic patterns at onboarding.</a:t>
            </a:r>
            <a:endParaRPr lang="en-US" sz="1100" dirty="0"/>
          </a:p>
        </p:txBody>
      </p:sp>
      <p:sp>
        <p:nvSpPr>
          <p:cNvPr id="39" name="Shape 33"/>
          <p:cNvSpPr/>
          <p:nvPr/>
        </p:nvSpPr>
        <p:spPr>
          <a:xfrm>
            <a:off x="8101584" y="4983480"/>
            <a:ext cx="3611880" cy="1371600"/>
          </a:xfrm>
          <a:prstGeom prst="rect">
            <a:avLst/>
          </a:prstGeom>
          <a:solidFill>
            <a:srgbClr val="FFFFFF"/>
          </a:solidFill>
          <a:ln w="12700">
            <a:solidFill>
              <a:srgbClr val="E2E8F0"/>
            </a:solidFill>
            <a:prstDash val="solid"/>
          </a:ln>
          <a:effectLst>
            <a:outerShdw sx="100000" sy="100000" kx="0" ky="0" algn="bl" rotWithShape="0" blurRad="152400" dist="38100" dir="5400000">
              <a:srgbClr val="0F172A">
                <a:alpha val="10000"/>
              </a:srgbClr>
            </a:outerShdw>
          </a:effectLst>
        </p:spPr>
      </p:sp>
      <p:pic>
        <p:nvPicPr>
          <p:cNvPr id="40" name="Image 4" descr="preencoded.png">    </p:cNvPr>
          <p:cNvPicPr>
            <a:picLocks noChangeAspect="1"/>
          </p:cNvPicPr>
          <p:nvPr/>
        </p:nvPicPr>
        <p:blipFill>
          <a:blip r:embed="rId5"/>
          <a:stretch>
            <a:fillRect/>
          </a:stretch>
        </p:blipFill>
        <p:spPr>
          <a:xfrm>
            <a:off x="8375904" y="5257800"/>
            <a:ext cx="411480" cy="411480"/>
          </a:xfrm>
          <a:prstGeom prst="rect">
            <a:avLst/>
          </a:prstGeom>
        </p:spPr>
      </p:pic>
      <p:sp>
        <p:nvSpPr>
          <p:cNvPr id="41" name="Text 34"/>
          <p:cNvSpPr/>
          <p:nvPr/>
        </p:nvSpPr>
        <p:spPr>
          <a:xfrm>
            <a:off x="8970264" y="5257800"/>
            <a:ext cx="2468880" cy="365760"/>
          </a:xfrm>
          <a:prstGeom prst="rect">
            <a:avLst/>
          </a:prstGeom>
          <a:noFill/>
          <a:ln/>
        </p:spPr>
        <p:txBody>
          <a:bodyPr wrap="square" lIns="0" tIns="0" rIns="0" bIns="0" rtlCol="0" anchor="ctr"/>
          <a:lstStyle/>
          <a:p>
            <a:pPr indent="0" marL="0">
              <a:buNone/>
            </a:pPr>
            <a:r>
              <a:rPr lang="en-US" sz="1800" b="1" dirty="0">
                <a:solidFill>
                  <a:srgbClr val="0E4F88"/>
                </a:solidFill>
                <a:latin typeface="Cambria" pitchFamily="34" charset="0"/>
                <a:ea typeface="Cambria" pitchFamily="34" charset="-122"/>
                <a:cs typeface="Cambria" pitchFamily="34" charset="-120"/>
              </a:rPr>
              <a:t>VPN</a:t>
            </a:r>
            <a:endParaRPr lang="en-US" sz="1800" dirty="0"/>
          </a:p>
        </p:txBody>
      </p:sp>
      <p:sp>
        <p:nvSpPr>
          <p:cNvPr id="42" name="Text 35"/>
          <p:cNvSpPr/>
          <p:nvPr/>
        </p:nvSpPr>
        <p:spPr>
          <a:xfrm>
            <a:off x="8375904" y="5806440"/>
            <a:ext cx="3108960" cy="50292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Remote troubleshooting via Tailscale mesh. Partners get a guest user only for joint debugging windows.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lIns="0" tIns="0" rIns="0" bIns="0" rtlCol="0" anchor="ctr"/>
          <a:lstStyle/>
          <a:p>
            <a:pPr indent="0" marL="0">
              <a:buNone/>
            </a:pPr>
            <a:r>
              <a:rPr lang="en-US" sz="1100" b="1" spc="400" kern="0" dirty="0">
                <a:solidFill>
                  <a:srgbClr val="22D3EE"/>
                </a:solidFill>
                <a:latin typeface="Calibri" pitchFamily="34" charset="0"/>
                <a:ea typeface="Calibri" pitchFamily="34" charset="-122"/>
                <a:cs typeface="Calibri" pitchFamily="34" charset="-120"/>
              </a:rPr>
              <a:t>09 · PATH B DEEP-DIVE</a:t>
            </a:r>
            <a:endParaRPr lang="en-US" sz="1100" dirty="0"/>
          </a:p>
        </p:txBody>
      </p:sp>
      <p:sp>
        <p:nvSpPr>
          <p:cNvPr id="3" name="Text 1"/>
          <p:cNvSpPr/>
          <p:nvPr/>
        </p:nvSpPr>
        <p:spPr>
          <a:xfrm>
            <a:off x="548640" y="548640"/>
            <a:ext cx="10058400" cy="640080"/>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Normalizer profile — the YAML DSL</a:t>
            </a:r>
            <a:endParaRPr lang="en-US" sz="3000" dirty="0"/>
          </a:p>
        </p:txBody>
      </p:sp>
      <p:sp>
        <p:nvSpPr>
          <p:cNvPr id="4" name="Text 2"/>
          <p:cNvSpPr/>
          <p:nvPr/>
        </p:nvSpPr>
        <p:spPr>
          <a:xfrm>
            <a:off x="11094415"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 / 14</a:t>
            </a:r>
            <a:endParaRPr lang="en-US" sz="900" dirty="0"/>
          </a:p>
        </p:txBody>
      </p:sp>
      <p:sp>
        <p:nvSpPr>
          <p:cNvPr id="5" name="Text 3"/>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CAPTIA Technology · Partner Integration Guide</a:t>
            </a:r>
            <a:endParaRPr lang="en-US" sz="900" dirty="0"/>
          </a:p>
        </p:txBody>
      </p:sp>
      <p:sp>
        <p:nvSpPr>
          <p:cNvPr id="6" name="Shape 4"/>
          <p:cNvSpPr/>
          <p:nvPr/>
        </p:nvSpPr>
        <p:spPr>
          <a:xfrm>
            <a:off x="11688775" y="320040"/>
            <a:ext cx="164592" cy="164592"/>
          </a:xfrm>
          <a:prstGeom prst="rect">
            <a:avLst/>
          </a:prstGeom>
          <a:solidFill>
            <a:srgbClr val="22D3EE"/>
          </a:solidFill>
          <a:ln w="12700">
            <a:solidFill>
              <a:srgbClr val="22D3EE"/>
            </a:solidFill>
            <a:prstDash val="solid"/>
          </a:ln>
        </p:spPr>
      </p:sp>
      <p:sp>
        <p:nvSpPr>
          <p:cNvPr id="7" name="Shape 5"/>
          <p:cNvSpPr/>
          <p:nvPr/>
        </p:nvSpPr>
        <p:spPr>
          <a:xfrm>
            <a:off x="11917375" y="320040"/>
            <a:ext cx="164592" cy="164592"/>
          </a:xfrm>
          <a:prstGeom prst="rect">
            <a:avLst/>
          </a:prstGeom>
          <a:solidFill>
            <a:srgbClr val="D97706"/>
          </a:solidFill>
          <a:ln w="12700">
            <a:solidFill>
              <a:srgbClr val="D97706"/>
            </a:solidFill>
            <a:prstDash val="solid"/>
          </a:ln>
        </p:spPr>
      </p:sp>
      <p:sp>
        <p:nvSpPr>
          <p:cNvPr id="8" name="Text 6"/>
          <p:cNvSpPr/>
          <p:nvPr/>
        </p:nvSpPr>
        <p:spPr>
          <a:xfrm>
            <a:off x="548640" y="1417320"/>
            <a:ext cx="10972800" cy="777240"/>
          </a:xfrm>
          <a:prstGeom prst="rect">
            <a:avLst/>
          </a:prstGeom>
          <a:noFill/>
          <a:ln/>
        </p:spPr>
        <p:txBody>
          <a:bodyPr wrap="square" lIns="0" tIns="0" rIns="0" bIns="0" rtlCol="0" anchor="ctr"/>
          <a:lstStyle/>
          <a:p>
            <a:pPr indent="0" marL="0">
              <a:buNone/>
            </a:pPr>
            <a:r>
              <a:rPr lang="en-US" sz="1300" i="1" dirty="0">
                <a:solidFill>
                  <a:srgbClr val="0F172A"/>
                </a:solidFill>
                <a:latin typeface="Calibri" pitchFamily="34" charset="0"/>
                <a:ea typeface="Calibri" pitchFamily="34" charset="-122"/>
                <a:cs typeface="Calibri" pitchFamily="34" charset="-120"/>
              </a:rPr>
              <a:t>If your firmware can't speak canonical CAPTIA, write a profile. The Normalizer is a microservice with hot-reload, fan-out, dedup and a DLQ. Profiles live in git, versioned and reviewed.</a:t>
            </a:r>
            <a:endParaRPr lang="en-US" sz="1300" dirty="0"/>
          </a:p>
        </p:txBody>
      </p:sp>
      <p:sp>
        <p:nvSpPr>
          <p:cNvPr id="9" name="Shape 7"/>
          <p:cNvSpPr/>
          <p:nvPr/>
        </p:nvSpPr>
        <p:spPr>
          <a:xfrm>
            <a:off x="548640" y="2377440"/>
            <a:ext cx="6583680" cy="4023360"/>
          </a:xfrm>
          <a:prstGeom prst="rect">
            <a:avLst/>
          </a:prstGeom>
          <a:solidFill>
            <a:srgbClr val="0A1929"/>
          </a:solidFill>
          <a:ln w="12700">
            <a:solidFill>
              <a:srgbClr val="0A1929"/>
            </a:solidFill>
            <a:prstDash val="solid"/>
          </a:ln>
        </p:spPr>
      </p:sp>
      <p:sp>
        <p:nvSpPr>
          <p:cNvPr id="10" name="Shape 8"/>
          <p:cNvSpPr/>
          <p:nvPr/>
        </p:nvSpPr>
        <p:spPr>
          <a:xfrm>
            <a:off x="548640" y="2377440"/>
            <a:ext cx="6583680" cy="365760"/>
          </a:xfrm>
          <a:prstGeom prst="rect">
            <a:avLst/>
          </a:prstGeom>
          <a:solidFill>
            <a:srgbClr val="1E293B"/>
          </a:solidFill>
          <a:ln w="12700">
            <a:solidFill>
              <a:srgbClr val="1E293B"/>
            </a:solidFill>
            <a:prstDash val="solid"/>
          </a:ln>
        </p:spPr>
      </p:sp>
      <p:sp>
        <p:nvSpPr>
          <p:cNvPr id="11" name="Text 9"/>
          <p:cNvSpPr/>
          <p:nvPr/>
        </p:nvSpPr>
        <p:spPr>
          <a:xfrm>
            <a:off x="731520" y="2377440"/>
            <a:ext cx="6217920" cy="365760"/>
          </a:xfrm>
          <a:prstGeom prst="rect">
            <a:avLst/>
          </a:prstGeom>
          <a:noFill/>
          <a:ln/>
        </p:spPr>
        <p:txBody>
          <a:bodyPr wrap="square" lIns="0" tIns="0" rIns="0" bIns="0" rtlCol="0" anchor="ctr"/>
          <a:lstStyle/>
          <a:p>
            <a:pPr indent="0" marL="0">
              <a:buNone/>
            </a:pPr>
            <a:r>
              <a:rPr lang="en-US" sz="1100" dirty="0">
                <a:solidFill>
                  <a:srgbClr val="94A3B8"/>
                </a:solidFill>
                <a:latin typeface="Consolas" pitchFamily="34" charset="0"/>
                <a:ea typeface="Consolas" pitchFamily="34" charset="-122"/>
                <a:cs typeface="Consolas" pitchFamily="34" charset="-120"/>
              </a:rPr>
              <a:t>normalizer/profiles/&lt;your-vendor&gt;.yaml</a:t>
            </a:r>
            <a:endParaRPr lang="en-US" sz="1100" dirty="0"/>
          </a:p>
        </p:txBody>
      </p:sp>
      <p:sp>
        <p:nvSpPr>
          <p:cNvPr id="12" name="Text 10"/>
          <p:cNvSpPr/>
          <p:nvPr/>
        </p:nvSpPr>
        <p:spPr>
          <a:xfrm>
            <a:off x="777240" y="2880360"/>
            <a:ext cx="6217920" cy="3429000"/>
          </a:xfrm>
          <a:prstGeom prst="rect">
            <a:avLst/>
          </a:prstGeom>
          <a:noFill/>
          <a:ln/>
        </p:spPr>
        <p:txBody>
          <a:bodyPr wrap="square" lIns="0" tIns="0" rIns="0" bIns="0" rtlCol="0" anchor="t"/>
          <a:lstStyle/>
          <a:p>
            <a:pPr indent="0" marL="0">
              <a:buNone/>
            </a:pPr>
            <a:r>
              <a:rPr lang="en-US" sz="1200" dirty="0">
                <a:solidFill>
                  <a:srgbClr val="60A5FA"/>
                </a:solidFill>
                <a:latin typeface="Consolas" pitchFamily="34" charset="0"/>
                <a:ea typeface="Consolas" pitchFamily="34" charset="-122"/>
                <a:cs typeface="Consolas" pitchFamily="34" charset="-120"/>
              </a:rPr>
              <a:t>id:</a:t>
            </a:r>
            <a:pPr indent="0" marL="0">
              <a:buNone/>
            </a:pPr>
            <a:r>
              <a:rPr lang="en-US" sz="1200" dirty="0">
                <a:solidFill>
                  <a:srgbClr val="22D3EE"/>
                </a:solidFill>
                <a:latin typeface="Consolas" pitchFamily="34" charset="0"/>
                <a:ea typeface="Consolas" pitchFamily="34" charset="-122"/>
                <a:cs typeface="Consolas" pitchFamily="34" charset="-120"/>
              </a:rPr>
              <a:t> sensup_v3</a:t>
            </a:r>
            <a:endParaRPr lang="en-US" sz="1200" dirty="0"/>
          </a:p>
          <a:p>
            <a:pPr indent="0" marL="0">
              <a:buNone/>
            </a:pPr>
            <a:r>
              <a:rPr lang="en-US" sz="1200" dirty="0">
                <a:solidFill>
                  <a:srgbClr val="60A5FA"/>
                </a:solidFill>
                <a:latin typeface="Consolas" pitchFamily="34" charset="0"/>
                <a:ea typeface="Consolas" pitchFamily="34" charset="-122"/>
                <a:cs typeface="Consolas" pitchFamily="34" charset="-120"/>
              </a:rPr>
              <a:t>vendor:</a:t>
            </a:r>
            <a:pPr indent="0" marL="0">
              <a:buNone/>
            </a:pPr>
            <a:r>
              <a:rPr lang="en-US" sz="1200" dirty="0">
                <a:solidFill>
                  <a:srgbClr val="22D3EE"/>
                </a:solidFill>
                <a:latin typeface="Consolas" pitchFamily="34" charset="0"/>
                <a:ea typeface="Consolas" pitchFamily="34" charset="-122"/>
                <a:cs typeface="Consolas" pitchFamily="34" charset="-120"/>
              </a:rPr>
              <a:t> sensup</a:t>
            </a:r>
            <a:endParaRPr lang="en-US" sz="1200" dirty="0"/>
          </a:p>
          <a:p>
            <a:pPr indent="0" marL="0">
              <a:buNone/>
            </a:pPr>
            <a:r>
              <a:rPr lang="en-US" sz="1200" dirty="0">
                <a:solidFill>
                  <a:srgbClr val="60A5FA"/>
                </a:solidFill>
                <a:latin typeface="Consolas" pitchFamily="34" charset="0"/>
                <a:ea typeface="Consolas" pitchFamily="34" charset="-122"/>
                <a:cs typeface="Consolas" pitchFamily="34" charset="-120"/>
              </a:rPr>
              <a:t>match:</a:t>
            </a:r>
            <a:endParaRPr lang="en-US" sz="1200" dirty="0"/>
          </a:p>
          <a:p>
            <a:pPr indent="0" marL="0">
              <a:buNone/>
            </a:pPr>
            <a:r>
              <a:rPr lang="en-US" sz="1200" dirty="0">
                <a:solidFill>
                  <a:srgbClr val="60A5FA"/>
                </a:solidFill>
                <a:latin typeface="Consolas" pitchFamily="34" charset="0"/>
                <a:ea typeface="Consolas" pitchFamily="34" charset="-122"/>
                <a:cs typeface="Consolas" pitchFamily="34" charset="-120"/>
              </a:rPr>
              <a:t>  topic:</a:t>
            </a:r>
            <a:pPr indent="0" marL="0">
              <a:buNone/>
            </a:pPr>
            <a:r>
              <a:rPr lang="en-US" sz="1200" dirty="0">
                <a:solidFill>
                  <a:srgbClr val="D97706"/>
                </a:solidFill>
                <a:latin typeface="Consolas" pitchFamily="34" charset="0"/>
                <a:ea typeface="Consolas" pitchFamily="34" charset="-122"/>
                <a:cs typeface="Consolas" pitchFamily="34" charset="-120"/>
              </a:rPr>
              <a:t> "sensup/sensor/+/data"</a:t>
            </a:r>
            <a:endParaRPr lang="en-US" sz="1200" dirty="0"/>
          </a:p>
          <a:p>
            <a:pPr indent="0" marL="0">
              <a:buNone/>
            </a:pPr>
            <a:r>
              <a:rPr lang="en-US" sz="1200" dirty="0">
                <a:solidFill>
                  <a:srgbClr val="60A5FA"/>
                </a:solidFill>
                <a:latin typeface="Consolas" pitchFamily="34" charset="0"/>
                <a:ea typeface="Consolas" pitchFamily="34" charset="-122"/>
                <a:cs typeface="Consolas" pitchFamily="34" charset="-120"/>
              </a:rPr>
              <a:t>decode:</a:t>
            </a:r>
            <a:endParaRPr lang="en-US" sz="1200" dirty="0"/>
          </a:p>
          <a:p>
            <a:pPr indent="0" marL="0">
              <a:buNone/>
            </a:pPr>
            <a:r>
              <a:rPr lang="en-US" sz="1200" dirty="0">
                <a:solidFill>
                  <a:srgbClr val="F1F5F9"/>
                </a:solidFill>
                <a:latin typeface="Consolas" pitchFamily="34" charset="0"/>
                <a:ea typeface="Consolas" pitchFamily="34" charset="-122"/>
                <a:cs typeface="Consolas" pitchFamily="34" charset="-120"/>
              </a:rPr>
              <a:t>  format: json</a:t>
            </a:r>
            <a:endParaRPr lang="en-US" sz="1200" dirty="0"/>
          </a:p>
          <a:p>
            <a:pPr indent="0" marL="0">
              <a:buNone/>
            </a:pPr>
            <a:r>
              <a:rPr lang="en-US" sz="1200" dirty="0">
                <a:solidFill>
                  <a:srgbClr val="60A5FA"/>
                </a:solidFill>
                <a:latin typeface="Consolas" pitchFamily="34" charset="0"/>
                <a:ea typeface="Consolas" pitchFamily="34" charset="-122"/>
                <a:cs typeface="Consolas" pitchFamily="34" charset="-120"/>
              </a:rPr>
              <a:t>fan_out:</a:t>
            </a:r>
            <a:endParaRPr lang="en-US" sz="1200" dirty="0"/>
          </a:p>
          <a:p>
            <a:pPr indent="0" marL="0">
              <a:buNone/>
            </a:pPr>
            <a:r>
              <a:rPr lang="en-US" sz="1200" dirty="0">
                <a:solidFill>
                  <a:srgbClr val="F1F5F9"/>
                </a:solidFill>
                <a:latin typeface="Consolas" pitchFamily="34" charset="0"/>
                <a:ea typeface="Consolas" pitchFamily="34" charset="-122"/>
                <a:cs typeface="Consolas" pitchFamily="34" charset="-120"/>
              </a:rPr>
              <a:t>  - source: </a:t>
            </a:r>
            <a:pPr indent="0" marL="0">
              <a:buNone/>
            </a:pPr>
            <a:r>
              <a:rPr lang="en-US" sz="1200" dirty="0">
                <a:solidFill>
                  <a:srgbClr val="D97706"/>
                </a:solidFill>
                <a:latin typeface="Consolas" pitchFamily="34" charset="0"/>
                <a:ea typeface="Consolas" pitchFamily="34" charset="-122"/>
                <a:cs typeface="Consolas" pitchFamily="34" charset="-120"/>
              </a:rPr>
              <a:t>$.tvoc</a:t>
            </a:r>
            <a:endParaRPr lang="en-US" sz="1200" dirty="0"/>
          </a:p>
          <a:p>
            <a:pPr indent="0" marL="0">
              <a:buNone/>
            </a:pPr>
            <a:r>
              <a:rPr lang="en-US" sz="1200" dirty="0">
                <a:solidFill>
                  <a:srgbClr val="F1F5F9"/>
                </a:solidFill>
                <a:latin typeface="Consolas" pitchFamily="34" charset="0"/>
                <a:ea typeface="Consolas" pitchFamily="34" charset="-122"/>
                <a:cs typeface="Consolas" pitchFamily="34" charset="-120"/>
              </a:rPr>
              <a:t>    target_topic: </a:t>
            </a:r>
            <a:pPr indent="0" marL="0">
              <a:buNone/>
            </a:pPr>
            <a:r>
              <a:rPr lang="en-US" sz="1200" dirty="0">
                <a:solidFill>
                  <a:srgbClr val="22D3EE"/>
                </a:solidFill>
                <a:latin typeface="Consolas" pitchFamily="34" charset="0"/>
                <a:ea typeface="Consolas" pitchFamily="34" charset="-122"/>
                <a:cs typeface="Consolas" pitchFamily="34" charset="-120"/>
              </a:rPr>
              <a:t>"captia/{env}/{tenant}/{site}/{device}/telemetry/t-voc"</a:t>
            </a:r>
            <a:endParaRPr lang="en-US" sz="1200" dirty="0"/>
          </a:p>
          <a:p>
            <a:pPr indent="0" marL="0">
              <a:buNone/>
            </a:pPr>
            <a:r>
              <a:rPr lang="en-US" sz="1200" dirty="0">
                <a:solidFill>
                  <a:srgbClr val="F1F5F9"/>
                </a:solidFill>
                <a:latin typeface="Consolas" pitchFamily="34" charset="0"/>
                <a:ea typeface="Consolas" pitchFamily="34" charset="-122"/>
                <a:cs typeface="Consolas" pitchFamily="34" charset="-120"/>
              </a:rPr>
              <a:t>    payload: </a:t>
            </a:r>
            <a:pPr indent="0" marL="0">
              <a:buNone/>
            </a:pPr>
            <a:r>
              <a:rPr lang="en-US" sz="1200" dirty="0">
                <a:solidFill>
                  <a:srgbClr val="22D3EE"/>
                </a:solidFill>
                <a:latin typeface="Consolas" pitchFamily="34" charset="0"/>
                <a:ea typeface="Consolas" pitchFamily="34" charset="-122"/>
                <a:cs typeface="Consolas" pitchFamily="34" charset="-120"/>
              </a:rPr>
              <a:t>{ value: "$.tvoc", ts_ns: "$.timestamp_ns" }</a:t>
            </a:r>
            <a:endParaRPr lang="en-US" sz="1200" dirty="0"/>
          </a:p>
          <a:p>
            <a:pPr indent="0" marL="0">
              <a:buNone/>
            </a:pPr>
            <a:r>
              <a:rPr lang="en-US" sz="1200" dirty="0">
                <a:solidFill>
                  <a:srgbClr val="F1F5F9"/>
                </a:solidFill>
                <a:latin typeface="Consolas" pitchFamily="34" charset="0"/>
                <a:ea typeface="Consolas" pitchFamily="34" charset="-122"/>
                <a:cs typeface="Consolas" pitchFamily="34" charset="-120"/>
              </a:rPr>
              <a:t>  - source: </a:t>
            </a:r>
            <a:pPr indent="0" marL="0">
              <a:buNone/>
            </a:pPr>
            <a:r>
              <a:rPr lang="en-US" sz="1200" dirty="0">
                <a:solidFill>
                  <a:srgbClr val="D97706"/>
                </a:solidFill>
                <a:latin typeface="Consolas" pitchFamily="34" charset="0"/>
                <a:ea typeface="Consolas" pitchFamily="34" charset="-122"/>
                <a:cs typeface="Consolas" pitchFamily="34" charset="-120"/>
              </a:rPr>
              <a:t>$.co2</a:t>
            </a:r>
            <a:endParaRPr lang="en-US" sz="1200" dirty="0"/>
          </a:p>
          <a:p>
            <a:pPr indent="0" marL="0">
              <a:buNone/>
            </a:pPr>
            <a:r>
              <a:rPr lang="en-US" sz="1200" dirty="0">
                <a:solidFill>
                  <a:srgbClr val="F1F5F9"/>
                </a:solidFill>
                <a:latin typeface="Consolas" pitchFamily="34" charset="0"/>
                <a:ea typeface="Consolas" pitchFamily="34" charset="-122"/>
                <a:cs typeface="Consolas" pitchFamily="34" charset="-120"/>
              </a:rPr>
              <a:t>    target_topic: </a:t>
            </a:r>
            <a:pPr indent="0" marL="0">
              <a:buNone/>
            </a:pPr>
            <a:r>
              <a:rPr lang="en-US" sz="1200" dirty="0">
                <a:solidFill>
                  <a:srgbClr val="22D3EE"/>
                </a:solidFill>
                <a:latin typeface="Consolas" pitchFamily="34" charset="0"/>
                <a:ea typeface="Consolas" pitchFamily="34" charset="-122"/>
                <a:cs typeface="Consolas" pitchFamily="34" charset="-120"/>
              </a:rPr>
              <a:t>"captia/{env}/{tenant}/{site}/{device}/telemetry/co2"</a:t>
            </a:r>
            <a:endParaRPr lang="en-US" sz="1200" dirty="0"/>
          </a:p>
          <a:p>
            <a:pPr indent="0" marL="0">
              <a:buNone/>
            </a:pPr>
            <a:r>
              <a:rPr lang="en-US" sz="1200" dirty="0">
                <a:solidFill>
                  <a:srgbClr val="60A5FA"/>
                </a:solidFill>
                <a:latin typeface="Consolas" pitchFamily="34" charset="0"/>
                <a:ea typeface="Consolas" pitchFamily="34" charset="-122"/>
                <a:cs typeface="Consolas" pitchFamily="34" charset="-120"/>
              </a:rPr>
              <a:t>device_overrides:</a:t>
            </a:r>
            <a:endParaRPr lang="en-US" sz="1200" dirty="0"/>
          </a:p>
          <a:p>
            <a:pPr indent="0" marL="0">
              <a:buNone/>
            </a:pPr>
            <a:r>
              <a:rPr lang="en-US" sz="1200" dirty="0">
                <a:solidFill>
                  <a:srgbClr val="D97706"/>
                </a:solidFill>
                <a:latin typeface="Consolas" pitchFamily="34" charset="0"/>
                <a:ea typeface="Consolas" pitchFamily="34" charset="-122"/>
                <a:cs typeface="Consolas" pitchFamily="34" charset="-120"/>
              </a:rPr>
              <a:t>  "0004742C0166": </a:t>
            </a:r>
            <a:pPr indent="0" marL="0">
              <a:buNone/>
            </a:pPr>
            <a:r>
              <a:rPr lang="en-US" sz="1200" dirty="0">
                <a:solidFill>
                  <a:srgbClr val="22D3EE"/>
                </a:solidFill>
                <a:latin typeface="Consolas" pitchFamily="34" charset="0"/>
                <a:ea typeface="Consolas" pitchFamily="34" charset="-122"/>
                <a:cs typeface="Consolas" pitchFamily="34" charset="-120"/>
              </a:rPr>
              <a:t>{ asset_id: P1S01 }</a:t>
            </a:r>
            <a:endParaRPr lang="en-US" sz="1200" dirty="0"/>
          </a:p>
        </p:txBody>
      </p:sp>
      <p:sp>
        <p:nvSpPr>
          <p:cNvPr id="13" name="Shape 11"/>
          <p:cNvSpPr/>
          <p:nvPr/>
        </p:nvSpPr>
        <p:spPr>
          <a:xfrm>
            <a:off x="7315200" y="2377440"/>
            <a:ext cx="4297680" cy="4023360"/>
          </a:xfrm>
          <a:prstGeom prst="rect">
            <a:avLst/>
          </a:prstGeom>
          <a:solidFill>
            <a:srgbClr val="FFFFFF"/>
          </a:solidFill>
          <a:ln w="12700">
            <a:solidFill>
              <a:srgbClr val="E2E8F0"/>
            </a:solidFill>
            <a:prstDash val="solid"/>
          </a:ln>
          <a:effectLst>
            <a:outerShdw sx="100000" sy="100000" kx="0" ky="0" algn="bl" rotWithShape="0" blurRad="152400" dist="38100" dir="5400000">
              <a:srgbClr val="0F172A">
                <a:alpha val="10000"/>
              </a:srgbClr>
            </a:outerShdw>
          </a:effectLst>
        </p:spPr>
      </p:sp>
      <p:sp>
        <p:nvSpPr>
          <p:cNvPr id="14" name="Text 12"/>
          <p:cNvSpPr/>
          <p:nvPr/>
        </p:nvSpPr>
        <p:spPr>
          <a:xfrm>
            <a:off x="7589520" y="2606040"/>
            <a:ext cx="3840480" cy="365760"/>
          </a:xfrm>
          <a:prstGeom prst="rect">
            <a:avLst/>
          </a:prstGeom>
          <a:noFill/>
          <a:ln/>
        </p:spPr>
        <p:txBody>
          <a:bodyPr wrap="square" lIns="0" tIns="0" rIns="0" bIns="0" rtlCol="0" anchor="ctr"/>
          <a:lstStyle/>
          <a:p>
            <a:pPr indent="0" marL="0">
              <a:buNone/>
            </a:pPr>
            <a:r>
              <a:rPr lang="en-US" sz="1800" b="1" dirty="0">
                <a:solidFill>
                  <a:srgbClr val="0E4F88"/>
                </a:solidFill>
                <a:latin typeface="Cambria" pitchFamily="34" charset="0"/>
                <a:ea typeface="Cambria" pitchFamily="34" charset="-122"/>
                <a:cs typeface="Cambria" pitchFamily="34" charset="-120"/>
              </a:rPr>
              <a:t>Built-in features</a:t>
            </a:r>
            <a:endParaRPr lang="en-US" sz="1800" dirty="0"/>
          </a:p>
        </p:txBody>
      </p:sp>
      <p:sp>
        <p:nvSpPr>
          <p:cNvPr id="15" name="Shape 13"/>
          <p:cNvSpPr/>
          <p:nvPr/>
        </p:nvSpPr>
        <p:spPr>
          <a:xfrm>
            <a:off x="7589520" y="3017520"/>
            <a:ext cx="365760" cy="45720"/>
          </a:xfrm>
          <a:prstGeom prst="rect">
            <a:avLst/>
          </a:prstGeom>
          <a:solidFill>
            <a:srgbClr val="22D3EE"/>
          </a:solidFill>
          <a:ln w="12700">
            <a:solidFill>
              <a:srgbClr val="22D3EE"/>
            </a:solidFill>
            <a:prstDash val="solid"/>
          </a:ln>
        </p:spPr>
      </p:sp>
      <p:pic>
        <p:nvPicPr>
          <p:cNvPr id="16" name="Image 0" descr="preencoded.png">    </p:cNvPr>
          <p:cNvPicPr>
            <a:picLocks noChangeAspect="1"/>
          </p:cNvPicPr>
          <p:nvPr/>
        </p:nvPicPr>
        <p:blipFill>
          <a:blip r:embed="rId1"/>
          <a:stretch>
            <a:fillRect/>
          </a:stretch>
        </p:blipFill>
        <p:spPr>
          <a:xfrm>
            <a:off x="7589520" y="3291840"/>
            <a:ext cx="292608" cy="292608"/>
          </a:xfrm>
          <a:prstGeom prst="rect">
            <a:avLst/>
          </a:prstGeom>
        </p:spPr>
      </p:pic>
      <p:sp>
        <p:nvSpPr>
          <p:cNvPr id="17" name="Text 14"/>
          <p:cNvSpPr/>
          <p:nvPr/>
        </p:nvSpPr>
        <p:spPr>
          <a:xfrm>
            <a:off x="8001000" y="3246120"/>
            <a:ext cx="3383280" cy="256032"/>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Fan-out</a:t>
            </a:r>
            <a:endParaRPr lang="en-US" sz="1200" dirty="0"/>
          </a:p>
        </p:txBody>
      </p:sp>
      <p:sp>
        <p:nvSpPr>
          <p:cNvPr id="18" name="Text 15"/>
          <p:cNvSpPr/>
          <p:nvPr/>
        </p:nvSpPr>
        <p:spPr>
          <a:xfrm>
            <a:off x="8001000" y="3474720"/>
            <a:ext cx="3383280" cy="27432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One vendor message → N CAPTIA topics</a:t>
            </a:r>
            <a:endParaRPr lang="en-US" sz="1050" dirty="0"/>
          </a:p>
        </p:txBody>
      </p:sp>
      <p:pic>
        <p:nvPicPr>
          <p:cNvPr id="19" name="Image 1" descr="preencoded.png">    </p:cNvPr>
          <p:cNvPicPr>
            <a:picLocks noChangeAspect="1"/>
          </p:cNvPicPr>
          <p:nvPr/>
        </p:nvPicPr>
        <p:blipFill>
          <a:blip r:embed="rId2"/>
          <a:stretch>
            <a:fillRect/>
          </a:stretch>
        </p:blipFill>
        <p:spPr>
          <a:xfrm>
            <a:off x="7589520" y="3794760"/>
            <a:ext cx="292608" cy="292608"/>
          </a:xfrm>
          <a:prstGeom prst="rect">
            <a:avLst/>
          </a:prstGeom>
        </p:spPr>
      </p:pic>
      <p:sp>
        <p:nvSpPr>
          <p:cNvPr id="20" name="Text 16"/>
          <p:cNvSpPr/>
          <p:nvPr/>
        </p:nvSpPr>
        <p:spPr>
          <a:xfrm>
            <a:off x="8001000" y="3749040"/>
            <a:ext cx="3383280" cy="256032"/>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Hot reload</a:t>
            </a:r>
            <a:endParaRPr lang="en-US" sz="1200" dirty="0"/>
          </a:p>
        </p:txBody>
      </p:sp>
      <p:sp>
        <p:nvSpPr>
          <p:cNvPr id="21" name="Text 17"/>
          <p:cNvSpPr/>
          <p:nvPr/>
        </p:nvSpPr>
        <p:spPr>
          <a:xfrm>
            <a:off x="8001000" y="3977640"/>
            <a:ext cx="3383280" cy="27432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Profile changes without restart</a:t>
            </a:r>
            <a:endParaRPr lang="en-US" sz="1050" dirty="0"/>
          </a:p>
        </p:txBody>
      </p:sp>
      <p:pic>
        <p:nvPicPr>
          <p:cNvPr id="22" name="Image 2" descr="preencoded.png">    </p:cNvPr>
          <p:cNvPicPr>
            <a:picLocks noChangeAspect="1"/>
          </p:cNvPicPr>
          <p:nvPr/>
        </p:nvPicPr>
        <p:blipFill>
          <a:blip r:embed="rId3"/>
          <a:stretch>
            <a:fillRect/>
          </a:stretch>
        </p:blipFill>
        <p:spPr>
          <a:xfrm>
            <a:off x="7589520" y="4297680"/>
            <a:ext cx="292608" cy="292608"/>
          </a:xfrm>
          <a:prstGeom prst="rect">
            <a:avLst/>
          </a:prstGeom>
        </p:spPr>
      </p:pic>
      <p:sp>
        <p:nvSpPr>
          <p:cNvPr id="23" name="Text 18"/>
          <p:cNvSpPr/>
          <p:nvPr/>
        </p:nvSpPr>
        <p:spPr>
          <a:xfrm>
            <a:off x="8001000" y="4251960"/>
            <a:ext cx="3383280" cy="256032"/>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Dedup</a:t>
            </a:r>
            <a:endParaRPr lang="en-US" sz="1200" dirty="0"/>
          </a:p>
        </p:txBody>
      </p:sp>
      <p:sp>
        <p:nvSpPr>
          <p:cNvPr id="24" name="Text 19"/>
          <p:cNvSpPr/>
          <p:nvPr/>
        </p:nvSpPr>
        <p:spPr>
          <a:xfrm>
            <a:off x="8001000" y="4480560"/>
            <a:ext cx="3383280" cy="27432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Memory or Redis-backed, configurable</a:t>
            </a:r>
            <a:endParaRPr lang="en-US" sz="1050" dirty="0"/>
          </a:p>
        </p:txBody>
      </p:sp>
      <p:pic>
        <p:nvPicPr>
          <p:cNvPr id="25" name="Image 3" descr="preencoded.png">    </p:cNvPr>
          <p:cNvPicPr>
            <a:picLocks noChangeAspect="1"/>
          </p:cNvPicPr>
          <p:nvPr/>
        </p:nvPicPr>
        <p:blipFill>
          <a:blip r:embed="rId4"/>
          <a:stretch>
            <a:fillRect/>
          </a:stretch>
        </p:blipFill>
        <p:spPr>
          <a:xfrm>
            <a:off x="7589520" y="4800600"/>
            <a:ext cx="292608" cy="292608"/>
          </a:xfrm>
          <a:prstGeom prst="rect">
            <a:avLst/>
          </a:prstGeom>
        </p:spPr>
      </p:pic>
      <p:sp>
        <p:nvSpPr>
          <p:cNvPr id="26" name="Text 20"/>
          <p:cNvSpPr/>
          <p:nvPr/>
        </p:nvSpPr>
        <p:spPr>
          <a:xfrm>
            <a:off x="8001000" y="4754880"/>
            <a:ext cx="3383280" cy="256032"/>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DLQ</a:t>
            </a:r>
            <a:endParaRPr lang="en-US" sz="1200" dirty="0"/>
          </a:p>
        </p:txBody>
      </p:sp>
      <p:sp>
        <p:nvSpPr>
          <p:cNvPr id="27" name="Text 21"/>
          <p:cNvSpPr/>
          <p:nvPr/>
        </p:nvSpPr>
        <p:spPr>
          <a:xfrm>
            <a:off x="8001000" y="4983480"/>
            <a:ext cx="3383280" cy="27432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Bad messages routed to MQTT DLQ topic</a:t>
            </a:r>
            <a:endParaRPr lang="en-US" sz="1050" dirty="0"/>
          </a:p>
        </p:txBody>
      </p:sp>
      <p:pic>
        <p:nvPicPr>
          <p:cNvPr id="28" name="Image 4" descr="preencoded.png">    </p:cNvPr>
          <p:cNvPicPr>
            <a:picLocks noChangeAspect="1"/>
          </p:cNvPicPr>
          <p:nvPr/>
        </p:nvPicPr>
        <p:blipFill>
          <a:blip r:embed="rId5"/>
          <a:stretch>
            <a:fillRect/>
          </a:stretch>
        </p:blipFill>
        <p:spPr>
          <a:xfrm>
            <a:off x="7589520" y="5303520"/>
            <a:ext cx="292608" cy="292608"/>
          </a:xfrm>
          <a:prstGeom prst="rect">
            <a:avLst/>
          </a:prstGeom>
        </p:spPr>
      </p:pic>
      <p:sp>
        <p:nvSpPr>
          <p:cNvPr id="29" name="Text 22"/>
          <p:cNvSpPr/>
          <p:nvPr/>
        </p:nvSpPr>
        <p:spPr>
          <a:xfrm>
            <a:off x="8001000" y="5257800"/>
            <a:ext cx="3383280" cy="256032"/>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Per-device override</a:t>
            </a:r>
            <a:endParaRPr lang="en-US" sz="1200" dirty="0"/>
          </a:p>
        </p:txBody>
      </p:sp>
      <p:sp>
        <p:nvSpPr>
          <p:cNvPr id="30" name="Text 23"/>
          <p:cNvSpPr/>
          <p:nvPr/>
        </p:nvSpPr>
        <p:spPr>
          <a:xfrm>
            <a:off x="8001000" y="5486400"/>
            <a:ext cx="3383280" cy="27432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Tag exceptions without forking the profile</a:t>
            </a:r>
            <a:endParaRPr lang="en-US" sz="1050" dirty="0"/>
          </a:p>
        </p:txBody>
      </p:sp>
      <p:pic>
        <p:nvPicPr>
          <p:cNvPr id="31" name="Image 5" descr="preencoded.png">    </p:cNvPr>
          <p:cNvPicPr>
            <a:picLocks noChangeAspect="1"/>
          </p:cNvPicPr>
          <p:nvPr/>
        </p:nvPicPr>
        <p:blipFill>
          <a:blip r:embed="rId6"/>
          <a:stretch>
            <a:fillRect/>
          </a:stretch>
        </p:blipFill>
        <p:spPr>
          <a:xfrm>
            <a:off x="7589520" y="5806440"/>
            <a:ext cx="292608" cy="292608"/>
          </a:xfrm>
          <a:prstGeom prst="rect">
            <a:avLst/>
          </a:prstGeom>
        </p:spPr>
      </p:pic>
      <p:sp>
        <p:nvSpPr>
          <p:cNvPr id="32" name="Text 24"/>
          <p:cNvSpPr/>
          <p:nvPr/>
        </p:nvSpPr>
        <p:spPr>
          <a:xfrm>
            <a:off x="8001000" y="5760720"/>
            <a:ext cx="3383280" cy="256032"/>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Pass-through</a:t>
            </a:r>
            <a:endParaRPr lang="en-US" sz="1200" dirty="0"/>
          </a:p>
        </p:txBody>
      </p:sp>
      <p:sp>
        <p:nvSpPr>
          <p:cNvPr id="33" name="Text 25"/>
          <p:cNvSpPr/>
          <p:nvPr/>
        </p:nvSpPr>
        <p:spPr>
          <a:xfrm>
            <a:off x="8001000" y="5989320"/>
            <a:ext cx="3383280" cy="27432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Topic-only rewrite (no payload reshape)</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lIns="0" tIns="0" rIns="0" bIns="0" rtlCol="0" anchor="ctr"/>
          <a:lstStyle/>
          <a:p>
            <a:pPr indent="0" marL="0">
              <a:buNone/>
            </a:pPr>
            <a:r>
              <a:rPr lang="en-US" sz="1100" b="1" spc="400" kern="0" dirty="0">
                <a:solidFill>
                  <a:srgbClr val="22D3EE"/>
                </a:solidFill>
                <a:latin typeface="Calibri" pitchFamily="34" charset="0"/>
                <a:ea typeface="Calibri" pitchFamily="34" charset="-122"/>
                <a:cs typeface="Calibri" pitchFamily="34" charset="-120"/>
              </a:rPr>
              <a:t>10 · VALIDATION</a:t>
            </a:r>
            <a:endParaRPr lang="en-US" sz="1100" dirty="0"/>
          </a:p>
        </p:txBody>
      </p:sp>
      <p:sp>
        <p:nvSpPr>
          <p:cNvPr id="3" name="Text 1"/>
          <p:cNvSpPr/>
          <p:nvPr/>
        </p:nvSpPr>
        <p:spPr>
          <a:xfrm>
            <a:off x="548640" y="548640"/>
            <a:ext cx="10058400" cy="640080"/>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Test your integration end-to-end</a:t>
            </a:r>
            <a:endParaRPr lang="en-US" sz="3000" dirty="0"/>
          </a:p>
        </p:txBody>
      </p:sp>
      <p:sp>
        <p:nvSpPr>
          <p:cNvPr id="4" name="Text 2"/>
          <p:cNvSpPr/>
          <p:nvPr/>
        </p:nvSpPr>
        <p:spPr>
          <a:xfrm>
            <a:off x="11094415"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 / 14</a:t>
            </a:r>
            <a:endParaRPr lang="en-US" sz="900" dirty="0"/>
          </a:p>
        </p:txBody>
      </p:sp>
      <p:sp>
        <p:nvSpPr>
          <p:cNvPr id="5" name="Text 3"/>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CAPTIA Technology · Partner Integration Guide</a:t>
            </a:r>
            <a:endParaRPr lang="en-US" sz="900" dirty="0"/>
          </a:p>
        </p:txBody>
      </p:sp>
      <p:sp>
        <p:nvSpPr>
          <p:cNvPr id="6" name="Shape 4"/>
          <p:cNvSpPr/>
          <p:nvPr/>
        </p:nvSpPr>
        <p:spPr>
          <a:xfrm>
            <a:off x="11688775" y="320040"/>
            <a:ext cx="164592" cy="164592"/>
          </a:xfrm>
          <a:prstGeom prst="rect">
            <a:avLst/>
          </a:prstGeom>
          <a:solidFill>
            <a:srgbClr val="22D3EE"/>
          </a:solidFill>
          <a:ln w="12700">
            <a:solidFill>
              <a:srgbClr val="22D3EE"/>
            </a:solidFill>
            <a:prstDash val="solid"/>
          </a:ln>
        </p:spPr>
      </p:sp>
      <p:sp>
        <p:nvSpPr>
          <p:cNvPr id="7" name="Shape 5"/>
          <p:cNvSpPr/>
          <p:nvPr/>
        </p:nvSpPr>
        <p:spPr>
          <a:xfrm>
            <a:off x="11917375" y="320040"/>
            <a:ext cx="164592" cy="164592"/>
          </a:xfrm>
          <a:prstGeom prst="rect">
            <a:avLst/>
          </a:prstGeom>
          <a:solidFill>
            <a:srgbClr val="D97706"/>
          </a:solidFill>
          <a:ln w="12700">
            <a:solidFill>
              <a:srgbClr val="D97706"/>
            </a:solidFill>
            <a:prstDash val="solid"/>
          </a:ln>
        </p:spPr>
      </p:sp>
      <p:sp>
        <p:nvSpPr>
          <p:cNvPr id="8" name="Text 6"/>
          <p:cNvSpPr/>
          <p:nvPr/>
        </p:nvSpPr>
        <p:spPr>
          <a:xfrm>
            <a:off x="548640" y="1417320"/>
            <a:ext cx="10972800" cy="640080"/>
          </a:xfrm>
          <a:prstGeom prst="rect">
            <a:avLst/>
          </a:prstGeom>
          <a:noFill/>
          <a:ln/>
        </p:spPr>
        <p:txBody>
          <a:bodyPr wrap="square" lIns="0" tIns="0" rIns="0" bIns="0" rtlCol="0" anchor="ctr"/>
          <a:lstStyle/>
          <a:p>
            <a:pPr indent="0" marL="0">
              <a:buNone/>
            </a:pPr>
            <a:r>
              <a:rPr lang="en-US" sz="1300" i="1" dirty="0">
                <a:solidFill>
                  <a:srgbClr val="0F172A"/>
                </a:solidFill>
                <a:latin typeface="Calibri" pitchFamily="34" charset="0"/>
                <a:ea typeface="Calibri" pitchFamily="34" charset="-122"/>
                <a:cs typeface="Calibri" pitchFamily="34" charset="-120"/>
              </a:rPr>
              <a:t>Every onboarding includes a sandbox tenant on a staging server. You can probe each layer with the tools below before we promote to production.</a:t>
            </a:r>
            <a:endParaRPr lang="en-US" sz="1300" dirty="0"/>
          </a:p>
        </p:txBody>
      </p:sp>
      <p:sp>
        <p:nvSpPr>
          <p:cNvPr id="9" name="Shape 7"/>
          <p:cNvSpPr/>
          <p:nvPr/>
        </p:nvSpPr>
        <p:spPr>
          <a:xfrm>
            <a:off x="548640" y="2331720"/>
            <a:ext cx="5532120" cy="1828800"/>
          </a:xfrm>
          <a:prstGeom prst="rect">
            <a:avLst/>
          </a:prstGeom>
          <a:solidFill>
            <a:srgbClr val="FFFFFF"/>
          </a:solidFill>
          <a:ln w="12700">
            <a:solidFill>
              <a:srgbClr val="E2E8F0"/>
            </a:solidFill>
            <a:prstDash val="solid"/>
          </a:ln>
          <a:effectLst>
            <a:outerShdw sx="100000" sy="100000" kx="0" ky="0" algn="bl" rotWithShape="0" blurRad="152400" dist="38100" dir="5400000">
              <a:srgbClr val="0F172A">
                <a:alpha val="10000"/>
              </a:srgbClr>
            </a:outerShdw>
          </a:effectLst>
        </p:spPr>
      </p:sp>
      <p:sp>
        <p:nvSpPr>
          <p:cNvPr id="10" name="Shape 8"/>
          <p:cNvSpPr/>
          <p:nvPr/>
        </p:nvSpPr>
        <p:spPr>
          <a:xfrm>
            <a:off x="548640" y="2331720"/>
            <a:ext cx="109728" cy="1828800"/>
          </a:xfrm>
          <a:prstGeom prst="rect">
            <a:avLst/>
          </a:prstGeom>
          <a:solidFill>
            <a:srgbClr val="22D3EE"/>
          </a:solidFill>
          <a:ln w="12700">
            <a:solidFill>
              <a:srgbClr val="22D3EE"/>
            </a:solidFill>
            <a:prstDash val="solid"/>
          </a:ln>
        </p:spPr>
      </p:sp>
      <p:pic>
        <p:nvPicPr>
          <p:cNvPr id="11" name="Image 0" descr="preencoded.png">    </p:cNvPr>
          <p:cNvPicPr>
            <a:picLocks noChangeAspect="1"/>
          </p:cNvPicPr>
          <p:nvPr/>
        </p:nvPicPr>
        <p:blipFill>
          <a:blip r:embed="rId1"/>
          <a:stretch>
            <a:fillRect/>
          </a:stretch>
        </p:blipFill>
        <p:spPr>
          <a:xfrm>
            <a:off x="868680" y="2560320"/>
            <a:ext cx="365760" cy="365760"/>
          </a:xfrm>
          <a:prstGeom prst="rect">
            <a:avLst/>
          </a:prstGeom>
        </p:spPr>
      </p:pic>
      <p:sp>
        <p:nvSpPr>
          <p:cNvPr id="12" name="Text 9"/>
          <p:cNvSpPr/>
          <p:nvPr/>
        </p:nvSpPr>
        <p:spPr>
          <a:xfrm>
            <a:off x="1417320" y="2532888"/>
            <a:ext cx="4526280" cy="411480"/>
          </a:xfrm>
          <a:prstGeom prst="rect">
            <a:avLst/>
          </a:prstGeom>
          <a:noFill/>
          <a:ln/>
        </p:spPr>
        <p:txBody>
          <a:bodyPr wrap="square" lIns="0" tIns="0" rIns="0" bIns="0" rtlCol="0" anchor="ctr"/>
          <a:lstStyle/>
          <a:p>
            <a:pPr indent="0" marL="0">
              <a:buNone/>
            </a:pPr>
            <a:r>
              <a:rPr lang="en-US" sz="1600" b="1" dirty="0">
                <a:solidFill>
                  <a:srgbClr val="0F172A"/>
                </a:solidFill>
                <a:latin typeface="Cambria" pitchFamily="34" charset="0"/>
                <a:ea typeface="Cambria" pitchFamily="34" charset="-122"/>
                <a:cs typeface="Cambria" pitchFamily="34" charset="-120"/>
              </a:rPr>
              <a:t>1 · Publish a test sample</a:t>
            </a:r>
            <a:endParaRPr lang="en-US" sz="1600" dirty="0"/>
          </a:p>
        </p:txBody>
      </p:sp>
      <p:sp>
        <p:nvSpPr>
          <p:cNvPr id="13" name="Shape 10"/>
          <p:cNvSpPr/>
          <p:nvPr/>
        </p:nvSpPr>
        <p:spPr>
          <a:xfrm>
            <a:off x="868680" y="3108960"/>
            <a:ext cx="4983480" cy="868680"/>
          </a:xfrm>
          <a:prstGeom prst="rect">
            <a:avLst/>
          </a:prstGeom>
          <a:solidFill>
            <a:srgbClr val="0A1929"/>
          </a:solidFill>
          <a:ln w="12700">
            <a:solidFill>
              <a:srgbClr val="0A1929"/>
            </a:solidFill>
            <a:prstDash val="solid"/>
          </a:ln>
        </p:spPr>
      </p:sp>
      <p:sp>
        <p:nvSpPr>
          <p:cNvPr id="14" name="Text 11"/>
          <p:cNvSpPr/>
          <p:nvPr/>
        </p:nvSpPr>
        <p:spPr>
          <a:xfrm>
            <a:off x="1005840" y="3154680"/>
            <a:ext cx="4754880" cy="777240"/>
          </a:xfrm>
          <a:prstGeom prst="rect">
            <a:avLst/>
          </a:prstGeom>
          <a:noFill/>
          <a:ln/>
        </p:spPr>
        <p:txBody>
          <a:bodyPr wrap="square" lIns="0" tIns="0" rIns="0" bIns="0" rtlCol="0" anchor="t"/>
          <a:lstStyle/>
          <a:p>
            <a:pPr indent="0" marL="0">
              <a:buNone/>
            </a:pPr>
            <a:r>
              <a:rPr lang="en-US" sz="1000" dirty="0">
                <a:solidFill>
                  <a:srgbClr val="22D3EE"/>
                </a:solidFill>
                <a:latin typeface="Consolas" pitchFamily="34" charset="0"/>
                <a:ea typeface="Consolas" pitchFamily="34" charset="-122"/>
                <a:cs typeface="Consolas" pitchFamily="34" charset="-120"/>
              </a:rPr>
              <a:t>mosquitto_pub -h &lt;edge&gt; -p 1883 \</a:t>
            </a:r>
            <a:endParaRPr lang="en-US" sz="1000" dirty="0"/>
          </a:p>
          <a:p>
            <a:pPr indent="0" marL="0">
              <a:buNone/>
            </a:pPr>
            <a:r>
              <a:rPr lang="en-US" sz="1000" dirty="0">
                <a:solidFill>
                  <a:srgbClr val="22D3EE"/>
                </a:solidFill>
                <a:latin typeface="Consolas" pitchFamily="34" charset="0"/>
                <a:ea typeface="Consolas" pitchFamily="34" charset="-122"/>
                <a:cs typeface="Consolas" pitchFamily="34" charset="-120"/>
              </a:rPr>
              <a:t>  -t "captia/dev/test/site01/device01/telemetry/temp" \</a:t>
            </a:r>
            <a:endParaRPr lang="en-US" sz="1000" dirty="0"/>
          </a:p>
          <a:p>
            <a:pPr indent="0" marL="0">
              <a:buNone/>
            </a:pPr>
            <a:r>
              <a:rPr lang="en-US" sz="1000" dirty="0">
                <a:solidFill>
                  <a:srgbClr val="22D3EE"/>
                </a:solidFill>
                <a:latin typeface="Consolas" pitchFamily="34" charset="0"/>
                <a:ea typeface="Consolas" pitchFamily="34" charset="-122"/>
                <a:cs typeface="Consolas" pitchFamily="34" charset="-120"/>
              </a:rPr>
              <a:t>  -m '{"value": 23.5}'</a:t>
            </a:r>
            <a:endParaRPr lang="en-US" sz="1000" dirty="0"/>
          </a:p>
        </p:txBody>
      </p:sp>
      <p:sp>
        <p:nvSpPr>
          <p:cNvPr id="15" name="Shape 12"/>
          <p:cNvSpPr/>
          <p:nvPr/>
        </p:nvSpPr>
        <p:spPr>
          <a:xfrm>
            <a:off x="6263640" y="2331720"/>
            <a:ext cx="5532120" cy="1828800"/>
          </a:xfrm>
          <a:prstGeom prst="rect">
            <a:avLst/>
          </a:prstGeom>
          <a:solidFill>
            <a:srgbClr val="FFFFFF"/>
          </a:solidFill>
          <a:ln w="12700">
            <a:solidFill>
              <a:srgbClr val="E2E8F0"/>
            </a:solidFill>
            <a:prstDash val="solid"/>
          </a:ln>
          <a:effectLst>
            <a:outerShdw sx="100000" sy="100000" kx="0" ky="0" algn="bl" rotWithShape="0" blurRad="152400" dist="38100" dir="5400000">
              <a:srgbClr val="0F172A">
                <a:alpha val="10000"/>
              </a:srgbClr>
            </a:outerShdw>
          </a:effectLst>
        </p:spPr>
      </p:sp>
      <p:sp>
        <p:nvSpPr>
          <p:cNvPr id="16" name="Shape 13"/>
          <p:cNvSpPr/>
          <p:nvPr/>
        </p:nvSpPr>
        <p:spPr>
          <a:xfrm>
            <a:off x="6263640" y="2331720"/>
            <a:ext cx="109728" cy="1828800"/>
          </a:xfrm>
          <a:prstGeom prst="rect">
            <a:avLst/>
          </a:prstGeom>
          <a:solidFill>
            <a:srgbClr val="22D3EE"/>
          </a:solidFill>
          <a:ln w="12700">
            <a:solidFill>
              <a:srgbClr val="22D3EE"/>
            </a:solidFill>
            <a:prstDash val="solid"/>
          </a:ln>
        </p:spPr>
      </p:sp>
      <p:pic>
        <p:nvPicPr>
          <p:cNvPr id="17" name="Image 1" descr="preencoded.png">    </p:cNvPr>
          <p:cNvPicPr>
            <a:picLocks noChangeAspect="1"/>
          </p:cNvPicPr>
          <p:nvPr/>
        </p:nvPicPr>
        <p:blipFill>
          <a:blip r:embed="rId2"/>
          <a:stretch>
            <a:fillRect/>
          </a:stretch>
        </p:blipFill>
        <p:spPr>
          <a:xfrm>
            <a:off x="6583680" y="2560320"/>
            <a:ext cx="365760" cy="365760"/>
          </a:xfrm>
          <a:prstGeom prst="rect">
            <a:avLst/>
          </a:prstGeom>
        </p:spPr>
      </p:pic>
      <p:sp>
        <p:nvSpPr>
          <p:cNvPr id="18" name="Text 14"/>
          <p:cNvSpPr/>
          <p:nvPr/>
        </p:nvSpPr>
        <p:spPr>
          <a:xfrm>
            <a:off x="7132320" y="2532888"/>
            <a:ext cx="4526280" cy="411480"/>
          </a:xfrm>
          <a:prstGeom prst="rect">
            <a:avLst/>
          </a:prstGeom>
          <a:noFill/>
          <a:ln/>
        </p:spPr>
        <p:txBody>
          <a:bodyPr wrap="square" lIns="0" tIns="0" rIns="0" bIns="0" rtlCol="0" anchor="ctr"/>
          <a:lstStyle/>
          <a:p>
            <a:pPr indent="0" marL="0">
              <a:buNone/>
            </a:pPr>
            <a:r>
              <a:rPr lang="en-US" sz="1600" b="1" dirty="0">
                <a:solidFill>
                  <a:srgbClr val="0F172A"/>
                </a:solidFill>
                <a:latin typeface="Cambria" pitchFamily="34" charset="0"/>
                <a:ea typeface="Cambria" pitchFamily="34" charset="-122"/>
                <a:cs typeface="Cambria" pitchFamily="34" charset="-120"/>
              </a:rPr>
              <a:t>2 · Check arrival in InfluxDB</a:t>
            </a:r>
            <a:endParaRPr lang="en-US" sz="1600" dirty="0"/>
          </a:p>
        </p:txBody>
      </p:sp>
      <p:sp>
        <p:nvSpPr>
          <p:cNvPr id="19" name="Shape 15"/>
          <p:cNvSpPr/>
          <p:nvPr/>
        </p:nvSpPr>
        <p:spPr>
          <a:xfrm>
            <a:off x="6583680" y="3108960"/>
            <a:ext cx="4983480" cy="868680"/>
          </a:xfrm>
          <a:prstGeom prst="rect">
            <a:avLst/>
          </a:prstGeom>
          <a:solidFill>
            <a:srgbClr val="0A1929"/>
          </a:solidFill>
          <a:ln w="12700">
            <a:solidFill>
              <a:srgbClr val="0A1929"/>
            </a:solidFill>
            <a:prstDash val="solid"/>
          </a:ln>
        </p:spPr>
      </p:sp>
      <p:sp>
        <p:nvSpPr>
          <p:cNvPr id="20" name="Text 16"/>
          <p:cNvSpPr/>
          <p:nvPr/>
        </p:nvSpPr>
        <p:spPr>
          <a:xfrm>
            <a:off x="6720840" y="3154680"/>
            <a:ext cx="4754880" cy="777240"/>
          </a:xfrm>
          <a:prstGeom prst="rect">
            <a:avLst/>
          </a:prstGeom>
          <a:noFill/>
          <a:ln/>
        </p:spPr>
        <p:txBody>
          <a:bodyPr wrap="square" lIns="0" tIns="0" rIns="0" bIns="0" rtlCol="0" anchor="t"/>
          <a:lstStyle/>
          <a:p>
            <a:pPr indent="0" marL="0">
              <a:buNone/>
            </a:pPr>
            <a:r>
              <a:rPr lang="en-US" sz="1000" dirty="0">
                <a:solidFill>
                  <a:srgbClr val="22D3EE"/>
                </a:solidFill>
                <a:latin typeface="Consolas" pitchFamily="34" charset="0"/>
                <a:ea typeface="Consolas" pitchFamily="34" charset="-122"/>
                <a:cs typeface="Consolas" pitchFamily="34" charset="-120"/>
              </a:rPr>
              <a:t>docker exec captia-influxdb influx query \</a:t>
            </a:r>
            <a:endParaRPr lang="en-US" sz="1000" dirty="0"/>
          </a:p>
          <a:p>
            <a:pPr indent="0" marL="0">
              <a:buNone/>
            </a:pPr>
            <a:r>
              <a:rPr lang="en-US" sz="1000" dirty="0">
                <a:solidFill>
                  <a:srgbClr val="22D3EE"/>
                </a:solidFill>
                <a:latin typeface="Consolas" pitchFamily="34" charset="0"/>
                <a:ea typeface="Consolas" pitchFamily="34" charset="-122"/>
                <a:cs typeface="Consolas" pitchFamily="34" charset="-120"/>
              </a:rPr>
              <a:t>  'from(bucket:"telemetry") |&gt; range(start: -5m)</a:t>
            </a:r>
            <a:endParaRPr lang="en-US" sz="1000" dirty="0"/>
          </a:p>
          <a:p>
            <a:pPr indent="0" marL="0">
              <a:buNone/>
            </a:pPr>
            <a:r>
              <a:rPr lang="en-US" sz="1000" dirty="0">
                <a:solidFill>
                  <a:srgbClr val="22D3EE"/>
                </a:solidFill>
                <a:latin typeface="Consolas" pitchFamily="34" charset="0"/>
                <a:ea typeface="Consolas" pitchFamily="34" charset="-122"/>
                <a:cs typeface="Consolas" pitchFamily="34" charset="-120"/>
              </a:rPr>
              <a:t>     |&gt; filter(fn: (r) =&gt; r.asset_id=="device01")'</a:t>
            </a:r>
            <a:endParaRPr lang="en-US" sz="1000" dirty="0"/>
          </a:p>
        </p:txBody>
      </p:sp>
      <p:sp>
        <p:nvSpPr>
          <p:cNvPr id="21" name="Shape 17"/>
          <p:cNvSpPr/>
          <p:nvPr/>
        </p:nvSpPr>
        <p:spPr>
          <a:xfrm>
            <a:off x="548640" y="4343400"/>
            <a:ext cx="5532120" cy="1828800"/>
          </a:xfrm>
          <a:prstGeom prst="rect">
            <a:avLst/>
          </a:prstGeom>
          <a:solidFill>
            <a:srgbClr val="FFFFFF"/>
          </a:solidFill>
          <a:ln w="12700">
            <a:solidFill>
              <a:srgbClr val="E2E8F0"/>
            </a:solidFill>
            <a:prstDash val="solid"/>
          </a:ln>
          <a:effectLst>
            <a:outerShdw sx="100000" sy="100000" kx="0" ky="0" algn="bl" rotWithShape="0" blurRad="152400" dist="38100" dir="5400000">
              <a:srgbClr val="0F172A">
                <a:alpha val="10000"/>
              </a:srgbClr>
            </a:outerShdw>
          </a:effectLst>
        </p:spPr>
      </p:sp>
      <p:sp>
        <p:nvSpPr>
          <p:cNvPr id="22" name="Shape 18"/>
          <p:cNvSpPr/>
          <p:nvPr/>
        </p:nvSpPr>
        <p:spPr>
          <a:xfrm>
            <a:off x="548640" y="4343400"/>
            <a:ext cx="109728" cy="1828800"/>
          </a:xfrm>
          <a:prstGeom prst="rect">
            <a:avLst/>
          </a:prstGeom>
          <a:solidFill>
            <a:srgbClr val="22D3EE"/>
          </a:solidFill>
          <a:ln w="12700">
            <a:solidFill>
              <a:srgbClr val="22D3EE"/>
            </a:solidFill>
            <a:prstDash val="solid"/>
          </a:ln>
        </p:spPr>
      </p:sp>
      <p:pic>
        <p:nvPicPr>
          <p:cNvPr id="23" name="Image 2" descr="preencoded.png">    </p:cNvPr>
          <p:cNvPicPr>
            <a:picLocks noChangeAspect="1"/>
          </p:cNvPicPr>
          <p:nvPr/>
        </p:nvPicPr>
        <p:blipFill>
          <a:blip r:embed="rId3"/>
          <a:stretch>
            <a:fillRect/>
          </a:stretch>
        </p:blipFill>
        <p:spPr>
          <a:xfrm>
            <a:off x="868680" y="4572000"/>
            <a:ext cx="365760" cy="365760"/>
          </a:xfrm>
          <a:prstGeom prst="rect">
            <a:avLst/>
          </a:prstGeom>
        </p:spPr>
      </p:pic>
      <p:sp>
        <p:nvSpPr>
          <p:cNvPr id="24" name="Text 19"/>
          <p:cNvSpPr/>
          <p:nvPr/>
        </p:nvSpPr>
        <p:spPr>
          <a:xfrm>
            <a:off x="1417320" y="4544568"/>
            <a:ext cx="4526280" cy="411480"/>
          </a:xfrm>
          <a:prstGeom prst="rect">
            <a:avLst/>
          </a:prstGeom>
          <a:noFill/>
          <a:ln/>
        </p:spPr>
        <p:txBody>
          <a:bodyPr wrap="square" lIns="0" tIns="0" rIns="0" bIns="0" rtlCol="0" anchor="ctr"/>
          <a:lstStyle/>
          <a:p>
            <a:pPr indent="0" marL="0">
              <a:buNone/>
            </a:pPr>
            <a:r>
              <a:rPr lang="en-US" sz="1600" b="1" dirty="0">
                <a:solidFill>
                  <a:srgbClr val="0F172A"/>
                </a:solidFill>
                <a:latin typeface="Cambria" pitchFamily="34" charset="0"/>
                <a:ea typeface="Cambria" pitchFamily="34" charset="-122"/>
                <a:cs typeface="Cambria" pitchFamily="34" charset="-120"/>
              </a:rPr>
              <a:t>3 · Visualize in Grafana</a:t>
            </a:r>
            <a:endParaRPr lang="en-US" sz="1600" dirty="0"/>
          </a:p>
        </p:txBody>
      </p:sp>
      <p:sp>
        <p:nvSpPr>
          <p:cNvPr id="25" name="Shape 20"/>
          <p:cNvSpPr/>
          <p:nvPr/>
        </p:nvSpPr>
        <p:spPr>
          <a:xfrm>
            <a:off x="868680" y="5120640"/>
            <a:ext cx="4983480" cy="868680"/>
          </a:xfrm>
          <a:prstGeom prst="rect">
            <a:avLst/>
          </a:prstGeom>
          <a:solidFill>
            <a:srgbClr val="0A1929"/>
          </a:solidFill>
          <a:ln w="12700">
            <a:solidFill>
              <a:srgbClr val="0A1929"/>
            </a:solidFill>
            <a:prstDash val="solid"/>
          </a:ln>
        </p:spPr>
      </p:sp>
      <p:sp>
        <p:nvSpPr>
          <p:cNvPr id="26" name="Text 21"/>
          <p:cNvSpPr/>
          <p:nvPr/>
        </p:nvSpPr>
        <p:spPr>
          <a:xfrm>
            <a:off x="1005840" y="5166360"/>
            <a:ext cx="4754880" cy="777240"/>
          </a:xfrm>
          <a:prstGeom prst="rect">
            <a:avLst/>
          </a:prstGeom>
          <a:noFill/>
          <a:ln/>
        </p:spPr>
        <p:txBody>
          <a:bodyPr wrap="square" lIns="0" tIns="0" rIns="0" bIns="0" rtlCol="0" anchor="t"/>
          <a:lstStyle/>
          <a:p>
            <a:pPr indent="0" marL="0">
              <a:buNone/>
            </a:pPr>
            <a:r>
              <a:rPr lang="en-US" sz="1000" dirty="0">
                <a:solidFill>
                  <a:srgbClr val="22D3EE"/>
                </a:solidFill>
                <a:latin typeface="Consolas" pitchFamily="34" charset="0"/>
                <a:ea typeface="Consolas" pitchFamily="34" charset="-122"/>
                <a:cs typeface="Consolas" pitchFamily="34" charset="-120"/>
              </a:rPr>
              <a:t># Browse the built-in dashboard</a:t>
            </a:r>
            <a:endParaRPr lang="en-US" sz="1000" dirty="0"/>
          </a:p>
          <a:p>
            <a:pPr indent="0" marL="0">
              <a:buNone/>
            </a:pPr>
            <a:r>
              <a:rPr lang="en-US" sz="1000" dirty="0">
                <a:solidFill>
                  <a:srgbClr val="22D3EE"/>
                </a:solidFill>
                <a:latin typeface="Consolas" pitchFamily="34" charset="0"/>
                <a:ea typeface="Consolas" pitchFamily="34" charset="-122"/>
                <a:cs typeface="Consolas" pitchFamily="34" charset="-120"/>
              </a:rPr>
              <a:t>https://&lt;edge&gt;:13000  →  CAPTIA Live Telemetry</a:t>
            </a:r>
            <a:endParaRPr lang="en-US" sz="1000" dirty="0"/>
          </a:p>
          <a:p>
            <a:pPr indent="0" marL="0">
              <a:buNone/>
            </a:pPr>
            <a:r>
              <a:rPr lang="en-US" sz="1000" dirty="0">
                <a:solidFill>
                  <a:srgbClr val="22D3EE"/>
                </a:solidFill>
                <a:latin typeface="Consolas" pitchFamily="34" charset="0"/>
                <a:ea typeface="Consolas" pitchFamily="34" charset="-122"/>
                <a:cs typeface="Consolas" pitchFamily="34" charset="-120"/>
              </a:rPr>
              <a:t># Or query the adapter directly:</a:t>
            </a:r>
            <a:endParaRPr lang="en-US" sz="1000" dirty="0"/>
          </a:p>
          <a:p>
            <a:pPr indent="0" marL="0">
              <a:buNone/>
            </a:pPr>
            <a:r>
              <a:rPr lang="en-US" sz="1000" dirty="0">
                <a:solidFill>
                  <a:srgbClr val="22D3EE"/>
                </a:solidFill>
                <a:latin typeface="Consolas" pitchFamily="34" charset="0"/>
                <a:ea typeface="Consolas" pitchFamily="34" charset="-122"/>
                <a:cs typeface="Consolas" pitchFamily="34" charset="-120"/>
              </a:rPr>
              <a:t>GET /v1/query?domain=...&amp;site=...</a:t>
            </a:r>
            <a:endParaRPr lang="en-US" sz="1000" dirty="0"/>
          </a:p>
        </p:txBody>
      </p:sp>
      <p:sp>
        <p:nvSpPr>
          <p:cNvPr id="27" name="Shape 22"/>
          <p:cNvSpPr/>
          <p:nvPr/>
        </p:nvSpPr>
        <p:spPr>
          <a:xfrm>
            <a:off x="6263640" y="4343400"/>
            <a:ext cx="5532120" cy="1828800"/>
          </a:xfrm>
          <a:prstGeom prst="rect">
            <a:avLst/>
          </a:prstGeom>
          <a:solidFill>
            <a:srgbClr val="FFFFFF"/>
          </a:solidFill>
          <a:ln w="12700">
            <a:solidFill>
              <a:srgbClr val="E2E8F0"/>
            </a:solidFill>
            <a:prstDash val="solid"/>
          </a:ln>
          <a:effectLst>
            <a:outerShdw sx="100000" sy="100000" kx="0" ky="0" algn="bl" rotWithShape="0" blurRad="152400" dist="38100" dir="5400000">
              <a:srgbClr val="0F172A">
                <a:alpha val="10000"/>
              </a:srgbClr>
            </a:outerShdw>
          </a:effectLst>
        </p:spPr>
      </p:sp>
      <p:sp>
        <p:nvSpPr>
          <p:cNvPr id="28" name="Shape 23"/>
          <p:cNvSpPr/>
          <p:nvPr/>
        </p:nvSpPr>
        <p:spPr>
          <a:xfrm>
            <a:off x="6263640" y="4343400"/>
            <a:ext cx="109728" cy="1828800"/>
          </a:xfrm>
          <a:prstGeom prst="rect">
            <a:avLst/>
          </a:prstGeom>
          <a:solidFill>
            <a:srgbClr val="22D3EE"/>
          </a:solidFill>
          <a:ln w="12700">
            <a:solidFill>
              <a:srgbClr val="22D3EE"/>
            </a:solidFill>
            <a:prstDash val="solid"/>
          </a:ln>
        </p:spPr>
      </p:sp>
      <p:pic>
        <p:nvPicPr>
          <p:cNvPr id="29" name="Image 3" descr="preencoded.png">    </p:cNvPr>
          <p:cNvPicPr>
            <a:picLocks noChangeAspect="1"/>
          </p:cNvPicPr>
          <p:nvPr/>
        </p:nvPicPr>
        <p:blipFill>
          <a:blip r:embed="rId4"/>
          <a:stretch>
            <a:fillRect/>
          </a:stretch>
        </p:blipFill>
        <p:spPr>
          <a:xfrm>
            <a:off x="6583680" y="4572000"/>
            <a:ext cx="365760" cy="365760"/>
          </a:xfrm>
          <a:prstGeom prst="rect">
            <a:avLst/>
          </a:prstGeom>
        </p:spPr>
      </p:pic>
      <p:sp>
        <p:nvSpPr>
          <p:cNvPr id="30" name="Text 24"/>
          <p:cNvSpPr/>
          <p:nvPr/>
        </p:nvSpPr>
        <p:spPr>
          <a:xfrm>
            <a:off x="7132320" y="4544568"/>
            <a:ext cx="4526280" cy="411480"/>
          </a:xfrm>
          <a:prstGeom prst="rect">
            <a:avLst/>
          </a:prstGeom>
          <a:noFill/>
          <a:ln/>
        </p:spPr>
        <p:txBody>
          <a:bodyPr wrap="square" lIns="0" tIns="0" rIns="0" bIns="0" rtlCol="0" anchor="ctr"/>
          <a:lstStyle/>
          <a:p>
            <a:pPr indent="0" marL="0">
              <a:buNone/>
            </a:pPr>
            <a:r>
              <a:rPr lang="en-US" sz="1600" b="1" dirty="0">
                <a:solidFill>
                  <a:srgbClr val="0F172A"/>
                </a:solidFill>
                <a:latin typeface="Cambria" pitchFamily="34" charset="0"/>
                <a:ea typeface="Cambria" pitchFamily="34" charset="-122"/>
                <a:cs typeface="Cambria" pitchFamily="34" charset="-120"/>
              </a:rPr>
              <a:t>4 · Health &amp; readiness</a:t>
            </a:r>
            <a:endParaRPr lang="en-US" sz="1600" dirty="0"/>
          </a:p>
        </p:txBody>
      </p:sp>
      <p:sp>
        <p:nvSpPr>
          <p:cNvPr id="31" name="Shape 25"/>
          <p:cNvSpPr/>
          <p:nvPr/>
        </p:nvSpPr>
        <p:spPr>
          <a:xfrm>
            <a:off x="6583680" y="5120640"/>
            <a:ext cx="4983480" cy="868680"/>
          </a:xfrm>
          <a:prstGeom prst="rect">
            <a:avLst/>
          </a:prstGeom>
          <a:solidFill>
            <a:srgbClr val="0A1929"/>
          </a:solidFill>
          <a:ln w="12700">
            <a:solidFill>
              <a:srgbClr val="0A1929"/>
            </a:solidFill>
            <a:prstDash val="solid"/>
          </a:ln>
        </p:spPr>
      </p:sp>
      <p:sp>
        <p:nvSpPr>
          <p:cNvPr id="32" name="Text 26"/>
          <p:cNvSpPr/>
          <p:nvPr/>
        </p:nvSpPr>
        <p:spPr>
          <a:xfrm>
            <a:off x="6720840" y="5166360"/>
            <a:ext cx="4754880" cy="777240"/>
          </a:xfrm>
          <a:prstGeom prst="rect">
            <a:avLst/>
          </a:prstGeom>
          <a:noFill/>
          <a:ln/>
        </p:spPr>
        <p:txBody>
          <a:bodyPr wrap="square" lIns="0" tIns="0" rIns="0" bIns="0" rtlCol="0" anchor="t"/>
          <a:lstStyle/>
          <a:p>
            <a:pPr indent="0" marL="0">
              <a:buNone/>
            </a:pPr>
            <a:r>
              <a:rPr lang="en-US" sz="1000" dirty="0">
                <a:solidFill>
                  <a:srgbClr val="22D3EE"/>
                </a:solidFill>
                <a:latin typeface="Consolas" pitchFamily="34" charset="0"/>
                <a:ea typeface="Consolas" pitchFamily="34" charset="-122"/>
                <a:cs typeface="Consolas" pitchFamily="34" charset="-120"/>
              </a:rPr>
              <a:t>curl http://&lt;edge&gt;:8100/healthz</a:t>
            </a:r>
            <a:endParaRPr lang="en-US" sz="1000" dirty="0"/>
          </a:p>
          <a:p>
            <a:pPr indent="0" marL="0">
              <a:buNone/>
            </a:pPr>
            <a:r>
              <a:rPr lang="en-US" sz="1000" dirty="0">
                <a:solidFill>
                  <a:srgbClr val="22D3EE"/>
                </a:solidFill>
                <a:latin typeface="Consolas" pitchFamily="34" charset="0"/>
                <a:ea typeface="Consolas" pitchFamily="34" charset="-122"/>
                <a:cs typeface="Consolas" pitchFamily="34" charset="-120"/>
              </a:rPr>
              <a:t>curl http://&lt;edge&gt;:8100/readyz</a:t>
            </a:r>
            <a:endParaRPr lang="en-US" sz="1000" dirty="0"/>
          </a:p>
          <a:p>
            <a:pPr indent="0" marL="0">
              <a:buNone/>
            </a:pPr>
            <a:r>
              <a:rPr lang="en-US" sz="1000" dirty="0">
                <a:solidFill>
                  <a:srgbClr val="22D3EE"/>
                </a:solidFill>
                <a:latin typeface="Consolas" pitchFamily="34" charset="0"/>
                <a:ea typeface="Consolas" pitchFamily="34" charset="-122"/>
                <a:cs typeface="Consolas" pitchFamily="34" charset="-120"/>
              </a:rPr>
              <a:t>curl http://&lt;edge&gt;:8090/healthz   # normalizer</a:t>
            </a:r>
            <a:endParaRPr lang="en-US" sz="1000" dirty="0"/>
          </a:p>
          <a:p>
            <a:pPr indent="0" marL="0">
              <a:buNone/>
            </a:pPr>
            <a:r>
              <a:rPr lang="en-US" sz="1000" dirty="0">
                <a:solidFill>
                  <a:srgbClr val="22D3EE"/>
                </a:solidFill>
                <a:latin typeface="Consolas" pitchFamily="34" charset="0"/>
                <a:ea typeface="Consolas" pitchFamily="34" charset="-122"/>
                <a:cs typeface="Consolas" pitchFamily="34" charset="-120"/>
              </a:rPr>
              <a:t>curl http://&lt;edge&gt;:8110/readyz    # events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lIns="0" tIns="0" rIns="0" bIns="0" rtlCol="0" anchor="ctr"/>
          <a:lstStyle/>
          <a:p>
            <a:pPr indent="0" marL="0">
              <a:buNone/>
            </a:pPr>
            <a:r>
              <a:rPr lang="en-US" sz="1100" b="1" spc="400" kern="0" dirty="0">
                <a:solidFill>
                  <a:srgbClr val="22D3EE"/>
                </a:solidFill>
                <a:latin typeface="Calibri" pitchFamily="34" charset="0"/>
                <a:ea typeface="Calibri" pitchFamily="34" charset="-122"/>
                <a:cs typeface="Calibri" pitchFamily="34" charset="-120"/>
              </a:rPr>
              <a:t>11 · WORKFLOW</a:t>
            </a:r>
            <a:endParaRPr lang="en-US" sz="1100" dirty="0"/>
          </a:p>
        </p:txBody>
      </p:sp>
      <p:sp>
        <p:nvSpPr>
          <p:cNvPr id="3" name="Text 1"/>
          <p:cNvSpPr/>
          <p:nvPr/>
        </p:nvSpPr>
        <p:spPr>
          <a:xfrm>
            <a:off x="548640" y="548640"/>
            <a:ext cx="10058400" cy="640080"/>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Onboarding in 5 steps</a:t>
            </a:r>
            <a:endParaRPr lang="en-US" sz="3000" dirty="0"/>
          </a:p>
        </p:txBody>
      </p:sp>
      <p:sp>
        <p:nvSpPr>
          <p:cNvPr id="4" name="Text 2"/>
          <p:cNvSpPr/>
          <p:nvPr/>
        </p:nvSpPr>
        <p:spPr>
          <a:xfrm>
            <a:off x="11094415"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 / 14</a:t>
            </a:r>
            <a:endParaRPr lang="en-US" sz="900" dirty="0"/>
          </a:p>
        </p:txBody>
      </p:sp>
      <p:sp>
        <p:nvSpPr>
          <p:cNvPr id="5" name="Text 3"/>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CAPTIA Technology · Partner Integration Guide</a:t>
            </a:r>
            <a:endParaRPr lang="en-US" sz="900" dirty="0"/>
          </a:p>
        </p:txBody>
      </p:sp>
      <p:sp>
        <p:nvSpPr>
          <p:cNvPr id="6" name="Shape 4"/>
          <p:cNvSpPr/>
          <p:nvPr/>
        </p:nvSpPr>
        <p:spPr>
          <a:xfrm>
            <a:off x="11688775" y="320040"/>
            <a:ext cx="164592" cy="164592"/>
          </a:xfrm>
          <a:prstGeom prst="rect">
            <a:avLst/>
          </a:prstGeom>
          <a:solidFill>
            <a:srgbClr val="22D3EE"/>
          </a:solidFill>
          <a:ln w="12700">
            <a:solidFill>
              <a:srgbClr val="22D3EE"/>
            </a:solidFill>
            <a:prstDash val="solid"/>
          </a:ln>
        </p:spPr>
      </p:sp>
      <p:sp>
        <p:nvSpPr>
          <p:cNvPr id="7" name="Shape 5"/>
          <p:cNvSpPr/>
          <p:nvPr/>
        </p:nvSpPr>
        <p:spPr>
          <a:xfrm>
            <a:off x="11917375" y="320040"/>
            <a:ext cx="164592" cy="164592"/>
          </a:xfrm>
          <a:prstGeom prst="rect">
            <a:avLst/>
          </a:prstGeom>
          <a:solidFill>
            <a:srgbClr val="D97706"/>
          </a:solidFill>
          <a:ln w="12700">
            <a:solidFill>
              <a:srgbClr val="D97706"/>
            </a:solidFill>
            <a:prstDash val="solid"/>
          </a:ln>
        </p:spPr>
      </p:sp>
      <p:sp>
        <p:nvSpPr>
          <p:cNvPr id="8" name="Text 6"/>
          <p:cNvSpPr/>
          <p:nvPr/>
        </p:nvSpPr>
        <p:spPr>
          <a:xfrm>
            <a:off x="548640" y="1417320"/>
            <a:ext cx="10972800" cy="640080"/>
          </a:xfrm>
          <a:prstGeom prst="rect">
            <a:avLst/>
          </a:prstGeom>
          <a:noFill/>
          <a:ln/>
        </p:spPr>
        <p:txBody>
          <a:bodyPr wrap="square" lIns="0" tIns="0" rIns="0" bIns="0" rtlCol="0" anchor="ctr"/>
          <a:lstStyle/>
          <a:p>
            <a:pPr indent="0" marL="0">
              <a:buNone/>
            </a:pPr>
            <a:r>
              <a:rPr lang="en-US" sz="1300" i="1" dirty="0">
                <a:solidFill>
                  <a:srgbClr val="0F172A"/>
                </a:solidFill>
                <a:latin typeface="Calibri" pitchFamily="34" charset="0"/>
                <a:ea typeface="Calibri" pitchFamily="34" charset="-122"/>
                <a:cs typeface="Calibri" pitchFamily="34" charset="-120"/>
              </a:rPr>
              <a:t>Typical timeline from kick-off to production: 4–6 weeks for Path A, 6–10 weeks for Path B, depending on the number of variables and protocol complexity.</a:t>
            </a:r>
            <a:endParaRPr lang="en-US" sz="1300" dirty="0"/>
          </a:p>
        </p:txBody>
      </p:sp>
      <p:sp>
        <p:nvSpPr>
          <p:cNvPr id="9" name="Shape 7"/>
          <p:cNvSpPr/>
          <p:nvPr/>
        </p:nvSpPr>
        <p:spPr>
          <a:xfrm>
            <a:off x="822960" y="4389120"/>
            <a:ext cx="10515600" cy="0"/>
          </a:xfrm>
          <a:prstGeom prst="line">
            <a:avLst/>
          </a:prstGeom>
          <a:noFill/>
          <a:ln w="50800">
            <a:solidFill>
              <a:srgbClr val="CBD5E1"/>
            </a:solidFill>
            <a:prstDash val="solid"/>
          </a:ln>
        </p:spPr>
      </p:sp>
      <p:sp>
        <p:nvSpPr>
          <p:cNvPr id="10" name="Shape 8"/>
          <p:cNvSpPr/>
          <p:nvPr/>
        </p:nvSpPr>
        <p:spPr>
          <a:xfrm>
            <a:off x="1600200" y="4069080"/>
            <a:ext cx="640080" cy="640080"/>
          </a:xfrm>
          <a:prstGeom prst="ellipse">
            <a:avLst/>
          </a:prstGeom>
          <a:solidFill>
            <a:srgbClr val="0E4F88"/>
          </a:solidFill>
          <a:ln w="38100">
            <a:solidFill>
              <a:srgbClr val="FFFFFF"/>
            </a:solidFill>
            <a:prstDash val="solid"/>
          </a:ln>
          <a:effectLst>
            <a:outerShdw sx="100000" sy="100000" kx="0" ky="0" algn="bl" rotWithShape="0" blurRad="152400" dist="38100" dir="5400000">
              <a:srgbClr val="0F172A">
                <a:alpha val="10000"/>
              </a:srgbClr>
            </a:outerShdw>
          </a:effectLst>
        </p:spPr>
      </p:sp>
      <p:sp>
        <p:nvSpPr>
          <p:cNvPr id="11" name="Text 9"/>
          <p:cNvSpPr/>
          <p:nvPr/>
        </p:nvSpPr>
        <p:spPr>
          <a:xfrm>
            <a:off x="1600200" y="4069080"/>
            <a:ext cx="64008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12" name="Shape 10"/>
          <p:cNvSpPr/>
          <p:nvPr/>
        </p:nvSpPr>
        <p:spPr>
          <a:xfrm>
            <a:off x="822960" y="2560320"/>
            <a:ext cx="2194560" cy="1371600"/>
          </a:xfrm>
          <a:prstGeom prst="rect">
            <a:avLst/>
          </a:prstGeom>
          <a:solidFill>
            <a:srgbClr val="FFFFFF"/>
          </a:solidFill>
          <a:ln w="12700">
            <a:solidFill>
              <a:srgbClr val="E2E8F0"/>
            </a:solidFill>
            <a:prstDash val="solid"/>
          </a:ln>
          <a:effectLst>
            <a:outerShdw sx="100000" sy="100000" kx="0" ky="0" algn="bl" rotWithShape="0" blurRad="152400" dist="38100" dir="5400000">
              <a:srgbClr val="0F172A">
                <a:alpha val="10000"/>
              </a:srgbClr>
            </a:outerShdw>
          </a:effectLst>
        </p:spPr>
      </p:sp>
      <p:sp>
        <p:nvSpPr>
          <p:cNvPr id="13" name="Shape 11"/>
          <p:cNvSpPr/>
          <p:nvPr/>
        </p:nvSpPr>
        <p:spPr>
          <a:xfrm>
            <a:off x="1920240" y="3931920"/>
            <a:ext cx="0" cy="137160"/>
          </a:xfrm>
          <a:prstGeom prst="line">
            <a:avLst/>
          </a:prstGeom>
          <a:noFill/>
          <a:ln w="12700">
            <a:solidFill>
              <a:srgbClr val="CBD5E1"/>
            </a:solidFill>
            <a:prstDash val="dash"/>
          </a:ln>
        </p:spPr>
      </p:sp>
      <p:sp>
        <p:nvSpPr>
          <p:cNvPr id="14" name="Text 12"/>
          <p:cNvSpPr/>
          <p:nvPr/>
        </p:nvSpPr>
        <p:spPr>
          <a:xfrm>
            <a:off x="960120" y="2670048"/>
            <a:ext cx="1920240" cy="256032"/>
          </a:xfrm>
          <a:prstGeom prst="rect">
            <a:avLst/>
          </a:prstGeom>
          <a:noFill/>
          <a:ln/>
        </p:spPr>
        <p:txBody>
          <a:bodyPr wrap="square" lIns="0" tIns="0" rIns="0" bIns="0" rtlCol="0" anchor="ctr"/>
          <a:lstStyle/>
          <a:p>
            <a:pPr indent="0" marL="0">
              <a:buNone/>
            </a:pPr>
            <a:r>
              <a:rPr lang="en-US" sz="1000" b="1" spc="200" kern="0" dirty="0">
                <a:solidFill>
                  <a:srgbClr val="0E7490"/>
                </a:solidFill>
                <a:latin typeface="Calibri" pitchFamily="34" charset="0"/>
                <a:ea typeface="Calibri" pitchFamily="34" charset="-122"/>
                <a:cs typeface="Calibri" pitchFamily="34" charset="-120"/>
              </a:rPr>
              <a:t>Week 1</a:t>
            </a:r>
            <a:endParaRPr lang="en-US" sz="1000" dirty="0"/>
          </a:p>
        </p:txBody>
      </p:sp>
      <p:sp>
        <p:nvSpPr>
          <p:cNvPr id="15" name="Text 13"/>
          <p:cNvSpPr/>
          <p:nvPr/>
        </p:nvSpPr>
        <p:spPr>
          <a:xfrm>
            <a:off x="960120" y="2926080"/>
            <a:ext cx="1920240" cy="411480"/>
          </a:xfrm>
          <a:prstGeom prst="rect">
            <a:avLst/>
          </a:prstGeom>
          <a:noFill/>
          <a:ln/>
        </p:spPr>
        <p:txBody>
          <a:bodyPr wrap="square" lIns="0" tIns="0" rIns="0" bIns="0" rtlCol="0" anchor="ctr"/>
          <a:lstStyle/>
          <a:p>
            <a:pPr indent="0" marL="0">
              <a:buNone/>
            </a:pPr>
            <a:r>
              <a:rPr lang="en-US" sz="1800" b="1" dirty="0">
                <a:solidFill>
                  <a:srgbClr val="0F172A"/>
                </a:solidFill>
                <a:latin typeface="Cambria" pitchFamily="34" charset="0"/>
                <a:ea typeface="Cambria" pitchFamily="34" charset="-122"/>
                <a:cs typeface="Cambria" pitchFamily="34" charset="-120"/>
              </a:rPr>
              <a:t>Discovery</a:t>
            </a:r>
            <a:endParaRPr lang="en-US" sz="1800" dirty="0"/>
          </a:p>
        </p:txBody>
      </p:sp>
      <p:sp>
        <p:nvSpPr>
          <p:cNvPr id="16" name="Text 14"/>
          <p:cNvSpPr/>
          <p:nvPr/>
        </p:nvSpPr>
        <p:spPr>
          <a:xfrm>
            <a:off x="960120" y="3337560"/>
            <a:ext cx="1920240" cy="64008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Workshop: list devices, signals, ranges. Pick Path A or B.</a:t>
            </a:r>
            <a:endParaRPr lang="en-US" sz="1100" dirty="0"/>
          </a:p>
        </p:txBody>
      </p:sp>
      <p:sp>
        <p:nvSpPr>
          <p:cNvPr id="17" name="Shape 15"/>
          <p:cNvSpPr/>
          <p:nvPr/>
        </p:nvSpPr>
        <p:spPr>
          <a:xfrm>
            <a:off x="3680460" y="4069080"/>
            <a:ext cx="640080" cy="640080"/>
          </a:xfrm>
          <a:prstGeom prst="ellipse">
            <a:avLst/>
          </a:prstGeom>
          <a:solidFill>
            <a:srgbClr val="0E4F88"/>
          </a:solidFill>
          <a:ln w="38100">
            <a:solidFill>
              <a:srgbClr val="FFFFFF"/>
            </a:solidFill>
            <a:prstDash val="solid"/>
          </a:ln>
          <a:effectLst>
            <a:outerShdw sx="100000" sy="100000" kx="0" ky="0" algn="bl" rotWithShape="0" blurRad="152400" dist="38100" dir="5400000">
              <a:srgbClr val="0F172A">
                <a:alpha val="10000"/>
              </a:srgbClr>
            </a:outerShdw>
          </a:effectLst>
        </p:spPr>
      </p:sp>
      <p:sp>
        <p:nvSpPr>
          <p:cNvPr id="18" name="Text 16"/>
          <p:cNvSpPr/>
          <p:nvPr/>
        </p:nvSpPr>
        <p:spPr>
          <a:xfrm>
            <a:off x="3680460" y="4069080"/>
            <a:ext cx="64008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9" name="Shape 17"/>
          <p:cNvSpPr/>
          <p:nvPr/>
        </p:nvSpPr>
        <p:spPr>
          <a:xfrm>
            <a:off x="2903220" y="4846320"/>
            <a:ext cx="2194560" cy="1371600"/>
          </a:xfrm>
          <a:prstGeom prst="rect">
            <a:avLst/>
          </a:prstGeom>
          <a:solidFill>
            <a:srgbClr val="FFFFFF"/>
          </a:solidFill>
          <a:ln w="12700">
            <a:solidFill>
              <a:srgbClr val="E2E8F0"/>
            </a:solidFill>
            <a:prstDash val="solid"/>
          </a:ln>
          <a:effectLst>
            <a:outerShdw sx="100000" sy="100000" kx="0" ky="0" algn="bl" rotWithShape="0" blurRad="152400" dist="38100" dir="5400000">
              <a:srgbClr val="0F172A">
                <a:alpha val="10000"/>
              </a:srgbClr>
            </a:outerShdw>
          </a:effectLst>
        </p:spPr>
      </p:sp>
      <p:sp>
        <p:nvSpPr>
          <p:cNvPr id="20" name="Shape 18"/>
          <p:cNvSpPr/>
          <p:nvPr/>
        </p:nvSpPr>
        <p:spPr>
          <a:xfrm>
            <a:off x="4000500" y="4709160"/>
            <a:ext cx="0" cy="137160"/>
          </a:xfrm>
          <a:prstGeom prst="line">
            <a:avLst/>
          </a:prstGeom>
          <a:noFill/>
          <a:ln w="12700">
            <a:solidFill>
              <a:srgbClr val="CBD5E1"/>
            </a:solidFill>
            <a:prstDash val="dash"/>
          </a:ln>
        </p:spPr>
      </p:sp>
      <p:sp>
        <p:nvSpPr>
          <p:cNvPr id="21" name="Text 19"/>
          <p:cNvSpPr/>
          <p:nvPr/>
        </p:nvSpPr>
        <p:spPr>
          <a:xfrm>
            <a:off x="3040380" y="4956048"/>
            <a:ext cx="1920240" cy="256032"/>
          </a:xfrm>
          <a:prstGeom prst="rect">
            <a:avLst/>
          </a:prstGeom>
          <a:noFill/>
          <a:ln/>
        </p:spPr>
        <p:txBody>
          <a:bodyPr wrap="square" lIns="0" tIns="0" rIns="0" bIns="0" rtlCol="0" anchor="ctr"/>
          <a:lstStyle/>
          <a:p>
            <a:pPr indent="0" marL="0">
              <a:buNone/>
            </a:pPr>
            <a:r>
              <a:rPr lang="en-US" sz="1000" b="1" spc="200" kern="0" dirty="0">
                <a:solidFill>
                  <a:srgbClr val="0E7490"/>
                </a:solidFill>
                <a:latin typeface="Calibri" pitchFamily="34" charset="0"/>
                <a:ea typeface="Calibri" pitchFamily="34" charset="-122"/>
                <a:cs typeface="Calibri" pitchFamily="34" charset="-120"/>
              </a:rPr>
              <a:t>Week 2</a:t>
            </a:r>
            <a:endParaRPr lang="en-US" sz="1000" dirty="0"/>
          </a:p>
        </p:txBody>
      </p:sp>
      <p:sp>
        <p:nvSpPr>
          <p:cNvPr id="22" name="Text 20"/>
          <p:cNvSpPr/>
          <p:nvPr/>
        </p:nvSpPr>
        <p:spPr>
          <a:xfrm>
            <a:off x="3040380" y="5212080"/>
            <a:ext cx="1920240" cy="411480"/>
          </a:xfrm>
          <a:prstGeom prst="rect">
            <a:avLst/>
          </a:prstGeom>
          <a:noFill/>
          <a:ln/>
        </p:spPr>
        <p:txBody>
          <a:bodyPr wrap="square" lIns="0" tIns="0" rIns="0" bIns="0" rtlCol="0" anchor="ctr"/>
          <a:lstStyle/>
          <a:p>
            <a:pPr indent="0" marL="0">
              <a:buNone/>
            </a:pPr>
            <a:r>
              <a:rPr lang="en-US" sz="1800" b="1" dirty="0">
                <a:solidFill>
                  <a:srgbClr val="0F172A"/>
                </a:solidFill>
                <a:latin typeface="Cambria" pitchFamily="34" charset="0"/>
                <a:ea typeface="Cambria" pitchFamily="34" charset="-122"/>
                <a:cs typeface="Cambria" pitchFamily="34" charset="-120"/>
              </a:rPr>
              <a:t>Spec</a:t>
            </a:r>
            <a:endParaRPr lang="en-US" sz="1800" dirty="0"/>
          </a:p>
        </p:txBody>
      </p:sp>
      <p:sp>
        <p:nvSpPr>
          <p:cNvPr id="23" name="Text 21"/>
          <p:cNvSpPr/>
          <p:nvPr/>
        </p:nvSpPr>
        <p:spPr>
          <a:xfrm>
            <a:off x="3040380" y="5623560"/>
            <a:ext cx="1920240" cy="64008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Co-author variables.yaml + topic map. Sign off the contract.</a:t>
            </a:r>
            <a:endParaRPr lang="en-US" sz="1100" dirty="0"/>
          </a:p>
        </p:txBody>
      </p:sp>
      <p:sp>
        <p:nvSpPr>
          <p:cNvPr id="24" name="Shape 22"/>
          <p:cNvSpPr/>
          <p:nvPr/>
        </p:nvSpPr>
        <p:spPr>
          <a:xfrm>
            <a:off x="5760720" y="4069080"/>
            <a:ext cx="640080" cy="640080"/>
          </a:xfrm>
          <a:prstGeom prst="ellipse">
            <a:avLst/>
          </a:prstGeom>
          <a:solidFill>
            <a:srgbClr val="0E4F88"/>
          </a:solidFill>
          <a:ln w="38100">
            <a:solidFill>
              <a:srgbClr val="FFFFFF"/>
            </a:solidFill>
            <a:prstDash val="solid"/>
          </a:ln>
          <a:effectLst>
            <a:outerShdw sx="100000" sy="100000" kx="0" ky="0" algn="bl" rotWithShape="0" blurRad="152400" dist="38100" dir="5400000">
              <a:srgbClr val="0F172A">
                <a:alpha val="10000"/>
              </a:srgbClr>
            </a:outerShdw>
          </a:effectLst>
        </p:spPr>
      </p:sp>
      <p:sp>
        <p:nvSpPr>
          <p:cNvPr id="25" name="Text 23"/>
          <p:cNvSpPr/>
          <p:nvPr/>
        </p:nvSpPr>
        <p:spPr>
          <a:xfrm>
            <a:off x="5760720" y="4069080"/>
            <a:ext cx="64008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26" name="Shape 24"/>
          <p:cNvSpPr/>
          <p:nvPr/>
        </p:nvSpPr>
        <p:spPr>
          <a:xfrm>
            <a:off x="4983480" y="2560320"/>
            <a:ext cx="2194560" cy="1371600"/>
          </a:xfrm>
          <a:prstGeom prst="rect">
            <a:avLst/>
          </a:prstGeom>
          <a:solidFill>
            <a:srgbClr val="FFFFFF"/>
          </a:solidFill>
          <a:ln w="12700">
            <a:solidFill>
              <a:srgbClr val="E2E8F0"/>
            </a:solidFill>
            <a:prstDash val="solid"/>
          </a:ln>
          <a:effectLst>
            <a:outerShdw sx="100000" sy="100000" kx="0" ky="0" algn="bl" rotWithShape="0" blurRad="152400" dist="38100" dir="5400000">
              <a:srgbClr val="0F172A">
                <a:alpha val="10000"/>
              </a:srgbClr>
            </a:outerShdw>
          </a:effectLst>
        </p:spPr>
      </p:sp>
      <p:sp>
        <p:nvSpPr>
          <p:cNvPr id="27" name="Shape 25"/>
          <p:cNvSpPr/>
          <p:nvPr/>
        </p:nvSpPr>
        <p:spPr>
          <a:xfrm>
            <a:off x="6080760" y="3931920"/>
            <a:ext cx="0" cy="137160"/>
          </a:xfrm>
          <a:prstGeom prst="line">
            <a:avLst/>
          </a:prstGeom>
          <a:noFill/>
          <a:ln w="12700">
            <a:solidFill>
              <a:srgbClr val="CBD5E1"/>
            </a:solidFill>
            <a:prstDash val="dash"/>
          </a:ln>
        </p:spPr>
      </p:sp>
      <p:sp>
        <p:nvSpPr>
          <p:cNvPr id="28" name="Text 26"/>
          <p:cNvSpPr/>
          <p:nvPr/>
        </p:nvSpPr>
        <p:spPr>
          <a:xfrm>
            <a:off x="5120640" y="2670048"/>
            <a:ext cx="1920240" cy="256032"/>
          </a:xfrm>
          <a:prstGeom prst="rect">
            <a:avLst/>
          </a:prstGeom>
          <a:noFill/>
          <a:ln/>
        </p:spPr>
        <p:txBody>
          <a:bodyPr wrap="square" lIns="0" tIns="0" rIns="0" bIns="0" rtlCol="0" anchor="ctr"/>
          <a:lstStyle/>
          <a:p>
            <a:pPr indent="0" marL="0">
              <a:buNone/>
            </a:pPr>
            <a:r>
              <a:rPr lang="en-US" sz="1000" b="1" spc="200" kern="0" dirty="0">
                <a:solidFill>
                  <a:srgbClr val="0E7490"/>
                </a:solidFill>
                <a:latin typeface="Calibri" pitchFamily="34" charset="0"/>
                <a:ea typeface="Calibri" pitchFamily="34" charset="-122"/>
                <a:cs typeface="Calibri" pitchFamily="34" charset="-120"/>
              </a:rPr>
              <a:t>Week 3-4</a:t>
            </a:r>
            <a:endParaRPr lang="en-US" sz="1000" dirty="0"/>
          </a:p>
        </p:txBody>
      </p:sp>
      <p:sp>
        <p:nvSpPr>
          <p:cNvPr id="29" name="Text 27"/>
          <p:cNvSpPr/>
          <p:nvPr/>
        </p:nvSpPr>
        <p:spPr>
          <a:xfrm>
            <a:off x="5120640" y="2926080"/>
            <a:ext cx="1920240" cy="411480"/>
          </a:xfrm>
          <a:prstGeom prst="rect">
            <a:avLst/>
          </a:prstGeom>
          <a:noFill/>
          <a:ln/>
        </p:spPr>
        <p:txBody>
          <a:bodyPr wrap="square" lIns="0" tIns="0" rIns="0" bIns="0" rtlCol="0" anchor="ctr"/>
          <a:lstStyle/>
          <a:p>
            <a:pPr indent="0" marL="0">
              <a:buNone/>
            </a:pPr>
            <a:r>
              <a:rPr lang="en-US" sz="1800" b="1" dirty="0">
                <a:solidFill>
                  <a:srgbClr val="0F172A"/>
                </a:solidFill>
                <a:latin typeface="Cambria" pitchFamily="34" charset="0"/>
                <a:ea typeface="Cambria" pitchFamily="34" charset="-122"/>
                <a:cs typeface="Cambria" pitchFamily="34" charset="-120"/>
              </a:rPr>
              <a:t>Sandbox</a:t>
            </a:r>
            <a:endParaRPr lang="en-US" sz="1800" dirty="0"/>
          </a:p>
        </p:txBody>
      </p:sp>
      <p:sp>
        <p:nvSpPr>
          <p:cNvPr id="30" name="Text 28"/>
          <p:cNvSpPr/>
          <p:nvPr/>
        </p:nvSpPr>
        <p:spPr>
          <a:xfrm>
            <a:off x="5120640" y="3337560"/>
            <a:ext cx="1920240" cy="64008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Deploy on staging tenant. You publish, we observe.</a:t>
            </a:r>
            <a:endParaRPr lang="en-US" sz="1100" dirty="0"/>
          </a:p>
        </p:txBody>
      </p:sp>
      <p:sp>
        <p:nvSpPr>
          <p:cNvPr id="31" name="Shape 29"/>
          <p:cNvSpPr/>
          <p:nvPr/>
        </p:nvSpPr>
        <p:spPr>
          <a:xfrm>
            <a:off x="7840980" y="4069080"/>
            <a:ext cx="640080" cy="640080"/>
          </a:xfrm>
          <a:prstGeom prst="ellipse">
            <a:avLst/>
          </a:prstGeom>
          <a:solidFill>
            <a:srgbClr val="0E4F88"/>
          </a:solidFill>
          <a:ln w="38100">
            <a:solidFill>
              <a:srgbClr val="FFFFFF"/>
            </a:solidFill>
            <a:prstDash val="solid"/>
          </a:ln>
          <a:effectLst>
            <a:outerShdw sx="100000" sy="100000" kx="0" ky="0" algn="bl" rotWithShape="0" blurRad="152400" dist="38100" dir="5400000">
              <a:srgbClr val="0F172A">
                <a:alpha val="10000"/>
              </a:srgbClr>
            </a:outerShdw>
          </a:effectLst>
        </p:spPr>
      </p:sp>
      <p:sp>
        <p:nvSpPr>
          <p:cNvPr id="32" name="Text 30"/>
          <p:cNvSpPr/>
          <p:nvPr/>
        </p:nvSpPr>
        <p:spPr>
          <a:xfrm>
            <a:off x="7840980" y="4069080"/>
            <a:ext cx="64008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33" name="Shape 31"/>
          <p:cNvSpPr/>
          <p:nvPr/>
        </p:nvSpPr>
        <p:spPr>
          <a:xfrm>
            <a:off x="7063740" y="4846320"/>
            <a:ext cx="2194560" cy="1371600"/>
          </a:xfrm>
          <a:prstGeom prst="rect">
            <a:avLst/>
          </a:prstGeom>
          <a:solidFill>
            <a:srgbClr val="FFFFFF"/>
          </a:solidFill>
          <a:ln w="12700">
            <a:solidFill>
              <a:srgbClr val="E2E8F0"/>
            </a:solidFill>
            <a:prstDash val="solid"/>
          </a:ln>
          <a:effectLst>
            <a:outerShdw sx="100000" sy="100000" kx="0" ky="0" algn="bl" rotWithShape="0" blurRad="152400" dist="38100" dir="5400000">
              <a:srgbClr val="0F172A">
                <a:alpha val="10000"/>
              </a:srgbClr>
            </a:outerShdw>
          </a:effectLst>
        </p:spPr>
      </p:sp>
      <p:sp>
        <p:nvSpPr>
          <p:cNvPr id="34" name="Shape 32"/>
          <p:cNvSpPr/>
          <p:nvPr/>
        </p:nvSpPr>
        <p:spPr>
          <a:xfrm>
            <a:off x="8161020" y="4709160"/>
            <a:ext cx="0" cy="137160"/>
          </a:xfrm>
          <a:prstGeom prst="line">
            <a:avLst/>
          </a:prstGeom>
          <a:noFill/>
          <a:ln w="12700">
            <a:solidFill>
              <a:srgbClr val="CBD5E1"/>
            </a:solidFill>
            <a:prstDash val="dash"/>
          </a:ln>
        </p:spPr>
      </p:sp>
      <p:sp>
        <p:nvSpPr>
          <p:cNvPr id="35" name="Text 33"/>
          <p:cNvSpPr/>
          <p:nvPr/>
        </p:nvSpPr>
        <p:spPr>
          <a:xfrm>
            <a:off x="7200900" y="4956048"/>
            <a:ext cx="1920240" cy="256032"/>
          </a:xfrm>
          <a:prstGeom prst="rect">
            <a:avLst/>
          </a:prstGeom>
          <a:noFill/>
          <a:ln/>
        </p:spPr>
        <p:txBody>
          <a:bodyPr wrap="square" lIns="0" tIns="0" rIns="0" bIns="0" rtlCol="0" anchor="ctr"/>
          <a:lstStyle/>
          <a:p>
            <a:pPr indent="0" marL="0">
              <a:buNone/>
            </a:pPr>
            <a:r>
              <a:rPr lang="en-US" sz="1000" b="1" spc="200" kern="0" dirty="0">
                <a:solidFill>
                  <a:srgbClr val="0E7490"/>
                </a:solidFill>
                <a:latin typeface="Calibri" pitchFamily="34" charset="0"/>
                <a:ea typeface="Calibri" pitchFamily="34" charset="-122"/>
                <a:cs typeface="Calibri" pitchFamily="34" charset="-120"/>
              </a:rPr>
              <a:t>Week 5</a:t>
            </a:r>
            <a:endParaRPr lang="en-US" sz="1000" dirty="0"/>
          </a:p>
        </p:txBody>
      </p:sp>
      <p:sp>
        <p:nvSpPr>
          <p:cNvPr id="36" name="Text 34"/>
          <p:cNvSpPr/>
          <p:nvPr/>
        </p:nvSpPr>
        <p:spPr>
          <a:xfrm>
            <a:off x="7200900" y="5212080"/>
            <a:ext cx="1920240" cy="411480"/>
          </a:xfrm>
          <a:prstGeom prst="rect">
            <a:avLst/>
          </a:prstGeom>
          <a:noFill/>
          <a:ln/>
        </p:spPr>
        <p:txBody>
          <a:bodyPr wrap="square" lIns="0" tIns="0" rIns="0" bIns="0" rtlCol="0" anchor="ctr"/>
          <a:lstStyle/>
          <a:p>
            <a:pPr indent="0" marL="0">
              <a:buNone/>
            </a:pPr>
            <a:r>
              <a:rPr lang="en-US" sz="1800" b="1" dirty="0">
                <a:solidFill>
                  <a:srgbClr val="0F172A"/>
                </a:solidFill>
                <a:latin typeface="Cambria" pitchFamily="34" charset="0"/>
                <a:ea typeface="Cambria" pitchFamily="34" charset="-122"/>
                <a:cs typeface="Cambria" pitchFamily="34" charset="-120"/>
              </a:rPr>
              <a:t>UAT</a:t>
            </a:r>
            <a:endParaRPr lang="en-US" sz="1800" dirty="0"/>
          </a:p>
        </p:txBody>
      </p:sp>
      <p:sp>
        <p:nvSpPr>
          <p:cNvPr id="37" name="Text 35"/>
          <p:cNvSpPr/>
          <p:nvPr/>
        </p:nvSpPr>
        <p:spPr>
          <a:xfrm>
            <a:off x="7200900" y="5623560"/>
            <a:ext cx="1920240" cy="64008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Joint validation, dashboard review, alarm rules tuning.</a:t>
            </a:r>
            <a:endParaRPr lang="en-US" sz="1100" dirty="0"/>
          </a:p>
        </p:txBody>
      </p:sp>
      <p:sp>
        <p:nvSpPr>
          <p:cNvPr id="38" name="Shape 36"/>
          <p:cNvSpPr/>
          <p:nvPr/>
        </p:nvSpPr>
        <p:spPr>
          <a:xfrm>
            <a:off x="9921240" y="4069080"/>
            <a:ext cx="640080" cy="640080"/>
          </a:xfrm>
          <a:prstGeom prst="ellipse">
            <a:avLst/>
          </a:prstGeom>
          <a:solidFill>
            <a:srgbClr val="0E4F88"/>
          </a:solidFill>
          <a:ln w="38100">
            <a:solidFill>
              <a:srgbClr val="FFFFFF"/>
            </a:solidFill>
            <a:prstDash val="solid"/>
          </a:ln>
          <a:effectLst>
            <a:outerShdw sx="100000" sy="100000" kx="0" ky="0" algn="bl" rotWithShape="0" blurRad="152400" dist="38100" dir="5400000">
              <a:srgbClr val="0F172A">
                <a:alpha val="10000"/>
              </a:srgbClr>
            </a:outerShdw>
          </a:effectLst>
        </p:spPr>
      </p:sp>
      <p:sp>
        <p:nvSpPr>
          <p:cNvPr id="39" name="Text 37"/>
          <p:cNvSpPr/>
          <p:nvPr/>
        </p:nvSpPr>
        <p:spPr>
          <a:xfrm>
            <a:off x="9921240" y="4069080"/>
            <a:ext cx="64008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40" name="Shape 38"/>
          <p:cNvSpPr/>
          <p:nvPr/>
        </p:nvSpPr>
        <p:spPr>
          <a:xfrm>
            <a:off x="9144000" y="2560320"/>
            <a:ext cx="2194560" cy="1371600"/>
          </a:xfrm>
          <a:prstGeom prst="rect">
            <a:avLst/>
          </a:prstGeom>
          <a:solidFill>
            <a:srgbClr val="FFFFFF"/>
          </a:solidFill>
          <a:ln w="12700">
            <a:solidFill>
              <a:srgbClr val="E2E8F0"/>
            </a:solidFill>
            <a:prstDash val="solid"/>
          </a:ln>
          <a:effectLst>
            <a:outerShdw sx="100000" sy="100000" kx="0" ky="0" algn="bl" rotWithShape="0" blurRad="152400" dist="38100" dir="5400000">
              <a:srgbClr val="0F172A">
                <a:alpha val="10000"/>
              </a:srgbClr>
            </a:outerShdw>
          </a:effectLst>
        </p:spPr>
      </p:sp>
      <p:sp>
        <p:nvSpPr>
          <p:cNvPr id="41" name="Shape 39"/>
          <p:cNvSpPr/>
          <p:nvPr/>
        </p:nvSpPr>
        <p:spPr>
          <a:xfrm>
            <a:off x="10241280" y="3931920"/>
            <a:ext cx="0" cy="137160"/>
          </a:xfrm>
          <a:prstGeom prst="line">
            <a:avLst/>
          </a:prstGeom>
          <a:noFill/>
          <a:ln w="12700">
            <a:solidFill>
              <a:srgbClr val="CBD5E1"/>
            </a:solidFill>
            <a:prstDash val="dash"/>
          </a:ln>
        </p:spPr>
      </p:sp>
      <p:sp>
        <p:nvSpPr>
          <p:cNvPr id="42" name="Text 40"/>
          <p:cNvSpPr/>
          <p:nvPr/>
        </p:nvSpPr>
        <p:spPr>
          <a:xfrm>
            <a:off x="9281160" y="2670048"/>
            <a:ext cx="1920240" cy="256032"/>
          </a:xfrm>
          <a:prstGeom prst="rect">
            <a:avLst/>
          </a:prstGeom>
          <a:noFill/>
          <a:ln/>
        </p:spPr>
        <p:txBody>
          <a:bodyPr wrap="square" lIns="0" tIns="0" rIns="0" bIns="0" rtlCol="0" anchor="ctr"/>
          <a:lstStyle/>
          <a:p>
            <a:pPr indent="0" marL="0">
              <a:buNone/>
            </a:pPr>
            <a:r>
              <a:rPr lang="en-US" sz="1000" b="1" spc="200" kern="0" dirty="0">
                <a:solidFill>
                  <a:srgbClr val="0E7490"/>
                </a:solidFill>
                <a:latin typeface="Calibri" pitchFamily="34" charset="0"/>
                <a:ea typeface="Calibri" pitchFamily="34" charset="-122"/>
                <a:cs typeface="Calibri" pitchFamily="34" charset="-120"/>
              </a:rPr>
              <a:t>Week 6+</a:t>
            </a:r>
            <a:endParaRPr lang="en-US" sz="1000" dirty="0"/>
          </a:p>
        </p:txBody>
      </p:sp>
      <p:sp>
        <p:nvSpPr>
          <p:cNvPr id="43" name="Text 41"/>
          <p:cNvSpPr/>
          <p:nvPr/>
        </p:nvSpPr>
        <p:spPr>
          <a:xfrm>
            <a:off x="9281160" y="2926080"/>
            <a:ext cx="1920240" cy="411480"/>
          </a:xfrm>
          <a:prstGeom prst="rect">
            <a:avLst/>
          </a:prstGeom>
          <a:noFill/>
          <a:ln/>
        </p:spPr>
        <p:txBody>
          <a:bodyPr wrap="square" lIns="0" tIns="0" rIns="0" bIns="0" rtlCol="0" anchor="ctr"/>
          <a:lstStyle/>
          <a:p>
            <a:pPr indent="0" marL="0">
              <a:buNone/>
            </a:pPr>
            <a:r>
              <a:rPr lang="en-US" sz="1800" b="1" dirty="0">
                <a:solidFill>
                  <a:srgbClr val="0F172A"/>
                </a:solidFill>
                <a:latin typeface="Cambria" pitchFamily="34" charset="0"/>
                <a:ea typeface="Cambria" pitchFamily="34" charset="-122"/>
                <a:cs typeface="Cambria" pitchFamily="34" charset="-120"/>
              </a:rPr>
              <a:t>Production</a:t>
            </a:r>
            <a:endParaRPr lang="en-US" sz="1800" dirty="0"/>
          </a:p>
        </p:txBody>
      </p:sp>
      <p:sp>
        <p:nvSpPr>
          <p:cNvPr id="44" name="Text 42"/>
          <p:cNvSpPr/>
          <p:nvPr/>
        </p:nvSpPr>
        <p:spPr>
          <a:xfrm>
            <a:off x="9281160" y="3337560"/>
            <a:ext cx="1920240" cy="64008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Roll out to customer site under change control.</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lIns="0" tIns="0" rIns="0" bIns="0" rtlCol="0" anchor="ctr"/>
          <a:lstStyle/>
          <a:p>
            <a:pPr indent="0" marL="0">
              <a:buNone/>
            </a:pPr>
            <a:r>
              <a:rPr lang="en-US" sz="1100" b="1" spc="400" kern="0" dirty="0">
                <a:solidFill>
                  <a:srgbClr val="22D3EE"/>
                </a:solidFill>
                <a:latin typeface="Calibri" pitchFamily="34" charset="0"/>
                <a:ea typeface="Calibri" pitchFamily="34" charset="-122"/>
                <a:cs typeface="Calibri" pitchFamily="34" charset="-120"/>
              </a:rPr>
              <a:t>12 · WHAT WE NEED FROM YOU</a:t>
            </a:r>
            <a:endParaRPr lang="en-US" sz="1100" dirty="0"/>
          </a:p>
        </p:txBody>
      </p:sp>
      <p:sp>
        <p:nvSpPr>
          <p:cNvPr id="3" name="Text 1"/>
          <p:cNvSpPr/>
          <p:nvPr/>
        </p:nvSpPr>
        <p:spPr>
          <a:xfrm>
            <a:off x="548640" y="548640"/>
            <a:ext cx="10058400" cy="640080"/>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Partner deliverables</a:t>
            </a:r>
            <a:endParaRPr lang="en-US" sz="3000" dirty="0"/>
          </a:p>
        </p:txBody>
      </p:sp>
      <p:sp>
        <p:nvSpPr>
          <p:cNvPr id="4" name="Text 2"/>
          <p:cNvSpPr/>
          <p:nvPr/>
        </p:nvSpPr>
        <p:spPr>
          <a:xfrm>
            <a:off x="11094415"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13 / 14</a:t>
            </a:r>
            <a:endParaRPr lang="en-US" sz="900" dirty="0"/>
          </a:p>
        </p:txBody>
      </p:sp>
      <p:sp>
        <p:nvSpPr>
          <p:cNvPr id="5" name="Text 3"/>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CAPTIA Technology · Partner Integration Guide</a:t>
            </a:r>
            <a:endParaRPr lang="en-US" sz="900" dirty="0"/>
          </a:p>
        </p:txBody>
      </p:sp>
      <p:sp>
        <p:nvSpPr>
          <p:cNvPr id="6" name="Shape 4"/>
          <p:cNvSpPr/>
          <p:nvPr/>
        </p:nvSpPr>
        <p:spPr>
          <a:xfrm>
            <a:off x="11688775" y="320040"/>
            <a:ext cx="164592" cy="164592"/>
          </a:xfrm>
          <a:prstGeom prst="rect">
            <a:avLst/>
          </a:prstGeom>
          <a:solidFill>
            <a:srgbClr val="22D3EE"/>
          </a:solidFill>
          <a:ln w="12700">
            <a:solidFill>
              <a:srgbClr val="22D3EE"/>
            </a:solidFill>
            <a:prstDash val="solid"/>
          </a:ln>
        </p:spPr>
      </p:sp>
      <p:sp>
        <p:nvSpPr>
          <p:cNvPr id="7" name="Shape 5"/>
          <p:cNvSpPr/>
          <p:nvPr/>
        </p:nvSpPr>
        <p:spPr>
          <a:xfrm>
            <a:off x="11917375" y="320040"/>
            <a:ext cx="164592" cy="164592"/>
          </a:xfrm>
          <a:prstGeom prst="rect">
            <a:avLst/>
          </a:prstGeom>
          <a:solidFill>
            <a:srgbClr val="D97706"/>
          </a:solidFill>
          <a:ln w="12700">
            <a:solidFill>
              <a:srgbClr val="D97706"/>
            </a:solidFill>
            <a:prstDash val="solid"/>
          </a:ln>
        </p:spPr>
      </p:sp>
      <p:sp>
        <p:nvSpPr>
          <p:cNvPr id="8" name="Text 6"/>
          <p:cNvSpPr/>
          <p:nvPr/>
        </p:nvSpPr>
        <p:spPr>
          <a:xfrm>
            <a:off x="548640" y="1417320"/>
            <a:ext cx="10972800" cy="640080"/>
          </a:xfrm>
          <a:prstGeom prst="rect">
            <a:avLst/>
          </a:prstGeom>
          <a:noFill/>
          <a:ln/>
        </p:spPr>
        <p:txBody>
          <a:bodyPr wrap="square" lIns="0" tIns="0" rIns="0" bIns="0" rtlCol="0" anchor="ctr"/>
          <a:lstStyle/>
          <a:p>
            <a:pPr indent="0" marL="0">
              <a:buNone/>
            </a:pPr>
            <a:r>
              <a:rPr lang="en-US" sz="1300" i="1" dirty="0">
                <a:solidFill>
                  <a:srgbClr val="0F172A"/>
                </a:solidFill>
                <a:latin typeface="Calibri" pitchFamily="34" charset="0"/>
                <a:ea typeface="Calibri" pitchFamily="34" charset="-122"/>
                <a:cs typeface="Calibri" pitchFamily="34" charset="-120"/>
              </a:rPr>
              <a:t>To kick off the discovery workshop in week 1 we ask for the following inputs. Anything missing pushes the timeline.</a:t>
            </a:r>
            <a:endParaRPr lang="en-US" sz="1300" dirty="0"/>
          </a:p>
        </p:txBody>
      </p:sp>
      <p:sp>
        <p:nvSpPr>
          <p:cNvPr id="9" name="Shape 7"/>
          <p:cNvSpPr/>
          <p:nvPr/>
        </p:nvSpPr>
        <p:spPr>
          <a:xfrm>
            <a:off x="548640" y="2286000"/>
            <a:ext cx="5532120" cy="777240"/>
          </a:xfrm>
          <a:prstGeom prst="rect">
            <a:avLst/>
          </a:prstGeom>
          <a:solidFill>
            <a:srgbClr val="FFFFFF"/>
          </a:solidFill>
          <a:ln w="12700">
            <a:solidFill>
              <a:srgbClr val="E2E8F0"/>
            </a:solidFill>
            <a:prstDash val="solid"/>
          </a:ln>
          <a:effectLst>
            <a:outerShdw sx="100000" sy="100000" kx="0" ky="0" algn="bl" rotWithShape="0" blurRad="152400" dist="38100" dir="5400000">
              <a:srgbClr val="0F172A">
                <a:alpha val="10000"/>
              </a:srgbClr>
            </a:outerShdw>
          </a:effectLst>
        </p:spPr>
      </p:sp>
      <p:sp>
        <p:nvSpPr>
          <p:cNvPr id="10" name="Shape 8"/>
          <p:cNvSpPr/>
          <p:nvPr/>
        </p:nvSpPr>
        <p:spPr>
          <a:xfrm>
            <a:off x="548640" y="2286000"/>
            <a:ext cx="73152" cy="777240"/>
          </a:xfrm>
          <a:prstGeom prst="rect">
            <a:avLst/>
          </a:prstGeom>
          <a:solidFill>
            <a:srgbClr val="0D9488"/>
          </a:solidFill>
          <a:ln w="12700">
            <a:solidFill>
              <a:srgbClr val="0D9488"/>
            </a:solidFill>
            <a:prstDash val="solid"/>
          </a:ln>
        </p:spPr>
      </p:sp>
      <p:pic>
        <p:nvPicPr>
          <p:cNvPr id="11" name="Image 0" descr="preencoded.png">    </p:cNvPr>
          <p:cNvPicPr>
            <a:picLocks noChangeAspect="1"/>
          </p:cNvPicPr>
          <p:nvPr/>
        </p:nvPicPr>
        <p:blipFill>
          <a:blip r:embed="rId1"/>
          <a:stretch>
            <a:fillRect/>
          </a:stretch>
        </p:blipFill>
        <p:spPr>
          <a:xfrm>
            <a:off x="777240" y="2423160"/>
            <a:ext cx="274320" cy="274320"/>
          </a:xfrm>
          <a:prstGeom prst="rect">
            <a:avLst/>
          </a:prstGeom>
        </p:spPr>
      </p:pic>
      <p:sp>
        <p:nvSpPr>
          <p:cNvPr id="12" name="Text 9"/>
          <p:cNvSpPr/>
          <p:nvPr/>
        </p:nvSpPr>
        <p:spPr>
          <a:xfrm>
            <a:off x="1188720" y="2377440"/>
            <a:ext cx="4754880" cy="292608"/>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Device inventory</a:t>
            </a:r>
            <a:endParaRPr lang="en-US" sz="1300" dirty="0"/>
          </a:p>
        </p:txBody>
      </p:sp>
      <p:sp>
        <p:nvSpPr>
          <p:cNvPr id="13" name="Text 10"/>
          <p:cNvSpPr/>
          <p:nvPr/>
        </p:nvSpPr>
        <p:spPr>
          <a:xfrm>
            <a:off x="1188720" y="2670048"/>
            <a:ext cx="4754880" cy="36576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List of every device model, firmware version, serial-number scheme.</a:t>
            </a:r>
            <a:endParaRPr lang="en-US" sz="1050" dirty="0"/>
          </a:p>
        </p:txBody>
      </p:sp>
      <p:sp>
        <p:nvSpPr>
          <p:cNvPr id="14" name="Shape 11"/>
          <p:cNvSpPr/>
          <p:nvPr/>
        </p:nvSpPr>
        <p:spPr>
          <a:xfrm>
            <a:off x="548640" y="3200400"/>
            <a:ext cx="5532120" cy="777240"/>
          </a:xfrm>
          <a:prstGeom prst="rect">
            <a:avLst/>
          </a:prstGeom>
          <a:solidFill>
            <a:srgbClr val="FFFFFF"/>
          </a:solidFill>
          <a:ln w="12700">
            <a:solidFill>
              <a:srgbClr val="E2E8F0"/>
            </a:solidFill>
            <a:prstDash val="solid"/>
          </a:ln>
          <a:effectLst>
            <a:outerShdw sx="100000" sy="100000" kx="0" ky="0" algn="bl" rotWithShape="0" blurRad="152400" dist="38100" dir="5400000">
              <a:srgbClr val="0F172A">
                <a:alpha val="10000"/>
              </a:srgbClr>
            </a:outerShdw>
          </a:effectLst>
        </p:spPr>
      </p:sp>
      <p:sp>
        <p:nvSpPr>
          <p:cNvPr id="15" name="Shape 12"/>
          <p:cNvSpPr/>
          <p:nvPr/>
        </p:nvSpPr>
        <p:spPr>
          <a:xfrm>
            <a:off x="548640" y="3200400"/>
            <a:ext cx="73152" cy="777240"/>
          </a:xfrm>
          <a:prstGeom prst="rect">
            <a:avLst/>
          </a:prstGeom>
          <a:solidFill>
            <a:srgbClr val="0D9488"/>
          </a:solidFill>
          <a:ln w="12700">
            <a:solidFill>
              <a:srgbClr val="0D9488"/>
            </a:solidFill>
            <a:prstDash val="solid"/>
          </a:ln>
        </p:spPr>
      </p:sp>
      <p:pic>
        <p:nvPicPr>
          <p:cNvPr id="16" name="Image 1" descr="preencoded.png">    </p:cNvPr>
          <p:cNvPicPr>
            <a:picLocks noChangeAspect="1"/>
          </p:cNvPicPr>
          <p:nvPr/>
        </p:nvPicPr>
        <p:blipFill>
          <a:blip r:embed="rId2"/>
          <a:stretch>
            <a:fillRect/>
          </a:stretch>
        </p:blipFill>
        <p:spPr>
          <a:xfrm>
            <a:off x="777240" y="3337560"/>
            <a:ext cx="274320" cy="274320"/>
          </a:xfrm>
          <a:prstGeom prst="rect">
            <a:avLst/>
          </a:prstGeom>
        </p:spPr>
      </p:pic>
      <p:sp>
        <p:nvSpPr>
          <p:cNvPr id="17" name="Text 13"/>
          <p:cNvSpPr/>
          <p:nvPr/>
        </p:nvSpPr>
        <p:spPr>
          <a:xfrm>
            <a:off x="1188720" y="3291840"/>
            <a:ext cx="4754880" cy="292608"/>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Signal catalog</a:t>
            </a:r>
            <a:endParaRPr lang="en-US" sz="1300" dirty="0"/>
          </a:p>
        </p:txBody>
      </p:sp>
      <p:sp>
        <p:nvSpPr>
          <p:cNvPr id="18" name="Text 14"/>
          <p:cNvSpPr/>
          <p:nvPr/>
        </p:nvSpPr>
        <p:spPr>
          <a:xfrm>
            <a:off x="1188720" y="3584448"/>
            <a:ext cx="4754880" cy="36576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All telemetry signals + units + valid ranges + sample rate.</a:t>
            </a:r>
            <a:endParaRPr lang="en-US" sz="1050" dirty="0"/>
          </a:p>
        </p:txBody>
      </p:sp>
      <p:sp>
        <p:nvSpPr>
          <p:cNvPr id="19" name="Shape 15"/>
          <p:cNvSpPr/>
          <p:nvPr/>
        </p:nvSpPr>
        <p:spPr>
          <a:xfrm>
            <a:off x="548640" y="4114800"/>
            <a:ext cx="5532120" cy="777240"/>
          </a:xfrm>
          <a:prstGeom prst="rect">
            <a:avLst/>
          </a:prstGeom>
          <a:solidFill>
            <a:srgbClr val="FFFFFF"/>
          </a:solidFill>
          <a:ln w="12700">
            <a:solidFill>
              <a:srgbClr val="E2E8F0"/>
            </a:solidFill>
            <a:prstDash val="solid"/>
          </a:ln>
          <a:effectLst>
            <a:outerShdw sx="100000" sy="100000" kx="0" ky="0" algn="bl" rotWithShape="0" blurRad="152400" dist="38100" dir="5400000">
              <a:srgbClr val="0F172A">
                <a:alpha val="10000"/>
              </a:srgbClr>
            </a:outerShdw>
          </a:effectLst>
        </p:spPr>
      </p:sp>
      <p:sp>
        <p:nvSpPr>
          <p:cNvPr id="20" name="Shape 16"/>
          <p:cNvSpPr/>
          <p:nvPr/>
        </p:nvSpPr>
        <p:spPr>
          <a:xfrm>
            <a:off x="548640" y="4114800"/>
            <a:ext cx="73152" cy="777240"/>
          </a:xfrm>
          <a:prstGeom prst="rect">
            <a:avLst/>
          </a:prstGeom>
          <a:solidFill>
            <a:srgbClr val="0D9488"/>
          </a:solidFill>
          <a:ln w="12700">
            <a:solidFill>
              <a:srgbClr val="0D9488"/>
            </a:solidFill>
            <a:prstDash val="solid"/>
          </a:ln>
        </p:spPr>
      </p:sp>
      <p:pic>
        <p:nvPicPr>
          <p:cNvPr id="21" name="Image 2" descr="preencoded.png">    </p:cNvPr>
          <p:cNvPicPr>
            <a:picLocks noChangeAspect="1"/>
          </p:cNvPicPr>
          <p:nvPr/>
        </p:nvPicPr>
        <p:blipFill>
          <a:blip r:embed="rId3"/>
          <a:stretch>
            <a:fillRect/>
          </a:stretch>
        </p:blipFill>
        <p:spPr>
          <a:xfrm>
            <a:off x="777240" y="4251960"/>
            <a:ext cx="274320" cy="274320"/>
          </a:xfrm>
          <a:prstGeom prst="rect">
            <a:avLst/>
          </a:prstGeom>
        </p:spPr>
      </p:pic>
      <p:sp>
        <p:nvSpPr>
          <p:cNvPr id="22" name="Text 17"/>
          <p:cNvSpPr/>
          <p:nvPr/>
        </p:nvSpPr>
        <p:spPr>
          <a:xfrm>
            <a:off x="1188720" y="4206240"/>
            <a:ext cx="4754880" cy="292608"/>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Topic / payload spec</a:t>
            </a:r>
            <a:endParaRPr lang="en-US" sz="1300" dirty="0"/>
          </a:p>
        </p:txBody>
      </p:sp>
      <p:sp>
        <p:nvSpPr>
          <p:cNvPr id="23" name="Text 18"/>
          <p:cNvSpPr/>
          <p:nvPr/>
        </p:nvSpPr>
        <p:spPr>
          <a:xfrm>
            <a:off x="1188720" y="4498848"/>
            <a:ext cx="4754880" cy="36576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Path A: confirm canonical conformance.  Path B: vendor topic + payload sample.</a:t>
            </a:r>
            <a:endParaRPr lang="en-US" sz="1050" dirty="0"/>
          </a:p>
        </p:txBody>
      </p:sp>
      <p:sp>
        <p:nvSpPr>
          <p:cNvPr id="24" name="Shape 19"/>
          <p:cNvSpPr/>
          <p:nvPr/>
        </p:nvSpPr>
        <p:spPr>
          <a:xfrm>
            <a:off x="548640" y="5029200"/>
            <a:ext cx="5532120" cy="777240"/>
          </a:xfrm>
          <a:prstGeom prst="rect">
            <a:avLst/>
          </a:prstGeom>
          <a:solidFill>
            <a:srgbClr val="FFFFFF"/>
          </a:solidFill>
          <a:ln w="12700">
            <a:solidFill>
              <a:srgbClr val="E2E8F0"/>
            </a:solidFill>
            <a:prstDash val="solid"/>
          </a:ln>
          <a:effectLst>
            <a:outerShdw sx="100000" sy="100000" kx="0" ky="0" algn="bl" rotWithShape="0" blurRad="152400" dist="38100" dir="5400000">
              <a:srgbClr val="0F172A">
                <a:alpha val="10000"/>
              </a:srgbClr>
            </a:outerShdw>
          </a:effectLst>
        </p:spPr>
      </p:sp>
      <p:sp>
        <p:nvSpPr>
          <p:cNvPr id="25" name="Shape 20"/>
          <p:cNvSpPr/>
          <p:nvPr/>
        </p:nvSpPr>
        <p:spPr>
          <a:xfrm>
            <a:off x="548640" y="5029200"/>
            <a:ext cx="73152" cy="777240"/>
          </a:xfrm>
          <a:prstGeom prst="rect">
            <a:avLst/>
          </a:prstGeom>
          <a:solidFill>
            <a:srgbClr val="0D9488"/>
          </a:solidFill>
          <a:ln w="12700">
            <a:solidFill>
              <a:srgbClr val="0D9488"/>
            </a:solidFill>
            <a:prstDash val="solid"/>
          </a:ln>
        </p:spPr>
      </p:sp>
      <p:pic>
        <p:nvPicPr>
          <p:cNvPr id="26" name="Image 3" descr="preencoded.png">    </p:cNvPr>
          <p:cNvPicPr>
            <a:picLocks noChangeAspect="1"/>
          </p:cNvPicPr>
          <p:nvPr/>
        </p:nvPicPr>
        <p:blipFill>
          <a:blip r:embed="rId4"/>
          <a:stretch>
            <a:fillRect/>
          </a:stretch>
        </p:blipFill>
        <p:spPr>
          <a:xfrm>
            <a:off x="777240" y="5166360"/>
            <a:ext cx="274320" cy="274320"/>
          </a:xfrm>
          <a:prstGeom prst="rect">
            <a:avLst/>
          </a:prstGeom>
        </p:spPr>
      </p:pic>
      <p:sp>
        <p:nvSpPr>
          <p:cNvPr id="27" name="Text 21"/>
          <p:cNvSpPr/>
          <p:nvPr/>
        </p:nvSpPr>
        <p:spPr>
          <a:xfrm>
            <a:off x="1188720" y="5120640"/>
            <a:ext cx="4754880" cy="292608"/>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On-change vs continuous</a:t>
            </a:r>
            <a:endParaRPr lang="en-US" sz="1300" dirty="0"/>
          </a:p>
        </p:txBody>
      </p:sp>
      <p:sp>
        <p:nvSpPr>
          <p:cNvPr id="28" name="Text 22"/>
          <p:cNvSpPr/>
          <p:nvPr/>
        </p:nvSpPr>
        <p:spPr>
          <a:xfrm>
            <a:off x="1188720" y="5413248"/>
            <a:ext cx="4754880" cy="36576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Mark which signals are state/setpoint (on-change) vs sensor readings.</a:t>
            </a:r>
            <a:endParaRPr lang="en-US" sz="1050" dirty="0"/>
          </a:p>
        </p:txBody>
      </p:sp>
      <p:sp>
        <p:nvSpPr>
          <p:cNvPr id="29" name="Shape 23"/>
          <p:cNvSpPr/>
          <p:nvPr/>
        </p:nvSpPr>
        <p:spPr>
          <a:xfrm>
            <a:off x="6263640" y="2286000"/>
            <a:ext cx="5532120" cy="777240"/>
          </a:xfrm>
          <a:prstGeom prst="rect">
            <a:avLst/>
          </a:prstGeom>
          <a:solidFill>
            <a:srgbClr val="FFFFFF"/>
          </a:solidFill>
          <a:ln w="12700">
            <a:solidFill>
              <a:srgbClr val="E2E8F0"/>
            </a:solidFill>
            <a:prstDash val="solid"/>
          </a:ln>
          <a:effectLst>
            <a:outerShdw sx="100000" sy="100000" kx="0" ky="0" algn="bl" rotWithShape="0" blurRad="152400" dist="38100" dir="5400000">
              <a:srgbClr val="0F172A">
                <a:alpha val="10000"/>
              </a:srgbClr>
            </a:outerShdw>
          </a:effectLst>
        </p:spPr>
      </p:sp>
      <p:sp>
        <p:nvSpPr>
          <p:cNvPr id="30" name="Shape 24"/>
          <p:cNvSpPr/>
          <p:nvPr/>
        </p:nvSpPr>
        <p:spPr>
          <a:xfrm>
            <a:off x="6263640" y="2286000"/>
            <a:ext cx="73152" cy="777240"/>
          </a:xfrm>
          <a:prstGeom prst="rect">
            <a:avLst/>
          </a:prstGeom>
          <a:solidFill>
            <a:srgbClr val="0D9488"/>
          </a:solidFill>
          <a:ln w="12700">
            <a:solidFill>
              <a:srgbClr val="0D9488"/>
            </a:solidFill>
            <a:prstDash val="solid"/>
          </a:ln>
        </p:spPr>
      </p:sp>
      <p:pic>
        <p:nvPicPr>
          <p:cNvPr id="31" name="Image 4" descr="preencoded.png">    </p:cNvPr>
          <p:cNvPicPr>
            <a:picLocks noChangeAspect="1"/>
          </p:cNvPicPr>
          <p:nvPr/>
        </p:nvPicPr>
        <p:blipFill>
          <a:blip r:embed="rId5"/>
          <a:stretch>
            <a:fillRect/>
          </a:stretch>
        </p:blipFill>
        <p:spPr>
          <a:xfrm>
            <a:off x="6492240" y="2423160"/>
            <a:ext cx="274320" cy="274320"/>
          </a:xfrm>
          <a:prstGeom prst="rect">
            <a:avLst/>
          </a:prstGeom>
        </p:spPr>
      </p:pic>
      <p:sp>
        <p:nvSpPr>
          <p:cNvPr id="32" name="Text 25"/>
          <p:cNvSpPr/>
          <p:nvPr/>
        </p:nvSpPr>
        <p:spPr>
          <a:xfrm>
            <a:off x="6903720" y="2377440"/>
            <a:ext cx="4754880" cy="292608"/>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Auth requirements</a:t>
            </a:r>
            <a:endParaRPr lang="en-US" sz="1300" dirty="0"/>
          </a:p>
        </p:txBody>
      </p:sp>
      <p:sp>
        <p:nvSpPr>
          <p:cNvPr id="33" name="Text 26"/>
          <p:cNvSpPr/>
          <p:nvPr/>
        </p:nvSpPr>
        <p:spPr>
          <a:xfrm>
            <a:off x="6903720" y="2670048"/>
            <a:ext cx="4754880" cy="36576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If TLS or per-device certs are required, share the issuance plan.</a:t>
            </a:r>
            <a:endParaRPr lang="en-US" sz="1050" dirty="0"/>
          </a:p>
        </p:txBody>
      </p:sp>
      <p:sp>
        <p:nvSpPr>
          <p:cNvPr id="34" name="Shape 27"/>
          <p:cNvSpPr/>
          <p:nvPr/>
        </p:nvSpPr>
        <p:spPr>
          <a:xfrm>
            <a:off x="6263640" y="3200400"/>
            <a:ext cx="5532120" cy="777240"/>
          </a:xfrm>
          <a:prstGeom prst="rect">
            <a:avLst/>
          </a:prstGeom>
          <a:solidFill>
            <a:srgbClr val="FFFFFF"/>
          </a:solidFill>
          <a:ln w="12700">
            <a:solidFill>
              <a:srgbClr val="E2E8F0"/>
            </a:solidFill>
            <a:prstDash val="solid"/>
          </a:ln>
          <a:effectLst>
            <a:outerShdw sx="100000" sy="100000" kx="0" ky="0" algn="bl" rotWithShape="0" blurRad="152400" dist="38100" dir="5400000">
              <a:srgbClr val="0F172A">
                <a:alpha val="10000"/>
              </a:srgbClr>
            </a:outerShdw>
          </a:effectLst>
        </p:spPr>
      </p:sp>
      <p:sp>
        <p:nvSpPr>
          <p:cNvPr id="35" name="Shape 28"/>
          <p:cNvSpPr/>
          <p:nvPr/>
        </p:nvSpPr>
        <p:spPr>
          <a:xfrm>
            <a:off x="6263640" y="3200400"/>
            <a:ext cx="73152" cy="777240"/>
          </a:xfrm>
          <a:prstGeom prst="rect">
            <a:avLst/>
          </a:prstGeom>
          <a:solidFill>
            <a:srgbClr val="0D9488"/>
          </a:solidFill>
          <a:ln w="12700">
            <a:solidFill>
              <a:srgbClr val="0D9488"/>
            </a:solidFill>
            <a:prstDash val="solid"/>
          </a:ln>
        </p:spPr>
      </p:sp>
      <p:pic>
        <p:nvPicPr>
          <p:cNvPr id="36" name="Image 5" descr="preencoded.png">    </p:cNvPr>
          <p:cNvPicPr>
            <a:picLocks noChangeAspect="1"/>
          </p:cNvPicPr>
          <p:nvPr/>
        </p:nvPicPr>
        <p:blipFill>
          <a:blip r:embed="rId6"/>
          <a:stretch>
            <a:fillRect/>
          </a:stretch>
        </p:blipFill>
        <p:spPr>
          <a:xfrm>
            <a:off x="6492240" y="3337560"/>
            <a:ext cx="274320" cy="274320"/>
          </a:xfrm>
          <a:prstGeom prst="rect">
            <a:avLst/>
          </a:prstGeom>
        </p:spPr>
      </p:pic>
      <p:sp>
        <p:nvSpPr>
          <p:cNvPr id="37" name="Text 29"/>
          <p:cNvSpPr/>
          <p:nvPr/>
        </p:nvSpPr>
        <p:spPr>
          <a:xfrm>
            <a:off x="6903720" y="3291840"/>
            <a:ext cx="4754880" cy="292608"/>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Command surface</a:t>
            </a:r>
            <a:endParaRPr lang="en-US" sz="1300" dirty="0"/>
          </a:p>
        </p:txBody>
      </p:sp>
      <p:sp>
        <p:nvSpPr>
          <p:cNvPr id="38" name="Text 30"/>
          <p:cNvSpPr/>
          <p:nvPr/>
        </p:nvSpPr>
        <p:spPr>
          <a:xfrm>
            <a:off x="6903720" y="3584448"/>
            <a:ext cx="4754880" cy="36576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If you accept commands, list endpoints + payload contract + ack timing.</a:t>
            </a:r>
            <a:endParaRPr lang="en-US" sz="1050" dirty="0"/>
          </a:p>
        </p:txBody>
      </p:sp>
      <p:sp>
        <p:nvSpPr>
          <p:cNvPr id="39" name="Shape 31"/>
          <p:cNvSpPr/>
          <p:nvPr/>
        </p:nvSpPr>
        <p:spPr>
          <a:xfrm>
            <a:off x="6263640" y="4114800"/>
            <a:ext cx="5532120" cy="777240"/>
          </a:xfrm>
          <a:prstGeom prst="rect">
            <a:avLst/>
          </a:prstGeom>
          <a:solidFill>
            <a:srgbClr val="FFFFFF"/>
          </a:solidFill>
          <a:ln w="12700">
            <a:solidFill>
              <a:srgbClr val="E2E8F0"/>
            </a:solidFill>
            <a:prstDash val="solid"/>
          </a:ln>
          <a:effectLst>
            <a:outerShdw sx="100000" sy="100000" kx="0" ky="0" algn="bl" rotWithShape="0" blurRad="152400" dist="38100" dir="5400000">
              <a:srgbClr val="0F172A">
                <a:alpha val="10000"/>
              </a:srgbClr>
            </a:outerShdw>
          </a:effectLst>
        </p:spPr>
      </p:sp>
      <p:sp>
        <p:nvSpPr>
          <p:cNvPr id="40" name="Shape 32"/>
          <p:cNvSpPr/>
          <p:nvPr/>
        </p:nvSpPr>
        <p:spPr>
          <a:xfrm>
            <a:off x="6263640" y="4114800"/>
            <a:ext cx="73152" cy="777240"/>
          </a:xfrm>
          <a:prstGeom prst="rect">
            <a:avLst/>
          </a:prstGeom>
          <a:solidFill>
            <a:srgbClr val="0D9488"/>
          </a:solidFill>
          <a:ln w="12700">
            <a:solidFill>
              <a:srgbClr val="0D9488"/>
            </a:solidFill>
            <a:prstDash val="solid"/>
          </a:ln>
        </p:spPr>
      </p:sp>
      <p:pic>
        <p:nvPicPr>
          <p:cNvPr id="41" name="Image 6" descr="preencoded.png">    </p:cNvPr>
          <p:cNvPicPr>
            <a:picLocks noChangeAspect="1"/>
          </p:cNvPicPr>
          <p:nvPr/>
        </p:nvPicPr>
        <p:blipFill>
          <a:blip r:embed="rId7"/>
          <a:stretch>
            <a:fillRect/>
          </a:stretch>
        </p:blipFill>
        <p:spPr>
          <a:xfrm>
            <a:off x="6492240" y="4251960"/>
            <a:ext cx="274320" cy="274320"/>
          </a:xfrm>
          <a:prstGeom prst="rect">
            <a:avLst/>
          </a:prstGeom>
        </p:spPr>
      </p:pic>
      <p:sp>
        <p:nvSpPr>
          <p:cNvPr id="42" name="Text 33"/>
          <p:cNvSpPr/>
          <p:nvPr/>
        </p:nvSpPr>
        <p:spPr>
          <a:xfrm>
            <a:off x="6903720" y="4206240"/>
            <a:ext cx="4754880" cy="292608"/>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Test fleet</a:t>
            </a:r>
            <a:endParaRPr lang="en-US" sz="1300" dirty="0"/>
          </a:p>
        </p:txBody>
      </p:sp>
      <p:sp>
        <p:nvSpPr>
          <p:cNvPr id="43" name="Text 34"/>
          <p:cNvSpPr/>
          <p:nvPr/>
        </p:nvSpPr>
        <p:spPr>
          <a:xfrm>
            <a:off x="6903720" y="4498848"/>
            <a:ext cx="4754880" cy="36576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At least 1 device available for sandbox during UAT (week 3–5).</a:t>
            </a:r>
            <a:endParaRPr lang="en-US" sz="1050" dirty="0"/>
          </a:p>
        </p:txBody>
      </p:sp>
      <p:sp>
        <p:nvSpPr>
          <p:cNvPr id="44" name="Shape 35"/>
          <p:cNvSpPr/>
          <p:nvPr/>
        </p:nvSpPr>
        <p:spPr>
          <a:xfrm>
            <a:off x="6263640" y="5029200"/>
            <a:ext cx="5532120" cy="777240"/>
          </a:xfrm>
          <a:prstGeom prst="rect">
            <a:avLst/>
          </a:prstGeom>
          <a:solidFill>
            <a:srgbClr val="FFFFFF"/>
          </a:solidFill>
          <a:ln w="12700">
            <a:solidFill>
              <a:srgbClr val="E2E8F0"/>
            </a:solidFill>
            <a:prstDash val="solid"/>
          </a:ln>
          <a:effectLst>
            <a:outerShdw sx="100000" sy="100000" kx="0" ky="0" algn="bl" rotWithShape="0" blurRad="152400" dist="38100" dir="5400000">
              <a:srgbClr val="0F172A">
                <a:alpha val="10000"/>
              </a:srgbClr>
            </a:outerShdw>
          </a:effectLst>
        </p:spPr>
      </p:sp>
      <p:sp>
        <p:nvSpPr>
          <p:cNvPr id="45" name="Shape 36"/>
          <p:cNvSpPr/>
          <p:nvPr/>
        </p:nvSpPr>
        <p:spPr>
          <a:xfrm>
            <a:off x="6263640" y="5029200"/>
            <a:ext cx="73152" cy="777240"/>
          </a:xfrm>
          <a:prstGeom prst="rect">
            <a:avLst/>
          </a:prstGeom>
          <a:solidFill>
            <a:srgbClr val="0D9488"/>
          </a:solidFill>
          <a:ln w="12700">
            <a:solidFill>
              <a:srgbClr val="0D9488"/>
            </a:solidFill>
            <a:prstDash val="solid"/>
          </a:ln>
        </p:spPr>
      </p:sp>
      <p:pic>
        <p:nvPicPr>
          <p:cNvPr id="46" name="Image 7" descr="preencoded.png">    </p:cNvPr>
          <p:cNvPicPr>
            <a:picLocks noChangeAspect="1"/>
          </p:cNvPicPr>
          <p:nvPr/>
        </p:nvPicPr>
        <p:blipFill>
          <a:blip r:embed="rId8"/>
          <a:stretch>
            <a:fillRect/>
          </a:stretch>
        </p:blipFill>
        <p:spPr>
          <a:xfrm>
            <a:off x="6492240" y="5166360"/>
            <a:ext cx="274320" cy="274320"/>
          </a:xfrm>
          <a:prstGeom prst="rect">
            <a:avLst/>
          </a:prstGeom>
        </p:spPr>
      </p:pic>
      <p:sp>
        <p:nvSpPr>
          <p:cNvPr id="47" name="Text 37"/>
          <p:cNvSpPr/>
          <p:nvPr/>
        </p:nvSpPr>
        <p:spPr>
          <a:xfrm>
            <a:off x="6903720" y="5120640"/>
            <a:ext cx="4754880" cy="292608"/>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Support contact</a:t>
            </a:r>
            <a:endParaRPr lang="en-US" sz="1300" dirty="0"/>
          </a:p>
        </p:txBody>
      </p:sp>
      <p:sp>
        <p:nvSpPr>
          <p:cNvPr id="48" name="Text 38"/>
          <p:cNvSpPr/>
          <p:nvPr/>
        </p:nvSpPr>
        <p:spPr>
          <a:xfrm>
            <a:off x="6903720" y="5413248"/>
            <a:ext cx="4754880" cy="36576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One escalation owner for the integration window.</a:t>
            </a:r>
            <a:endParaRPr lang="en-US" sz="1050" dirty="0"/>
          </a:p>
        </p:txBody>
      </p:sp>
      <p:sp>
        <p:nvSpPr>
          <p:cNvPr id="49" name="Shape 39"/>
          <p:cNvSpPr/>
          <p:nvPr/>
        </p:nvSpPr>
        <p:spPr>
          <a:xfrm>
            <a:off x="548640" y="5943600"/>
            <a:ext cx="11064240" cy="457200"/>
          </a:xfrm>
          <a:prstGeom prst="rect">
            <a:avLst/>
          </a:prstGeom>
          <a:solidFill>
            <a:srgbClr val="0A1929"/>
          </a:solidFill>
          <a:ln w="12700">
            <a:solidFill>
              <a:srgbClr val="0A1929"/>
            </a:solidFill>
            <a:prstDash val="solid"/>
          </a:ln>
        </p:spPr>
      </p:sp>
      <p:sp>
        <p:nvSpPr>
          <p:cNvPr id="50" name="Text 40"/>
          <p:cNvSpPr/>
          <p:nvPr/>
        </p:nvSpPr>
        <p:spPr>
          <a:xfrm>
            <a:off x="548640" y="5943600"/>
            <a:ext cx="11064240" cy="457200"/>
          </a:xfrm>
          <a:prstGeom prst="rect">
            <a:avLst/>
          </a:prstGeom>
          <a:noFill/>
          <a:ln/>
        </p:spPr>
        <p:txBody>
          <a:bodyPr wrap="square" lIns="0" tIns="0" rIns="0" bIns="0" rtlCol="0" anchor="ctr"/>
          <a:lstStyle/>
          <a:p>
            <a:pPr algn="ctr" indent="0" marL="0">
              <a:buNone/>
            </a:pPr>
            <a:r>
              <a:rPr lang="en-US" sz="1300" dirty="0">
                <a:solidFill>
                  <a:srgbClr val="F1F5F9"/>
                </a:solidFill>
                <a:latin typeface="Calibri" pitchFamily="34" charset="0"/>
                <a:ea typeface="Calibri" pitchFamily="34" charset="-122"/>
                <a:cs typeface="Calibri" pitchFamily="34" charset="-120"/>
              </a:rPr>
              <a:t>Send the checklist to </a:t>
            </a:r>
            <a:pPr algn="ctr" indent="0" marL="0">
              <a:buNone/>
            </a:pPr>
            <a:r>
              <a:rPr lang="en-US" sz="1300" b="1" dirty="0">
                <a:solidFill>
                  <a:srgbClr val="22D3EE"/>
                </a:solidFill>
                <a:latin typeface="Calibri" pitchFamily="34" charset="0"/>
                <a:ea typeface="Calibri" pitchFamily="34" charset="-122"/>
                <a:cs typeface="Calibri" pitchFamily="34" charset="-120"/>
              </a:rPr>
              <a:t>partners@captiatechnology.com</a:t>
            </a:r>
            <a:pPr algn="ctr" indent="0" marL="0">
              <a:buNone/>
            </a:pPr>
            <a:r>
              <a:rPr lang="en-US" sz="1300" dirty="0">
                <a:solidFill>
                  <a:srgbClr val="F1F5F9"/>
                </a:solidFill>
                <a:latin typeface="Calibri" pitchFamily="34" charset="0"/>
                <a:ea typeface="Calibri" pitchFamily="34" charset="-122"/>
                <a:cs typeface="Calibri" pitchFamily="34" charset="-120"/>
              </a:rPr>
              <a:t>  and we'll book the discovery workshop within 48h.</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929"/>
        </a:solidFill>
      </p:bgPr>
    </p:bg>
    <p:spTree>
      <p:nvGrpSpPr>
        <p:cNvPr id="1" name=""/>
        <p:cNvGrpSpPr/>
        <p:nvPr/>
      </p:nvGrpSpPr>
      <p:grpSpPr>
        <a:xfrm>
          <a:off x="0" y="0"/>
          <a:ext cx="0" cy="0"/>
          <a:chOff x="0" y="0"/>
          <a:chExt cx="0" cy="0"/>
        </a:xfrm>
      </p:grpSpPr>
      <p:sp>
        <p:nvSpPr>
          <p:cNvPr id="2" name="Text 0"/>
          <p:cNvSpPr/>
          <p:nvPr/>
        </p:nvSpPr>
        <p:spPr>
          <a:xfrm>
            <a:off x="11094415"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14 / 14</a:t>
            </a:r>
            <a:endParaRPr lang="en-US" sz="900" dirty="0"/>
          </a:p>
        </p:txBody>
      </p:sp>
      <p:sp>
        <p:nvSpPr>
          <p:cNvPr id="3" name="Text 1"/>
          <p:cNvSpPr/>
          <p:nvPr/>
        </p:nvSpPr>
        <p:spPr>
          <a:xfrm>
            <a:off x="731520" y="914400"/>
            <a:ext cx="10058400" cy="365760"/>
          </a:xfrm>
          <a:prstGeom prst="rect">
            <a:avLst/>
          </a:prstGeom>
          <a:noFill/>
          <a:ln/>
        </p:spPr>
        <p:txBody>
          <a:bodyPr wrap="square" lIns="0" tIns="0" rIns="0" bIns="0" rtlCol="0" anchor="ctr"/>
          <a:lstStyle/>
          <a:p>
            <a:pPr indent="0" marL="0">
              <a:buNone/>
            </a:pPr>
            <a:r>
              <a:rPr lang="en-US" sz="1400" b="1" spc="800" kern="0" dirty="0">
                <a:solidFill>
                  <a:srgbClr val="22D3EE"/>
                </a:solidFill>
                <a:latin typeface="Calibri" pitchFamily="34" charset="0"/>
                <a:ea typeface="Calibri" pitchFamily="34" charset="-122"/>
                <a:cs typeface="Calibri" pitchFamily="34" charset="-120"/>
              </a:rPr>
              <a:t>READY TO INTEGRATE?</a:t>
            </a:r>
            <a:endParaRPr lang="en-US" sz="1400" dirty="0"/>
          </a:p>
        </p:txBody>
      </p:sp>
      <p:sp>
        <p:nvSpPr>
          <p:cNvPr id="4" name="Text 2"/>
          <p:cNvSpPr/>
          <p:nvPr/>
        </p:nvSpPr>
        <p:spPr>
          <a:xfrm>
            <a:off x="731520" y="1371600"/>
            <a:ext cx="10058400" cy="1371600"/>
          </a:xfrm>
          <a:prstGeom prst="rect">
            <a:avLst/>
          </a:prstGeom>
          <a:noFill/>
          <a:ln/>
        </p:spPr>
        <p:txBody>
          <a:bodyPr wrap="square" lIns="0" tIns="0" rIns="0" bIns="0" rtlCol="0" anchor="ctr"/>
          <a:lstStyle/>
          <a:p>
            <a:pPr indent="0" marL="0">
              <a:buNone/>
            </a:pPr>
            <a:r>
              <a:rPr lang="en-US" sz="5600" b="1" dirty="0">
                <a:solidFill>
                  <a:srgbClr val="F1F5F9"/>
                </a:solidFill>
                <a:latin typeface="Cambria" pitchFamily="34" charset="0"/>
                <a:ea typeface="Cambria" pitchFamily="34" charset="-122"/>
                <a:cs typeface="Cambria" pitchFamily="34" charset="-120"/>
              </a:rPr>
              <a:t>Let's build it together.</a:t>
            </a:r>
            <a:endParaRPr lang="en-US" sz="5600" dirty="0"/>
          </a:p>
        </p:txBody>
      </p:sp>
      <p:sp>
        <p:nvSpPr>
          <p:cNvPr id="5" name="Shape 3"/>
          <p:cNvSpPr/>
          <p:nvPr/>
        </p:nvSpPr>
        <p:spPr>
          <a:xfrm>
            <a:off x="731520" y="2743200"/>
            <a:ext cx="548640" cy="54864"/>
          </a:xfrm>
          <a:prstGeom prst="rect">
            <a:avLst/>
          </a:prstGeom>
          <a:solidFill>
            <a:srgbClr val="22D3EE"/>
          </a:solidFill>
          <a:ln w="12700">
            <a:solidFill>
              <a:srgbClr val="22D3EE"/>
            </a:solidFill>
            <a:prstDash val="solid"/>
          </a:ln>
        </p:spPr>
      </p:sp>
      <p:sp>
        <p:nvSpPr>
          <p:cNvPr id="6" name="Shape 4"/>
          <p:cNvSpPr/>
          <p:nvPr/>
        </p:nvSpPr>
        <p:spPr>
          <a:xfrm>
            <a:off x="731520" y="3200400"/>
            <a:ext cx="3520440" cy="2011680"/>
          </a:xfrm>
          <a:prstGeom prst="rect">
            <a:avLst/>
          </a:prstGeom>
          <a:solidFill>
            <a:srgbClr val="1E3A5F"/>
          </a:solidFill>
          <a:ln w="12700">
            <a:solidFill>
              <a:srgbClr val="0E7490"/>
            </a:solidFill>
            <a:prstDash val="solid"/>
          </a:ln>
        </p:spPr>
      </p:sp>
      <p:pic>
        <p:nvPicPr>
          <p:cNvPr id="7" name="Image 0" descr="preencoded.png">    </p:cNvPr>
          <p:cNvPicPr>
            <a:picLocks noChangeAspect="1"/>
          </p:cNvPicPr>
          <p:nvPr/>
        </p:nvPicPr>
        <p:blipFill>
          <a:blip r:embed="rId1"/>
          <a:stretch>
            <a:fillRect/>
          </a:stretch>
        </p:blipFill>
        <p:spPr>
          <a:xfrm>
            <a:off x="1051560" y="3520440"/>
            <a:ext cx="457200" cy="457200"/>
          </a:xfrm>
          <a:prstGeom prst="rect">
            <a:avLst/>
          </a:prstGeom>
        </p:spPr>
      </p:pic>
      <p:sp>
        <p:nvSpPr>
          <p:cNvPr id="8" name="Text 5"/>
          <p:cNvSpPr/>
          <p:nvPr/>
        </p:nvSpPr>
        <p:spPr>
          <a:xfrm>
            <a:off x="1737360" y="3520440"/>
            <a:ext cx="2331720" cy="502920"/>
          </a:xfrm>
          <a:prstGeom prst="rect">
            <a:avLst/>
          </a:prstGeom>
          <a:noFill/>
          <a:ln/>
        </p:spPr>
        <p:txBody>
          <a:bodyPr wrap="square" lIns="0" tIns="0" rIns="0" bIns="0" rtlCol="0" anchor="ctr"/>
          <a:lstStyle/>
          <a:p>
            <a:pPr indent="0" marL="0">
              <a:buNone/>
            </a:pPr>
            <a:r>
              <a:rPr lang="en-US" sz="2000" b="1" dirty="0">
                <a:solidFill>
                  <a:srgbClr val="F1F5F9"/>
                </a:solidFill>
                <a:latin typeface="Cambria" pitchFamily="34" charset="0"/>
                <a:ea typeface="Cambria" pitchFamily="34" charset="-122"/>
                <a:cs typeface="Cambria" pitchFamily="34" charset="-120"/>
              </a:rPr>
              <a:t>Partner desk</a:t>
            </a:r>
            <a:endParaRPr lang="en-US" sz="2000" dirty="0"/>
          </a:p>
        </p:txBody>
      </p:sp>
      <p:sp>
        <p:nvSpPr>
          <p:cNvPr id="9" name="Text 6"/>
          <p:cNvSpPr/>
          <p:nvPr/>
        </p:nvSpPr>
        <p:spPr>
          <a:xfrm>
            <a:off x="1051560" y="4206240"/>
            <a:ext cx="3063240" cy="320040"/>
          </a:xfrm>
          <a:prstGeom prst="rect">
            <a:avLst/>
          </a:prstGeom>
          <a:noFill/>
          <a:ln/>
        </p:spPr>
        <p:txBody>
          <a:bodyPr wrap="square" lIns="0" tIns="0" rIns="0" bIns="0" rtlCol="0" anchor="ctr"/>
          <a:lstStyle/>
          <a:p>
            <a:pPr indent="0" marL="0">
              <a:buNone/>
            </a:pPr>
            <a:r>
              <a:rPr lang="en-US" sz="1200" b="1" dirty="0">
                <a:solidFill>
                  <a:srgbClr val="22D3EE"/>
                </a:solidFill>
                <a:latin typeface="Consolas" pitchFamily="34" charset="0"/>
                <a:ea typeface="Consolas" pitchFamily="34" charset="-122"/>
                <a:cs typeface="Consolas" pitchFamily="34" charset="-120"/>
              </a:rPr>
              <a:t>partners@captiatechnology.com</a:t>
            </a:r>
            <a:endParaRPr lang="en-US" sz="1200" dirty="0"/>
          </a:p>
        </p:txBody>
      </p:sp>
      <p:sp>
        <p:nvSpPr>
          <p:cNvPr id="10" name="Text 7"/>
          <p:cNvSpPr/>
          <p:nvPr/>
        </p:nvSpPr>
        <p:spPr>
          <a:xfrm>
            <a:off x="1051560" y="4572000"/>
            <a:ext cx="3063240" cy="502920"/>
          </a:xfrm>
          <a:prstGeom prst="rect">
            <a:avLst/>
          </a:prstGeom>
          <a:noFill/>
          <a:ln/>
        </p:spPr>
        <p:txBody>
          <a:bodyPr wrap="square" lIns="0" tIns="0" rIns="0" bIns="0"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First reply within 1 business day</a:t>
            </a:r>
            <a:endParaRPr lang="en-US" sz="1100" dirty="0"/>
          </a:p>
        </p:txBody>
      </p:sp>
      <p:sp>
        <p:nvSpPr>
          <p:cNvPr id="11" name="Shape 8"/>
          <p:cNvSpPr/>
          <p:nvPr/>
        </p:nvSpPr>
        <p:spPr>
          <a:xfrm>
            <a:off x="4480560" y="3200400"/>
            <a:ext cx="3520440" cy="2011680"/>
          </a:xfrm>
          <a:prstGeom prst="rect">
            <a:avLst/>
          </a:prstGeom>
          <a:solidFill>
            <a:srgbClr val="1E3A5F"/>
          </a:solidFill>
          <a:ln w="12700">
            <a:solidFill>
              <a:srgbClr val="0E7490"/>
            </a:solidFill>
            <a:prstDash val="solid"/>
          </a:ln>
        </p:spPr>
      </p:sp>
      <p:pic>
        <p:nvPicPr>
          <p:cNvPr id="12" name="Image 1" descr="preencoded.png">    </p:cNvPr>
          <p:cNvPicPr>
            <a:picLocks noChangeAspect="1"/>
          </p:cNvPicPr>
          <p:nvPr/>
        </p:nvPicPr>
        <p:blipFill>
          <a:blip r:embed="rId2"/>
          <a:stretch>
            <a:fillRect/>
          </a:stretch>
        </p:blipFill>
        <p:spPr>
          <a:xfrm>
            <a:off x="4800600" y="3520440"/>
            <a:ext cx="457200" cy="457200"/>
          </a:xfrm>
          <a:prstGeom prst="rect">
            <a:avLst/>
          </a:prstGeom>
        </p:spPr>
      </p:pic>
      <p:sp>
        <p:nvSpPr>
          <p:cNvPr id="13" name="Text 9"/>
          <p:cNvSpPr/>
          <p:nvPr/>
        </p:nvSpPr>
        <p:spPr>
          <a:xfrm>
            <a:off x="5486400" y="3520440"/>
            <a:ext cx="2331720" cy="502920"/>
          </a:xfrm>
          <a:prstGeom prst="rect">
            <a:avLst/>
          </a:prstGeom>
          <a:noFill/>
          <a:ln/>
        </p:spPr>
        <p:txBody>
          <a:bodyPr wrap="square" lIns="0" tIns="0" rIns="0" bIns="0" rtlCol="0" anchor="ctr"/>
          <a:lstStyle/>
          <a:p>
            <a:pPr indent="0" marL="0">
              <a:buNone/>
            </a:pPr>
            <a:r>
              <a:rPr lang="en-US" sz="2000" b="1" dirty="0">
                <a:solidFill>
                  <a:srgbClr val="F1F5F9"/>
                </a:solidFill>
                <a:latin typeface="Cambria" pitchFamily="34" charset="0"/>
                <a:ea typeface="Cambria" pitchFamily="34" charset="-122"/>
                <a:cs typeface="Cambria" pitchFamily="34" charset="-120"/>
              </a:rPr>
              <a:t>Engineering</a:t>
            </a:r>
            <a:endParaRPr lang="en-US" sz="2000" dirty="0"/>
          </a:p>
        </p:txBody>
      </p:sp>
      <p:sp>
        <p:nvSpPr>
          <p:cNvPr id="14" name="Text 10"/>
          <p:cNvSpPr/>
          <p:nvPr/>
        </p:nvSpPr>
        <p:spPr>
          <a:xfrm>
            <a:off x="4800600" y="4206240"/>
            <a:ext cx="3063240" cy="320040"/>
          </a:xfrm>
          <a:prstGeom prst="rect">
            <a:avLst/>
          </a:prstGeom>
          <a:noFill/>
          <a:ln/>
        </p:spPr>
        <p:txBody>
          <a:bodyPr wrap="square" lIns="0" tIns="0" rIns="0" bIns="0" rtlCol="0" anchor="ctr"/>
          <a:lstStyle/>
          <a:p>
            <a:pPr indent="0" marL="0">
              <a:buNone/>
            </a:pPr>
            <a:r>
              <a:rPr lang="en-US" sz="1200" b="1" dirty="0">
                <a:solidFill>
                  <a:srgbClr val="22D3EE"/>
                </a:solidFill>
                <a:latin typeface="Consolas" pitchFamily="34" charset="0"/>
                <a:ea typeface="Consolas" pitchFamily="34" charset="-122"/>
                <a:cs typeface="Consolas" pitchFamily="34" charset="-120"/>
              </a:rPr>
              <a:t>integration@captiatechnology.com</a:t>
            </a:r>
            <a:endParaRPr lang="en-US" sz="1200" dirty="0"/>
          </a:p>
        </p:txBody>
      </p:sp>
      <p:sp>
        <p:nvSpPr>
          <p:cNvPr id="15" name="Text 11"/>
          <p:cNvSpPr/>
          <p:nvPr/>
        </p:nvSpPr>
        <p:spPr>
          <a:xfrm>
            <a:off x="4800600" y="4572000"/>
            <a:ext cx="3063240" cy="502920"/>
          </a:xfrm>
          <a:prstGeom prst="rect">
            <a:avLst/>
          </a:prstGeom>
          <a:noFill/>
          <a:ln/>
        </p:spPr>
        <p:txBody>
          <a:bodyPr wrap="square" lIns="0" tIns="0" rIns="0" bIns="0"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Joint debug sessions during onboarding</a:t>
            </a:r>
            <a:endParaRPr lang="en-US" sz="1100" dirty="0"/>
          </a:p>
        </p:txBody>
      </p:sp>
      <p:sp>
        <p:nvSpPr>
          <p:cNvPr id="16" name="Shape 12"/>
          <p:cNvSpPr/>
          <p:nvPr/>
        </p:nvSpPr>
        <p:spPr>
          <a:xfrm>
            <a:off x="8229600" y="3200400"/>
            <a:ext cx="3520440" cy="2011680"/>
          </a:xfrm>
          <a:prstGeom prst="rect">
            <a:avLst/>
          </a:prstGeom>
          <a:solidFill>
            <a:srgbClr val="1E3A5F"/>
          </a:solidFill>
          <a:ln w="12700">
            <a:solidFill>
              <a:srgbClr val="0E7490"/>
            </a:solidFill>
            <a:prstDash val="solid"/>
          </a:ln>
        </p:spPr>
      </p:sp>
      <p:pic>
        <p:nvPicPr>
          <p:cNvPr id="17" name="Image 2" descr="preencoded.png">    </p:cNvPr>
          <p:cNvPicPr>
            <a:picLocks noChangeAspect="1"/>
          </p:cNvPicPr>
          <p:nvPr/>
        </p:nvPicPr>
        <p:blipFill>
          <a:blip r:embed="rId3"/>
          <a:stretch>
            <a:fillRect/>
          </a:stretch>
        </p:blipFill>
        <p:spPr>
          <a:xfrm>
            <a:off x="8549640" y="3520440"/>
            <a:ext cx="457200" cy="457200"/>
          </a:xfrm>
          <a:prstGeom prst="rect">
            <a:avLst/>
          </a:prstGeom>
        </p:spPr>
      </p:pic>
      <p:sp>
        <p:nvSpPr>
          <p:cNvPr id="18" name="Text 13"/>
          <p:cNvSpPr/>
          <p:nvPr/>
        </p:nvSpPr>
        <p:spPr>
          <a:xfrm>
            <a:off x="9235440" y="3520440"/>
            <a:ext cx="2331720" cy="502920"/>
          </a:xfrm>
          <a:prstGeom prst="rect">
            <a:avLst/>
          </a:prstGeom>
          <a:noFill/>
          <a:ln/>
        </p:spPr>
        <p:txBody>
          <a:bodyPr wrap="square" lIns="0" tIns="0" rIns="0" bIns="0" rtlCol="0" anchor="ctr"/>
          <a:lstStyle/>
          <a:p>
            <a:pPr indent="0" marL="0">
              <a:buNone/>
            </a:pPr>
            <a:r>
              <a:rPr lang="en-US" sz="2000" b="1" dirty="0">
                <a:solidFill>
                  <a:srgbClr val="F1F5F9"/>
                </a:solidFill>
                <a:latin typeface="Cambria" pitchFamily="34" charset="0"/>
                <a:ea typeface="Cambria" pitchFamily="34" charset="-122"/>
                <a:cs typeface="Cambria" pitchFamily="34" charset="-120"/>
              </a:rPr>
              <a:t>Documentation</a:t>
            </a:r>
            <a:endParaRPr lang="en-US" sz="2000" dirty="0"/>
          </a:p>
        </p:txBody>
      </p:sp>
      <p:sp>
        <p:nvSpPr>
          <p:cNvPr id="19" name="Text 14"/>
          <p:cNvSpPr/>
          <p:nvPr/>
        </p:nvSpPr>
        <p:spPr>
          <a:xfrm>
            <a:off x="8549640" y="4206240"/>
            <a:ext cx="3063240" cy="320040"/>
          </a:xfrm>
          <a:prstGeom prst="rect">
            <a:avLst/>
          </a:prstGeom>
          <a:noFill/>
          <a:ln/>
        </p:spPr>
        <p:txBody>
          <a:bodyPr wrap="square" lIns="0" tIns="0" rIns="0" bIns="0" rtlCol="0" anchor="ctr"/>
          <a:lstStyle/>
          <a:p>
            <a:pPr indent="0" marL="0">
              <a:buNone/>
            </a:pPr>
            <a:r>
              <a:rPr lang="en-US" sz="1200" b="1" dirty="0">
                <a:solidFill>
                  <a:srgbClr val="22D3EE"/>
                </a:solidFill>
                <a:latin typeface="Consolas" pitchFamily="34" charset="0"/>
                <a:ea typeface="Consolas" pitchFamily="34" charset="-122"/>
                <a:cs typeface="Consolas" pitchFamily="34" charset="-120"/>
              </a:rPr>
              <a:t>docs.captiatechnology.com</a:t>
            </a:r>
            <a:endParaRPr lang="en-US" sz="1200" dirty="0"/>
          </a:p>
        </p:txBody>
      </p:sp>
      <p:sp>
        <p:nvSpPr>
          <p:cNvPr id="20" name="Text 15"/>
          <p:cNvSpPr/>
          <p:nvPr/>
        </p:nvSpPr>
        <p:spPr>
          <a:xfrm>
            <a:off x="8549640" y="4572000"/>
            <a:ext cx="3063240" cy="502920"/>
          </a:xfrm>
          <a:prstGeom prst="rect">
            <a:avLst/>
          </a:prstGeom>
          <a:noFill/>
          <a:ln/>
        </p:spPr>
        <p:txBody>
          <a:bodyPr wrap="square" lIns="0" tIns="0" rIns="0" bIns="0"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Topic ref, payload schema, OpenAPI</a:t>
            </a:r>
            <a:endParaRPr lang="en-US" sz="1100" dirty="0"/>
          </a:p>
        </p:txBody>
      </p:sp>
      <p:sp>
        <p:nvSpPr>
          <p:cNvPr id="21" name="Shape 16"/>
          <p:cNvSpPr/>
          <p:nvPr/>
        </p:nvSpPr>
        <p:spPr>
          <a:xfrm>
            <a:off x="0" y="6309360"/>
            <a:ext cx="12191695" cy="54864"/>
          </a:xfrm>
          <a:prstGeom prst="rect">
            <a:avLst/>
          </a:prstGeom>
          <a:solidFill>
            <a:srgbClr val="0E7490"/>
          </a:solidFill>
          <a:ln w="12700">
            <a:solidFill>
              <a:srgbClr val="0E7490"/>
            </a:solidFill>
            <a:prstDash val="solid"/>
          </a:ln>
        </p:spPr>
      </p:sp>
      <p:sp>
        <p:nvSpPr>
          <p:cNvPr id="22" name="Text 17"/>
          <p:cNvSpPr/>
          <p:nvPr/>
        </p:nvSpPr>
        <p:spPr>
          <a:xfrm>
            <a:off x="731520" y="6400800"/>
            <a:ext cx="8229600" cy="36576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CAPTIA Technology · Partner Integration Guide · v1.0 · 2026-05</a:t>
            </a:r>
            <a:endParaRPr lang="en-US" sz="1100" dirty="0"/>
          </a:p>
        </p:txBody>
      </p:sp>
      <p:sp>
        <p:nvSpPr>
          <p:cNvPr id="23" name="Shape 18"/>
          <p:cNvSpPr/>
          <p:nvPr/>
        </p:nvSpPr>
        <p:spPr>
          <a:xfrm>
            <a:off x="9448495" y="3566160"/>
            <a:ext cx="320040" cy="320040"/>
          </a:xfrm>
          <a:prstGeom prst="rect">
            <a:avLst/>
          </a:prstGeom>
          <a:solidFill>
            <a:srgbClr val="22D3EE">
              <a:alpha val="70000"/>
            </a:srgbClr>
          </a:solidFill>
          <a:ln w="12700">
            <a:solidFill>
              <a:srgbClr val="22D3EE"/>
            </a:solidFill>
            <a:prstDash val="solid"/>
          </a:ln>
        </p:spPr>
      </p:sp>
      <p:sp>
        <p:nvSpPr>
          <p:cNvPr id="24" name="Shape 19"/>
          <p:cNvSpPr/>
          <p:nvPr/>
        </p:nvSpPr>
        <p:spPr>
          <a:xfrm>
            <a:off x="9859975" y="3566160"/>
            <a:ext cx="320040" cy="320040"/>
          </a:xfrm>
          <a:prstGeom prst="rect">
            <a:avLst/>
          </a:prstGeom>
          <a:solidFill>
            <a:srgbClr val="22D3EE">
              <a:alpha val="40000"/>
            </a:srgbClr>
          </a:solidFill>
          <a:ln w="12700">
            <a:solidFill>
              <a:srgbClr val="22D3EE"/>
            </a:solidFill>
            <a:prstDash val="solid"/>
          </a:ln>
        </p:spPr>
      </p:sp>
      <p:sp>
        <p:nvSpPr>
          <p:cNvPr id="25" name="Shape 20"/>
          <p:cNvSpPr/>
          <p:nvPr/>
        </p:nvSpPr>
        <p:spPr>
          <a:xfrm>
            <a:off x="10271455" y="3566160"/>
            <a:ext cx="320040" cy="320040"/>
          </a:xfrm>
          <a:prstGeom prst="rect">
            <a:avLst/>
          </a:prstGeom>
          <a:solidFill>
            <a:srgbClr val="22D3EE">
              <a:alpha val="12000"/>
            </a:srgbClr>
          </a:solidFill>
          <a:ln w="12700">
            <a:solidFill>
              <a:srgbClr val="22D3EE"/>
            </a:solidFill>
            <a:prstDash val="solid"/>
          </a:ln>
        </p:spPr>
      </p:sp>
      <p:sp>
        <p:nvSpPr>
          <p:cNvPr id="26" name="Shape 21"/>
          <p:cNvSpPr/>
          <p:nvPr/>
        </p:nvSpPr>
        <p:spPr>
          <a:xfrm>
            <a:off x="10682935" y="3566160"/>
            <a:ext cx="320040" cy="320040"/>
          </a:xfrm>
          <a:prstGeom prst="rect">
            <a:avLst/>
          </a:prstGeom>
          <a:solidFill>
            <a:srgbClr val="22D3EE">
              <a:alpha val="70000"/>
            </a:srgbClr>
          </a:solidFill>
          <a:ln w="12700">
            <a:solidFill>
              <a:srgbClr val="22D3EE"/>
            </a:solidFill>
            <a:prstDash val="solid"/>
          </a:ln>
        </p:spPr>
      </p:sp>
      <p:sp>
        <p:nvSpPr>
          <p:cNvPr id="27" name="Shape 22"/>
          <p:cNvSpPr/>
          <p:nvPr/>
        </p:nvSpPr>
        <p:spPr>
          <a:xfrm>
            <a:off x="9448495" y="3977640"/>
            <a:ext cx="320040" cy="320040"/>
          </a:xfrm>
          <a:prstGeom prst="rect">
            <a:avLst/>
          </a:prstGeom>
          <a:solidFill>
            <a:srgbClr val="22D3EE">
              <a:alpha val="40000"/>
            </a:srgbClr>
          </a:solidFill>
          <a:ln w="12700">
            <a:solidFill>
              <a:srgbClr val="22D3EE"/>
            </a:solidFill>
            <a:prstDash val="solid"/>
          </a:ln>
        </p:spPr>
      </p:sp>
      <p:sp>
        <p:nvSpPr>
          <p:cNvPr id="28" name="Shape 23"/>
          <p:cNvSpPr/>
          <p:nvPr/>
        </p:nvSpPr>
        <p:spPr>
          <a:xfrm>
            <a:off x="9859975" y="3977640"/>
            <a:ext cx="320040" cy="320040"/>
          </a:xfrm>
          <a:prstGeom prst="rect">
            <a:avLst/>
          </a:prstGeom>
          <a:solidFill>
            <a:srgbClr val="22D3EE">
              <a:alpha val="12000"/>
            </a:srgbClr>
          </a:solidFill>
          <a:ln w="12700">
            <a:solidFill>
              <a:srgbClr val="22D3EE"/>
            </a:solidFill>
            <a:prstDash val="solid"/>
          </a:ln>
        </p:spPr>
      </p:sp>
      <p:sp>
        <p:nvSpPr>
          <p:cNvPr id="29" name="Shape 24"/>
          <p:cNvSpPr/>
          <p:nvPr/>
        </p:nvSpPr>
        <p:spPr>
          <a:xfrm>
            <a:off x="10271455" y="3977640"/>
            <a:ext cx="320040" cy="320040"/>
          </a:xfrm>
          <a:prstGeom prst="rect">
            <a:avLst/>
          </a:prstGeom>
          <a:solidFill>
            <a:srgbClr val="22D3EE">
              <a:alpha val="70000"/>
            </a:srgbClr>
          </a:solidFill>
          <a:ln w="12700">
            <a:solidFill>
              <a:srgbClr val="22D3EE"/>
            </a:solidFill>
            <a:prstDash val="solid"/>
          </a:ln>
        </p:spPr>
      </p:sp>
      <p:sp>
        <p:nvSpPr>
          <p:cNvPr id="30" name="Shape 25"/>
          <p:cNvSpPr/>
          <p:nvPr/>
        </p:nvSpPr>
        <p:spPr>
          <a:xfrm>
            <a:off x="10682935" y="3977640"/>
            <a:ext cx="320040" cy="320040"/>
          </a:xfrm>
          <a:prstGeom prst="rect">
            <a:avLst/>
          </a:prstGeom>
          <a:solidFill>
            <a:srgbClr val="22D3EE">
              <a:alpha val="40000"/>
            </a:srgbClr>
          </a:solidFill>
          <a:ln w="12700">
            <a:solidFill>
              <a:srgbClr val="22D3EE"/>
            </a:solidFill>
            <a:prstDash val="solid"/>
          </a:ln>
        </p:spPr>
      </p:sp>
      <p:sp>
        <p:nvSpPr>
          <p:cNvPr id="31" name="Shape 26"/>
          <p:cNvSpPr/>
          <p:nvPr/>
        </p:nvSpPr>
        <p:spPr>
          <a:xfrm>
            <a:off x="9448495" y="4389120"/>
            <a:ext cx="320040" cy="320040"/>
          </a:xfrm>
          <a:prstGeom prst="rect">
            <a:avLst/>
          </a:prstGeom>
          <a:solidFill>
            <a:srgbClr val="22D3EE">
              <a:alpha val="12000"/>
            </a:srgbClr>
          </a:solidFill>
          <a:ln w="12700">
            <a:solidFill>
              <a:srgbClr val="22D3EE"/>
            </a:solidFill>
            <a:prstDash val="solid"/>
          </a:ln>
        </p:spPr>
      </p:sp>
      <p:sp>
        <p:nvSpPr>
          <p:cNvPr id="32" name="Shape 27"/>
          <p:cNvSpPr/>
          <p:nvPr/>
        </p:nvSpPr>
        <p:spPr>
          <a:xfrm>
            <a:off x="9859975" y="4389120"/>
            <a:ext cx="320040" cy="320040"/>
          </a:xfrm>
          <a:prstGeom prst="rect">
            <a:avLst/>
          </a:prstGeom>
          <a:solidFill>
            <a:srgbClr val="22D3EE">
              <a:alpha val="70000"/>
            </a:srgbClr>
          </a:solidFill>
          <a:ln w="12700">
            <a:solidFill>
              <a:srgbClr val="22D3EE"/>
            </a:solidFill>
            <a:prstDash val="solid"/>
          </a:ln>
        </p:spPr>
      </p:sp>
      <p:sp>
        <p:nvSpPr>
          <p:cNvPr id="33" name="Shape 28"/>
          <p:cNvSpPr/>
          <p:nvPr/>
        </p:nvSpPr>
        <p:spPr>
          <a:xfrm>
            <a:off x="10271455" y="4389120"/>
            <a:ext cx="320040" cy="320040"/>
          </a:xfrm>
          <a:prstGeom prst="rect">
            <a:avLst/>
          </a:prstGeom>
          <a:solidFill>
            <a:srgbClr val="22D3EE">
              <a:alpha val="40000"/>
            </a:srgbClr>
          </a:solidFill>
          <a:ln w="12700">
            <a:solidFill>
              <a:srgbClr val="22D3EE"/>
            </a:solidFill>
            <a:prstDash val="solid"/>
          </a:ln>
        </p:spPr>
      </p:sp>
      <p:sp>
        <p:nvSpPr>
          <p:cNvPr id="34" name="Shape 29"/>
          <p:cNvSpPr/>
          <p:nvPr/>
        </p:nvSpPr>
        <p:spPr>
          <a:xfrm>
            <a:off x="10682935" y="4389120"/>
            <a:ext cx="320040" cy="320040"/>
          </a:xfrm>
          <a:prstGeom prst="rect">
            <a:avLst/>
          </a:prstGeom>
          <a:solidFill>
            <a:srgbClr val="22D3EE">
              <a:alpha val="12000"/>
            </a:srgbClr>
          </a:solidFill>
          <a:ln w="12700">
            <a:solidFill>
              <a:srgbClr val="22D3EE"/>
            </a:solidFill>
            <a:prstDash val="solid"/>
          </a:ln>
        </p:spPr>
      </p:sp>
      <p:sp>
        <p:nvSpPr>
          <p:cNvPr id="35" name="Shape 30"/>
          <p:cNvSpPr/>
          <p:nvPr/>
        </p:nvSpPr>
        <p:spPr>
          <a:xfrm>
            <a:off x="9448495" y="4800600"/>
            <a:ext cx="320040" cy="320040"/>
          </a:xfrm>
          <a:prstGeom prst="rect">
            <a:avLst/>
          </a:prstGeom>
          <a:solidFill>
            <a:srgbClr val="22D3EE">
              <a:alpha val="70000"/>
            </a:srgbClr>
          </a:solidFill>
          <a:ln w="12700">
            <a:solidFill>
              <a:srgbClr val="22D3EE"/>
            </a:solidFill>
            <a:prstDash val="solid"/>
          </a:ln>
        </p:spPr>
      </p:sp>
      <p:sp>
        <p:nvSpPr>
          <p:cNvPr id="36" name="Shape 31"/>
          <p:cNvSpPr/>
          <p:nvPr/>
        </p:nvSpPr>
        <p:spPr>
          <a:xfrm>
            <a:off x="9859975" y="4800600"/>
            <a:ext cx="320040" cy="320040"/>
          </a:xfrm>
          <a:prstGeom prst="rect">
            <a:avLst/>
          </a:prstGeom>
          <a:solidFill>
            <a:srgbClr val="22D3EE">
              <a:alpha val="40000"/>
            </a:srgbClr>
          </a:solidFill>
          <a:ln w="12700">
            <a:solidFill>
              <a:srgbClr val="22D3EE"/>
            </a:solidFill>
            <a:prstDash val="solid"/>
          </a:ln>
        </p:spPr>
      </p:sp>
      <p:sp>
        <p:nvSpPr>
          <p:cNvPr id="37" name="Shape 32"/>
          <p:cNvSpPr/>
          <p:nvPr/>
        </p:nvSpPr>
        <p:spPr>
          <a:xfrm>
            <a:off x="10271455" y="4800600"/>
            <a:ext cx="320040" cy="320040"/>
          </a:xfrm>
          <a:prstGeom prst="rect">
            <a:avLst/>
          </a:prstGeom>
          <a:solidFill>
            <a:srgbClr val="22D3EE">
              <a:alpha val="12000"/>
            </a:srgbClr>
          </a:solidFill>
          <a:ln w="12700">
            <a:solidFill>
              <a:srgbClr val="22D3EE"/>
            </a:solidFill>
            <a:prstDash val="solid"/>
          </a:ln>
        </p:spPr>
      </p:sp>
      <p:sp>
        <p:nvSpPr>
          <p:cNvPr id="38" name="Shape 33"/>
          <p:cNvSpPr/>
          <p:nvPr/>
        </p:nvSpPr>
        <p:spPr>
          <a:xfrm>
            <a:off x="10682935" y="4800600"/>
            <a:ext cx="320040" cy="320040"/>
          </a:xfrm>
          <a:prstGeom prst="rect">
            <a:avLst/>
          </a:prstGeom>
          <a:solidFill>
            <a:srgbClr val="22D3EE">
              <a:alpha val="70000"/>
            </a:srgbClr>
          </a:solidFill>
          <a:ln w="12700">
            <a:solidFill>
              <a:srgbClr val="22D3EE"/>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CAPTIA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Partner Integration Guide — CAPTIA-connect</dc:title>
  <dc:subject>PptxGenJS Presentation</dc:subject>
  <dc:creator>CAPTIA Technology</dc:creator>
  <cp:lastModifiedBy>CAPTIA Technology</cp:lastModifiedBy>
  <cp:revision>1</cp:revision>
  <dcterms:created xsi:type="dcterms:W3CDTF">2026-05-02T09:06:12Z</dcterms:created>
  <dcterms:modified xsi:type="dcterms:W3CDTF">2026-05-02T09:06:12Z</dcterms:modified>
</cp:coreProperties>
</file>